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72" autoAdjust="0"/>
    <p:restoredTop sz="94660"/>
  </p:normalViewPr>
  <p:slideViewPr>
    <p:cSldViewPr snapToGrid="0" snapToObjects="1">
      <p:cViewPr varScale="1">
        <p:scale>
          <a:sx n="60" d="100"/>
          <a:sy n="60" d="100"/>
        </p:scale>
        <p:origin x="52"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Thi, Xuyen GIZ VN" userId="af4fe381-f395-4043-a6db-95ca2e2248da" providerId="ADAL" clId="{BEE46BFC-B7DC-4160-9B1E-BAE908C2B53A}"/>
    <pc:docChg chg="undo custSel modSld">
      <pc:chgData name="Mai Thi, Xuyen GIZ VN" userId="af4fe381-f395-4043-a6db-95ca2e2248da" providerId="ADAL" clId="{BEE46BFC-B7DC-4160-9B1E-BAE908C2B53A}" dt="2026-07-21T01:01:13.708" v="44" actId="20577"/>
      <pc:docMkLst>
        <pc:docMk/>
      </pc:docMkLst>
      <pc:sldChg chg="modSp mod">
        <pc:chgData name="Mai Thi, Xuyen GIZ VN" userId="af4fe381-f395-4043-a6db-95ca2e2248da" providerId="ADAL" clId="{BEE46BFC-B7DC-4160-9B1E-BAE908C2B53A}" dt="2026-07-21T01:00:54.304" v="26" actId="1036"/>
        <pc:sldMkLst>
          <pc:docMk/>
          <pc:sldMk cId="0" sldId="257"/>
        </pc:sldMkLst>
        <pc:graphicFrameChg chg="mod modGraphic">
          <ac:chgData name="Mai Thi, Xuyen GIZ VN" userId="af4fe381-f395-4043-a6db-95ca2e2248da" providerId="ADAL" clId="{BEE46BFC-B7DC-4160-9B1E-BAE908C2B53A}" dt="2026-07-21T01:00:54.304" v="26" actId="1036"/>
          <ac:graphicFrameMkLst>
            <pc:docMk/>
            <pc:sldMk cId="0" sldId="257"/>
            <ac:graphicFrameMk id="9" creationId="{00000000-0000-0000-0000-000000000000}"/>
          </ac:graphicFrameMkLst>
        </pc:graphicFrameChg>
      </pc:sldChg>
      <pc:sldChg chg="modSp mod">
        <pc:chgData name="Mai Thi, Xuyen GIZ VN" userId="af4fe381-f395-4043-a6db-95ca2e2248da" providerId="ADAL" clId="{BEE46BFC-B7DC-4160-9B1E-BAE908C2B53A}" dt="2026-07-21T01:01:13.708" v="44" actId="20577"/>
        <pc:sldMkLst>
          <pc:docMk/>
          <pc:sldMk cId="0" sldId="260"/>
        </pc:sldMkLst>
        <pc:spChg chg="mod">
          <ac:chgData name="Mai Thi, Xuyen GIZ VN" userId="af4fe381-f395-4043-a6db-95ca2e2248da" providerId="ADAL" clId="{BEE46BFC-B7DC-4160-9B1E-BAE908C2B53A}" dt="2026-07-21T01:01:13.708" v="44" actId="20577"/>
          <ac:spMkLst>
            <pc:docMk/>
            <pc:sldMk cId="0" sldId="260"/>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56032"/>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GIZ_Logo.png"/>
          <p:cNvPicPr>
            <a:picLocks noChangeAspect="1"/>
          </p:cNvPicPr>
          <p:nvPr/>
        </p:nvPicPr>
        <p:blipFill>
          <a:blip r:embed="rId2"/>
          <a:stretch>
            <a:fillRect/>
          </a:stretch>
        </p:blipFill>
        <p:spPr>
          <a:xfrm>
            <a:off x="548640" y="502920"/>
            <a:ext cx="2054087" cy="566928"/>
          </a:xfrm>
          <a:prstGeom prst="rect">
            <a:avLst/>
          </a:prstGeom>
        </p:spPr>
      </p:pic>
      <p:sp>
        <p:nvSpPr>
          <p:cNvPr id="5" name="TextBox 4"/>
          <p:cNvSpPr txBox="1"/>
          <p:nvPr/>
        </p:nvSpPr>
        <p:spPr>
          <a:xfrm>
            <a:off x="822960" y="2286000"/>
            <a:ext cx="10515600" cy="1841530"/>
          </a:xfrm>
          <a:prstGeom prst="rect">
            <a:avLst/>
          </a:prstGeom>
          <a:noFill/>
        </p:spPr>
        <p:txBody>
          <a:bodyPr wrap="square">
            <a:spAutoFit/>
          </a:bodyPr>
          <a:lstStyle/>
          <a:p>
            <a:pPr>
              <a:spcAft>
                <a:spcPts val="1400"/>
              </a:spcAft>
            </a:pPr>
            <a:r>
              <a:rPr lang="vi-VN" sz="4000" b="1" i="0" dirty="0">
                <a:solidFill>
                  <a:srgbClr val="232323"/>
                </a:solidFill>
                <a:latin typeface="Arial"/>
              </a:rPr>
              <a:t>Chương trình đào tạo trực tuyến DGE-METRIC</a:t>
            </a:r>
          </a:p>
          <a:p>
            <a:r>
              <a:rPr lang="vi-VN" sz="2200" b="0" i="0" dirty="0">
                <a:solidFill>
                  <a:srgbClr val="CC071E"/>
                </a:solidFill>
                <a:latin typeface="Arial"/>
              </a:rPr>
              <a:t>Ngày 1 - Các kịch bản tài chính &amp; hiệu quả năng lượng</a:t>
            </a:r>
            <a:r>
              <a:rPr lang="en-US" sz="2200" b="0" i="0" dirty="0">
                <a:solidFill>
                  <a:srgbClr val="CC071E"/>
                </a:solidFill>
                <a:latin typeface="Arial"/>
              </a:rPr>
              <a:t>:</a:t>
            </a:r>
            <a:r>
              <a:rPr lang="vi-VN" sz="2200" b="0" i="0" dirty="0">
                <a:solidFill>
                  <a:srgbClr val="CC071E"/>
                </a:solidFill>
                <a:latin typeface="Arial"/>
              </a:rPr>
              <a:t> Khái niệm chi tiết</a:t>
            </a:r>
          </a:p>
        </p:txBody>
      </p:sp>
      <p:sp>
        <p:nvSpPr>
          <p:cNvPr id="6" name="Rectangle 5"/>
          <p:cNvSpPr/>
          <p:nvPr/>
        </p:nvSpPr>
        <p:spPr>
          <a:xfrm>
            <a:off x="868680" y="4709160"/>
            <a:ext cx="3840480" cy="381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892040"/>
            <a:ext cx="10058400" cy="1463040"/>
          </a:xfrm>
          <a:prstGeom prst="rect">
            <a:avLst/>
          </a:prstGeom>
          <a:noFill/>
        </p:spPr>
        <p:txBody>
          <a:bodyPr wrap="square">
            <a:spAutoFit/>
          </a:bodyPr>
          <a:lstStyle/>
          <a:p>
            <a:pPr>
              <a:spcAft>
                <a:spcPts val="400"/>
              </a:spcAft>
            </a:pPr>
            <a:r>
              <a:rPr lang="vi-VN" sz="1500" b="0" i="0">
                <a:solidFill>
                  <a:srgbClr val="787878"/>
                </a:solidFill>
                <a:latin typeface="Arial"/>
              </a:rPr>
              <a:t>Thứ 4, ngày 22 tháng 7 năm 2026 · Phiên buổi chiều · 180 phút</a:t>
            </a:r>
          </a:p>
          <a:p>
            <a:pPr>
              <a:spcAft>
                <a:spcPts val="400"/>
              </a:spcAft>
            </a:pPr>
            <a:r>
              <a:rPr lang="vi-VN" sz="1500" b="0" i="0">
                <a:solidFill>
                  <a:srgbClr val="787878"/>
                </a:solidFill>
                <a:latin typeface="Arial"/>
              </a:rPr>
              <a:t>GIZ Việt Nam | Chương trình đào tạo DGE-METRIC | Mô-đun trực tuyến</a:t>
            </a:r>
          </a:p>
          <a:p>
            <a:pPr>
              <a:spcAft>
                <a:spcPts val="400"/>
              </a:spcAft>
            </a:pPr>
            <a:r>
              <a:rPr lang="vi-VN" sz="1500" b="0" i="0">
                <a:solidFill>
                  <a:srgbClr val="787878"/>
                </a:solidFill>
                <a:latin typeface="Arial"/>
              </a:rPr>
              <a:t>Nội dung tiếp nối từ khóa đào tạo trực tiếp — đây là Ngày đào tạo thứ 3, được tổ chức dưới hình thức trực tuyến</a:t>
            </a:r>
          </a:p>
        </p:txBody>
      </p:sp>
      <p:sp>
        <p:nvSpPr>
          <p:cNvPr id="8" name="Rectangle 7"/>
          <p:cNvSpPr/>
          <p:nvPr/>
        </p:nvSpPr>
        <p:spPr>
          <a:xfrm>
            <a:off x="0" y="6601968"/>
            <a:ext cx="12191695" cy="256032"/>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r>
              <a:rPr lang="vi-VN" sz="2600" b="1" i="0">
                <a:solidFill>
                  <a:srgbClr val="FFFFFF"/>
                </a:solidFill>
                <a:latin typeface="Arial"/>
              </a:rPr>
              <a:t>Nội dung buổi học - 8 phần, thời lượng 180 phút</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2</a:t>
            </a:r>
          </a:p>
        </p:txBody>
      </p:sp>
      <p:graphicFrame>
        <p:nvGraphicFramePr>
          <p:cNvPr id="9" name="Table 8"/>
          <p:cNvGraphicFramePr>
            <a:graphicFrameLocks noGrp="1"/>
          </p:cNvGraphicFramePr>
          <p:nvPr>
            <p:extLst>
              <p:ext uri="{D42A27DB-BD31-4B8C-83A1-F6EECF244321}">
                <p14:modId xmlns:p14="http://schemas.microsoft.com/office/powerpoint/2010/main" val="1900953027"/>
              </p:ext>
            </p:extLst>
          </p:nvPr>
        </p:nvGraphicFramePr>
        <p:xfrm>
          <a:off x="502920" y="1348740"/>
          <a:ext cx="11185853" cy="5098796"/>
        </p:xfrm>
        <a:graphic>
          <a:graphicData uri="http://schemas.openxmlformats.org/drawingml/2006/table">
            <a:tbl>
              <a:tblPr firstRow="1" bandRow="1">
                <a:tableStyleId>{5C22544A-7EE6-4342-B048-85BDC9FD1C3A}</a:tableStyleId>
              </a:tblPr>
              <a:tblGrid>
                <a:gridCol w="4003358">
                  <a:extLst>
                    <a:ext uri="{9D8B030D-6E8A-4147-A177-3AD203B41FA5}">
                      <a16:colId xmlns:a16="http://schemas.microsoft.com/office/drawing/2014/main" val="20000"/>
                    </a:ext>
                  </a:extLst>
                </a:gridCol>
                <a:gridCol w="941966">
                  <a:extLst>
                    <a:ext uri="{9D8B030D-6E8A-4147-A177-3AD203B41FA5}">
                      <a16:colId xmlns:a16="http://schemas.microsoft.com/office/drawing/2014/main" val="20001"/>
                    </a:ext>
                  </a:extLst>
                </a:gridCol>
                <a:gridCol w="6240529">
                  <a:extLst>
                    <a:ext uri="{9D8B030D-6E8A-4147-A177-3AD203B41FA5}">
                      <a16:colId xmlns:a16="http://schemas.microsoft.com/office/drawing/2014/main" val="20002"/>
                    </a:ext>
                  </a:extLst>
                </a:gridCol>
              </a:tblGrid>
              <a:tr h="489204">
                <a:tc>
                  <a:txBody>
                    <a:bodyPr/>
                    <a:lstStyle/>
                    <a:p>
                      <a:pPr algn="ctr"/>
                      <a:r>
                        <a:rPr lang="vi-VN" sz="1300" b="1" i="0" dirty="0">
                          <a:solidFill>
                            <a:srgbClr val="FFFFFF"/>
                          </a:solidFill>
                          <a:latin typeface="Arial"/>
                        </a:rPr>
                        <a:t>Phần</a:t>
                      </a:r>
                    </a:p>
                  </a:txBody>
                  <a:tcPr marT="50800" marB="50800" anchor="ctr">
                    <a:solidFill>
                      <a:srgbClr val="CC071E"/>
                    </a:solidFill>
                  </a:tcPr>
                </a:tc>
                <a:tc>
                  <a:txBody>
                    <a:bodyPr/>
                    <a:lstStyle/>
                    <a:p>
                      <a:pPr algn="ctr"/>
                      <a:r>
                        <a:rPr lang="vi-VN" sz="1300" b="1" i="0" dirty="0">
                          <a:solidFill>
                            <a:srgbClr val="FFFFFF"/>
                          </a:solidFill>
                          <a:latin typeface="Arial"/>
                        </a:rPr>
                        <a:t>Thời lượng</a:t>
                      </a:r>
                      <a:br>
                        <a:rPr lang="vi-VN" sz="1300" b="1" i="0" dirty="0">
                          <a:solidFill>
                            <a:srgbClr val="FFFFFF"/>
                          </a:solidFill>
                          <a:latin typeface="Arial"/>
                        </a:rPr>
                      </a:br>
                      <a:r>
                        <a:rPr lang="vi-VN" sz="1300" b="1" i="0" dirty="0">
                          <a:solidFill>
                            <a:srgbClr val="FFFFFF"/>
                          </a:solidFill>
                          <a:latin typeface="Arial"/>
                        </a:rPr>
                        <a:t>(phút)</a:t>
                      </a:r>
                    </a:p>
                  </a:txBody>
                  <a:tcPr marT="50800" marB="50800" anchor="ctr">
                    <a:solidFill>
                      <a:srgbClr val="CC071E"/>
                    </a:solidFill>
                  </a:tcPr>
                </a:tc>
                <a:tc>
                  <a:txBody>
                    <a:bodyPr/>
                    <a:lstStyle/>
                    <a:p>
                      <a:pPr algn="ctr"/>
                      <a:r>
                        <a:rPr lang="vi-VN" sz="1300" b="1" i="0" dirty="0">
                          <a:solidFill>
                            <a:srgbClr val="FFFFFF"/>
                          </a:solidFill>
                          <a:latin typeface="Arial"/>
                        </a:rPr>
                        <a:t>Nội dung</a:t>
                      </a:r>
                    </a:p>
                  </a:txBody>
                  <a:tcPr marT="50800" marB="50800" anchor="ctr">
                    <a:solidFill>
                      <a:srgbClr val="CC071E"/>
                    </a:solidFill>
                  </a:tcPr>
                </a:tc>
                <a:extLst>
                  <a:ext uri="{0D108BD9-81ED-4DB2-BD59-A6C34878D82A}">
                    <a16:rowId xmlns:a16="http://schemas.microsoft.com/office/drawing/2014/main" val="10000"/>
                  </a:ext>
                </a:extLst>
              </a:tr>
              <a:tr h="489204">
                <a:tc>
                  <a:txBody>
                    <a:bodyPr/>
                    <a:lstStyle/>
                    <a:p>
                      <a:r>
                        <a:rPr lang="vi-VN" sz="1300" b="1" i="0">
                          <a:solidFill>
                            <a:srgbClr val="232323"/>
                          </a:solidFill>
                          <a:latin typeface="Arial"/>
                        </a:rPr>
                        <a:t>1. Kiểm tra thiết lập</a:t>
                      </a:r>
                    </a:p>
                  </a:txBody>
                  <a:tcPr marT="38100" marB="38100" anchor="ctr">
                    <a:solidFill>
                      <a:srgbClr val="FFFFFF"/>
                    </a:solidFill>
                  </a:tcPr>
                </a:tc>
                <a:tc>
                  <a:txBody>
                    <a:bodyPr/>
                    <a:lstStyle/>
                    <a:p>
                      <a:pPr algn="ctr"/>
                      <a:r>
                        <a:rPr lang="vi-VN" sz="1300" b="0" i="0" dirty="0">
                          <a:solidFill>
                            <a:srgbClr val="232323"/>
                          </a:solidFill>
                          <a:latin typeface="Arial"/>
                        </a:rPr>
                        <a:t>10</a:t>
                      </a:r>
                    </a:p>
                  </a:txBody>
                  <a:tcPr marT="38100" marB="38100" anchor="ctr">
                    <a:solidFill>
                      <a:srgbClr val="FFFFFF"/>
                    </a:solidFill>
                  </a:tcPr>
                </a:tc>
                <a:tc>
                  <a:txBody>
                    <a:bodyPr/>
                    <a:lstStyle/>
                    <a:p>
                      <a:r>
                        <a:rPr lang="vi-VN" sz="1300" b="0" i="0">
                          <a:solidFill>
                            <a:srgbClr val="232323"/>
                          </a:solidFill>
                          <a:latin typeface="Arial"/>
                        </a:rPr>
                        <a:t>Xác nhận đã cài đặt/kích hoạt VS Code, GitHub và trợ lý lập trình AI</a:t>
                      </a:r>
                    </a:p>
                  </a:txBody>
                  <a:tcPr marT="38100" marB="38100" anchor="ctr">
                    <a:solidFill>
                      <a:srgbClr val="FFFFFF"/>
                    </a:solidFill>
                  </a:tcPr>
                </a:tc>
                <a:extLst>
                  <a:ext uri="{0D108BD9-81ED-4DB2-BD59-A6C34878D82A}">
                    <a16:rowId xmlns:a16="http://schemas.microsoft.com/office/drawing/2014/main" val="10001"/>
                  </a:ext>
                </a:extLst>
              </a:tr>
              <a:tr h="489204">
                <a:tc>
                  <a:txBody>
                    <a:bodyPr/>
                    <a:lstStyle/>
                    <a:p>
                      <a:r>
                        <a:rPr lang="vi-VN" sz="1300" b="1" i="0">
                          <a:solidFill>
                            <a:srgbClr val="232323"/>
                          </a:solidFill>
                          <a:latin typeface="Arial"/>
                        </a:rPr>
                        <a:t>2. Chào mừng học viên, khởi động &amp; định vị tài liệu</a:t>
                      </a:r>
                    </a:p>
                  </a:txBody>
                  <a:tcPr marT="38100" marB="38100" anchor="ctr">
                    <a:solidFill>
                      <a:srgbClr val="F5F5F5"/>
                    </a:solidFill>
                  </a:tcPr>
                </a:tc>
                <a:tc>
                  <a:txBody>
                    <a:bodyPr/>
                    <a:lstStyle/>
                    <a:p>
                      <a:pPr algn="ctr"/>
                      <a:r>
                        <a:rPr lang="vi-VN" sz="1300" b="0" i="0" dirty="0">
                          <a:solidFill>
                            <a:srgbClr val="232323"/>
                          </a:solidFill>
                          <a:latin typeface="Arial"/>
                        </a:rPr>
                        <a:t>10</a:t>
                      </a:r>
                    </a:p>
                  </a:txBody>
                  <a:tcPr marT="38100" marB="38100" anchor="ctr">
                    <a:solidFill>
                      <a:srgbClr val="F5F5F5"/>
                    </a:solidFill>
                  </a:tcPr>
                </a:tc>
                <a:tc>
                  <a:txBody>
                    <a:bodyPr/>
                    <a:lstStyle/>
                    <a:p>
                      <a:r>
                        <a:rPr lang="vi-VN" sz="1300" b="0" i="0">
                          <a:solidFill>
                            <a:srgbClr val="232323"/>
                          </a:solidFill>
                          <a:latin typeface="Arial"/>
                        </a:rPr>
                        <a:t>Ôn lại kết quả từ buổi đào tạo trực tiếp; xác định vị trí lưu trữ các giả định về tài chính và hiệu quả năng lượng trong kho lưu trữ (repository)</a:t>
                      </a:r>
                    </a:p>
                  </a:txBody>
                  <a:tcPr marT="38100" marB="38100" anchor="ctr">
                    <a:solidFill>
                      <a:srgbClr val="F5F5F5"/>
                    </a:solidFill>
                  </a:tcPr>
                </a:tc>
                <a:extLst>
                  <a:ext uri="{0D108BD9-81ED-4DB2-BD59-A6C34878D82A}">
                    <a16:rowId xmlns:a16="http://schemas.microsoft.com/office/drawing/2014/main" val="10002"/>
                  </a:ext>
                </a:extLst>
              </a:tr>
              <a:tr h="489204">
                <a:tc>
                  <a:txBody>
                    <a:bodyPr/>
                    <a:lstStyle/>
                    <a:p>
                      <a:r>
                        <a:rPr lang="vi-VN" sz="1300" b="1" i="0">
                          <a:solidFill>
                            <a:srgbClr val="232323"/>
                          </a:solidFill>
                          <a:latin typeface="Arial"/>
                        </a:rPr>
                        <a:t>3. Tầm quan trọng của thiết kế tài chính</a:t>
                      </a:r>
                    </a:p>
                  </a:txBody>
                  <a:tcPr marT="38100" marB="38100" anchor="ctr">
                    <a:solidFill>
                      <a:srgbClr val="FFFFFF"/>
                    </a:solidFill>
                  </a:tcPr>
                </a:tc>
                <a:tc>
                  <a:txBody>
                    <a:bodyPr/>
                    <a:lstStyle/>
                    <a:p>
                      <a:pPr algn="ctr"/>
                      <a:r>
                        <a:rPr lang="vi-VN" sz="1300" b="0" i="0">
                          <a:solidFill>
                            <a:srgbClr val="232323"/>
                          </a:solidFill>
                          <a:latin typeface="Arial"/>
                        </a:rPr>
                        <a:t>15</a:t>
                      </a:r>
                    </a:p>
                  </a:txBody>
                  <a:tcPr marT="38100" marB="38100" anchor="ctr">
                    <a:solidFill>
                      <a:srgbClr val="FFFFFF"/>
                    </a:solidFill>
                  </a:tcPr>
                </a:tc>
                <a:tc>
                  <a:txBody>
                    <a:bodyPr/>
                    <a:lstStyle/>
                    <a:p>
                      <a:r>
                        <a:rPr lang="vi-VN" sz="1300" b="0" i="0">
                          <a:solidFill>
                            <a:srgbClr val="232323"/>
                          </a:solidFill>
                          <a:latin typeface="Arial"/>
                        </a:rPr>
                        <a:t>Ba lý do cho thấy thiết kế tài chính là yếu tố quyết định hàng đầu đến tốc độ và chi phí chuyển dịch</a:t>
                      </a:r>
                    </a:p>
                  </a:txBody>
                  <a:tcPr marT="38100" marB="38100" anchor="ctr">
                    <a:solidFill>
                      <a:srgbClr val="FFFFFF"/>
                    </a:solidFill>
                  </a:tcPr>
                </a:tc>
                <a:extLst>
                  <a:ext uri="{0D108BD9-81ED-4DB2-BD59-A6C34878D82A}">
                    <a16:rowId xmlns:a16="http://schemas.microsoft.com/office/drawing/2014/main" val="10003"/>
                  </a:ext>
                </a:extLst>
              </a:tr>
              <a:tr h="489204">
                <a:tc>
                  <a:txBody>
                    <a:bodyPr/>
                    <a:lstStyle/>
                    <a:p>
                      <a:r>
                        <a:rPr lang="vi-VN" sz="1300" b="1" i="0">
                          <a:solidFill>
                            <a:srgbClr val="232323"/>
                          </a:solidFill>
                          <a:latin typeface="Arial"/>
                        </a:rPr>
                        <a:t>4. Ma trận 6 kịch bản tài chính (đầy đủ)</a:t>
                      </a:r>
                    </a:p>
                  </a:txBody>
                  <a:tcPr marT="38100" marB="38100" anchor="ctr">
                    <a:solidFill>
                      <a:srgbClr val="F5F5F5"/>
                    </a:solidFill>
                  </a:tcPr>
                </a:tc>
                <a:tc>
                  <a:txBody>
                    <a:bodyPr/>
                    <a:lstStyle/>
                    <a:p>
                      <a:pPr algn="ctr"/>
                      <a:r>
                        <a:rPr lang="vi-VN" sz="1300" b="0" i="0" dirty="0">
                          <a:solidFill>
                            <a:srgbClr val="232323"/>
                          </a:solidFill>
                          <a:latin typeface="Arial"/>
                        </a:rPr>
                        <a:t>35</a:t>
                      </a:r>
                    </a:p>
                  </a:txBody>
                  <a:tcPr marT="38100" marB="38100" anchor="ctr">
                    <a:solidFill>
                      <a:srgbClr val="F5F5F5"/>
                    </a:solidFill>
                  </a:tcPr>
                </a:tc>
                <a:tc>
                  <a:txBody>
                    <a:bodyPr/>
                    <a:lstStyle/>
                    <a:p>
                      <a:r>
                        <a:rPr lang="vi-VN" sz="1300" b="0" i="0">
                          <a:solidFill>
                            <a:srgbClr val="232323"/>
                          </a:solidFill>
                          <a:latin typeface="Arial"/>
                        </a:rPr>
                        <a:t>3 cấu trúc tài chính trong QHĐ8 và Net Zero, phân tích theo từng cơ chế</a:t>
                      </a:r>
                    </a:p>
                  </a:txBody>
                  <a:tcPr marT="38100" marB="38100" anchor="ctr">
                    <a:solidFill>
                      <a:srgbClr val="F5F5F5"/>
                    </a:solidFill>
                  </a:tcPr>
                </a:tc>
                <a:extLst>
                  <a:ext uri="{0D108BD9-81ED-4DB2-BD59-A6C34878D82A}">
                    <a16:rowId xmlns:a16="http://schemas.microsoft.com/office/drawing/2014/main" val="10004"/>
                  </a:ext>
                </a:extLst>
              </a:tr>
              <a:tr h="489204">
                <a:tc>
                  <a:txBody>
                    <a:bodyPr/>
                    <a:lstStyle/>
                    <a:p>
                      <a:r>
                        <a:rPr lang="vi-VN" sz="1300" b="1" i="0">
                          <a:solidFill>
                            <a:srgbClr val="232323"/>
                          </a:solidFill>
                          <a:latin typeface="Arial"/>
                        </a:rPr>
                        <a:t>5. Lập bảng siêu dữ liệu kịch bản tài chính</a:t>
                      </a:r>
                    </a:p>
                  </a:txBody>
                  <a:tcPr marT="38100" marB="38100" anchor="ctr">
                    <a:solidFill>
                      <a:srgbClr val="FFFFFF"/>
                    </a:solidFill>
                  </a:tcPr>
                </a:tc>
                <a:tc>
                  <a:txBody>
                    <a:bodyPr/>
                    <a:lstStyle/>
                    <a:p>
                      <a:pPr algn="ctr"/>
                      <a:r>
                        <a:rPr lang="vi-VN" sz="1300" b="0" i="0">
                          <a:solidFill>
                            <a:srgbClr val="232323"/>
                          </a:solidFill>
                          <a:latin typeface="Arial"/>
                        </a:rPr>
                        <a:t>25</a:t>
                      </a:r>
                    </a:p>
                  </a:txBody>
                  <a:tcPr marT="38100" marB="38100" anchor="ctr">
                    <a:solidFill>
                      <a:srgbClr val="FFFFFF"/>
                    </a:solidFill>
                  </a:tcPr>
                </a:tc>
                <a:tc>
                  <a:txBody>
                    <a:bodyPr/>
                    <a:lstStyle/>
                    <a:p>
                      <a:r>
                        <a:rPr lang="vi-VN" sz="1300" b="0" i="0">
                          <a:solidFill>
                            <a:srgbClr val="232323"/>
                          </a:solidFill>
                          <a:latin typeface="Arial"/>
                        </a:rPr>
                        <a:t>Các nhóm ghi chép lại đầy đủ, chi tiết kịch bản được phân công của nhóm mình</a:t>
                      </a:r>
                    </a:p>
                  </a:txBody>
                  <a:tcPr marT="38100" marB="38100" anchor="ctr">
                    <a:solidFill>
                      <a:srgbClr val="FFFFFF"/>
                    </a:solidFill>
                  </a:tcPr>
                </a:tc>
                <a:extLst>
                  <a:ext uri="{0D108BD9-81ED-4DB2-BD59-A6C34878D82A}">
                    <a16:rowId xmlns:a16="http://schemas.microsoft.com/office/drawing/2014/main" val="10005"/>
                  </a:ext>
                </a:extLst>
              </a:tr>
              <a:tr h="489204">
                <a:tc>
                  <a:txBody>
                    <a:bodyPr/>
                    <a:lstStyle/>
                    <a:p>
                      <a:r>
                        <a:rPr lang="vi-VN" sz="1300" b="1" i="0" dirty="0">
                          <a:solidFill>
                            <a:srgbClr val="FF0000"/>
                          </a:solidFill>
                          <a:latin typeface="Arial"/>
                        </a:rPr>
                        <a:t>— Nghỉ giải lao —</a:t>
                      </a:r>
                    </a:p>
                  </a:txBody>
                  <a:tcPr marT="38100" marB="38100" anchor="ctr">
                    <a:solidFill>
                      <a:srgbClr val="F5F5F5"/>
                    </a:solidFill>
                  </a:tcPr>
                </a:tc>
                <a:tc>
                  <a:txBody>
                    <a:bodyPr/>
                    <a:lstStyle/>
                    <a:p>
                      <a:pPr algn="ctr"/>
                      <a:r>
                        <a:rPr lang="vi-VN" sz="1300" b="0" i="0" dirty="0">
                          <a:solidFill>
                            <a:srgbClr val="FF0000"/>
                          </a:solidFill>
                          <a:latin typeface="Arial"/>
                        </a:rPr>
                        <a:t>15</a:t>
                      </a:r>
                    </a:p>
                  </a:txBody>
                  <a:tcPr marT="38100" marB="38100" anchor="ctr">
                    <a:solidFill>
                      <a:srgbClr val="F5F5F5"/>
                    </a:solidFill>
                  </a:tcPr>
                </a:tc>
                <a:tc>
                  <a:txBody>
                    <a:bodyPr/>
                    <a:lstStyle/>
                    <a:p>
                      <a:endParaRPr/>
                    </a:p>
                  </a:txBody>
                  <a:tcPr marT="38100" marB="38100" anchor="ctr">
                    <a:solidFill>
                      <a:srgbClr val="F5F5F5"/>
                    </a:solidFill>
                  </a:tcPr>
                </a:tc>
                <a:extLst>
                  <a:ext uri="{0D108BD9-81ED-4DB2-BD59-A6C34878D82A}">
                    <a16:rowId xmlns:a16="http://schemas.microsoft.com/office/drawing/2014/main" val="10006"/>
                  </a:ext>
                </a:extLst>
              </a:tr>
              <a:tr h="489204">
                <a:tc>
                  <a:txBody>
                    <a:bodyPr/>
                    <a:lstStyle/>
                    <a:p>
                      <a:r>
                        <a:rPr lang="vi-VN" sz="1300" b="1" i="0">
                          <a:solidFill>
                            <a:srgbClr val="232323"/>
                          </a:solidFill>
                          <a:latin typeface="Arial"/>
                        </a:rPr>
                        <a:t>6. Kịch bản hiệu quả năng lượng (EE) (đầy đủ)</a:t>
                      </a:r>
                    </a:p>
                  </a:txBody>
                  <a:tcPr marT="38100" marB="38100" anchor="ctr">
                    <a:solidFill>
                      <a:srgbClr val="FFFFFF"/>
                    </a:solidFill>
                  </a:tcPr>
                </a:tc>
                <a:tc>
                  <a:txBody>
                    <a:bodyPr/>
                    <a:lstStyle/>
                    <a:p>
                      <a:pPr algn="ctr"/>
                      <a:r>
                        <a:rPr lang="vi-VN" sz="1300" b="0" i="0" dirty="0">
                          <a:solidFill>
                            <a:srgbClr val="232323"/>
                          </a:solidFill>
                          <a:latin typeface="Arial"/>
                        </a:rPr>
                        <a:t>35</a:t>
                      </a:r>
                    </a:p>
                  </a:txBody>
                  <a:tcPr marT="38100" marB="38100" anchor="ctr">
                    <a:solidFill>
                      <a:srgbClr val="FFFFFF"/>
                    </a:solidFill>
                  </a:tcPr>
                </a:tc>
                <a:tc>
                  <a:txBody>
                    <a:bodyPr/>
                    <a:lstStyle/>
                    <a:p>
                      <a:r>
                        <a:rPr lang="vi-VN" sz="1300" b="0" i="0" dirty="0">
                          <a:solidFill>
                            <a:srgbClr val="232323"/>
                          </a:solidFill>
                          <a:latin typeface="Arial"/>
                        </a:rPr>
                        <a:t>Thuyết minh kịch bản, kênh tác động chính, tiềm năng tiết kiệm đến năm 2030, nhu cầu đầu tư, hiệu ứng tương tác</a:t>
                      </a:r>
                      <a:r>
                        <a:rPr lang="en-US" sz="1300" b="0" i="0" dirty="0">
                          <a:solidFill>
                            <a:srgbClr val="232323"/>
                          </a:solidFill>
                          <a:latin typeface="Arial"/>
                        </a:rPr>
                        <a:t>(rebound effect)</a:t>
                      </a:r>
                      <a:endParaRPr lang="vi-VN" sz="1300" b="0" i="0" dirty="0">
                        <a:solidFill>
                          <a:srgbClr val="232323"/>
                        </a:solidFill>
                        <a:latin typeface="Arial"/>
                      </a:endParaRPr>
                    </a:p>
                  </a:txBody>
                  <a:tcPr marT="38100" marB="38100" anchor="ctr">
                    <a:solidFill>
                      <a:srgbClr val="FFFFFF"/>
                    </a:solidFill>
                  </a:tcPr>
                </a:tc>
                <a:extLst>
                  <a:ext uri="{0D108BD9-81ED-4DB2-BD59-A6C34878D82A}">
                    <a16:rowId xmlns:a16="http://schemas.microsoft.com/office/drawing/2014/main" val="10007"/>
                  </a:ext>
                </a:extLst>
              </a:tr>
              <a:tr h="489204">
                <a:tc>
                  <a:txBody>
                    <a:bodyPr/>
                    <a:lstStyle/>
                    <a:p>
                      <a:r>
                        <a:rPr lang="vi-VN" sz="1300" b="1" i="0">
                          <a:solidFill>
                            <a:srgbClr val="232323"/>
                          </a:solidFill>
                          <a:latin typeface="Arial"/>
                        </a:rPr>
                        <a:t>7. Lập bảng siêu dữ liệu kịch bản tài hiệu quả năng lượng</a:t>
                      </a:r>
                    </a:p>
                  </a:txBody>
                  <a:tcPr marT="38100" marB="38100" anchor="ctr">
                    <a:solidFill>
                      <a:srgbClr val="F5F5F5"/>
                    </a:solidFill>
                  </a:tcPr>
                </a:tc>
                <a:tc>
                  <a:txBody>
                    <a:bodyPr/>
                    <a:lstStyle/>
                    <a:p>
                      <a:pPr algn="ctr"/>
                      <a:r>
                        <a:rPr lang="vi-VN" sz="1300" b="0" i="0" dirty="0">
                          <a:solidFill>
                            <a:srgbClr val="232323"/>
                          </a:solidFill>
                          <a:latin typeface="Arial"/>
                        </a:rPr>
                        <a:t>30</a:t>
                      </a:r>
                    </a:p>
                  </a:txBody>
                  <a:tcPr marT="38100" marB="38100" anchor="ctr">
                    <a:solidFill>
                      <a:srgbClr val="F5F5F5"/>
                    </a:solidFill>
                  </a:tcPr>
                </a:tc>
                <a:tc>
                  <a:txBody>
                    <a:bodyPr/>
                    <a:lstStyle/>
                    <a:p>
                      <a:r>
                        <a:rPr lang="vi-VN" sz="1300" b="0" i="0">
                          <a:solidFill>
                            <a:srgbClr val="232323"/>
                          </a:solidFill>
                          <a:latin typeface="Arial"/>
                        </a:rPr>
                        <a:t>Các nhóm ghi chép lại kịch bản hiệu quả năng lượng với mức độ chi tiết tương tự</a:t>
                      </a:r>
                    </a:p>
                  </a:txBody>
                  <a:tcPr marT="38100" marB="38100" anchor="ctr">
                    <a:solidFill>
                      <a:srgbClr val="F5F5F5"/>
                    </a:solidFill>
                  </a:tcPr>
                </a:tc>
                <a:extLst>
                  <a:ext uri="{0D108BD9-81ED-4DB2-BD59-A6C34878D82A}">
                    <a16:rowId xmlns:a16="http://schemas.microsoft.com/office/drawing/2014/main" val="10008"/>
                  </a:ext>
                </a:extLst>
              </a:tr>
              <a:tr h="489204">
                <a:tc>
                  <a:txBody>
                    <a:bodyPr/>
                    <a:lstStyle/>
                    <a:p>
                      <a:r>
                        <a:rPr lang="vi-VN" sz="1300" b="1" i="0" dirty="0">
                          <a:solidFill>
                            <a:srgbClr val="232323"/>
                          </a:solidFill>
                          <a:latin typeface="Arial"/>
                        </a:rPr>
                        <a:t>8. Tổng kết và định hướng tiếp theo</a:t>
                      </a:r>
                    </a:p>
                  </a:txBody>
                  <a:tcPr marT="38100" marB="38100" anchor="ctr">
                    <a:solidFill>
                      <a:srgbClr val="FFFFFF"/>
                    </a:solidFill>
                  </a:tcPr>
                </a:tc>
                <a:tc>
                  <a:txBody>
                    <a:bodyPr/>
                    <a:lstStyle/>
                    <a:p>
                      <a:pPr algn="ctr"/>
                      <a:r>
                        <a:rPr lang="vi-VN" sz="1300" b="0" i="0" dirty="0">
                          <a:solidFill>
                            <a:srgbClr val="232323"/>
                          </a:solidFill>
                          <a:latin typeface="Arial"/>
                        </a:rPr>
                        <a:t>5</a:t>
                      </a:r>
                    </a:p>
                  </a:txBody>
                  <a:tcPr marT="38100" marB="38100" anchor="ctr">
                    <a:solidFill>
                      <a:srgbClr val="FFFFFF"/>
                    </a:solidFill>
                  </a:tcPr>
                </a:tc>
                <a:tc>
                  <a:txBody>
                    <a:bodyPr/>
                    <a:lstStyle/>
                    <a:p>
                      <a:r>
                        <a:rPr lang="vi-VN" sz="1300" b="0" i="0" dirty="0">
                          <a:solidFill>
                            <a:srgbClr val="232323"/>
                          </a:solidFill>
                          <a:latin typeface="Arial"/>
                        </a:rPr>
                        <a:t>Xác nhận đã hoàn thành hai bảng siêu dữ liệu; giới thiệu nội dung thực hành ngày hôm sau</a:t>
                      </a:r>
                    </a:p>
                  </a:txBody>
                  <a:tcPr marT="38100" marB="38100"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8778240" cy="810478"/>
          </a:xfrm>
          <a:prstGeom prst="rect">
            <a:avLst/>
          </a:prstGeom>
          <a:noFill/>
        </p:spPr>
        <p:txBody>
          <a:bodyPr wrap="square" anchor="ctr">
            <a:spAutoFit/>
          </a:bodyPr>
          <a:lstStyle/>
          <a:p>
            <a:pPr>
              <a:spcAft>
                <a:spcPts val="1400"/>
              </a:spcAft>
            </a:pPr>
            <a:r>
              <a:rPr lang="vi-VN" sz="1100" b="1" i="0" dirty="0">
                <a:solidFill>
                  <a:srgbClr val="FFD2D2"/>
                </a:solidFill>
                <a:latin typeface="Arial"/>
              </a:rPr>
              <a:t>PHẦN 1 · 10 PHÚT · [TƯƠNG TÁC]</a:t>
            </a:r>
          </a:p>
          <a:p>
            <a:r>
              <a:rPr lang="vi-VN" sz="2400" b="1" i="0" dirty="0">
                <a:solidFill>
                  <a:srgbClr val="FFFFFF"/>
                </a:solidFill>
                <a:latin typeface="Arial"/>
              </a:rPr>
              <a:t>Kiểm tra thiết lập </a:t>
            </a:r>
            <a:r>
              <a:rPr lang="en-US" sz="2400" b="1" i="0" dirty="0">
                <a:solidFill>
                  <a:srgbClr val="FFFFFF"/>
                </a:solidFill>
                <a:latin typeface="Arial"/>
              </a:rPr>
              <a:t>-</a:t>
            </a:r>
            <a:r>
              <a:rPr lang="vi-VN" sz="2400" b="1" i="0" dirty="0">
                <a:solidFill>
                  <a:srgbClr val="FFFFFF"/>
                </a:solidFill>
                <a:latin typeface="Arial"/>
              </a:rPr>
              <a:t> VS Code, GitHub, Trợ lý lập trình AI</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3</a:t>
            </a:r>
          </a:p>
        </p:txBody>
      </p:sp>
      <p:sp>
        <p:nvSpPr>
          <p:cNvPr id="9" name="TextBox 8"/>
          <p:cNvSpPr txBox="1"/>
          <p:nvPr/>
        </p:nvSpPr>
        <p:spPr>
          <a:xfrm>
            <a:off x="502920" y="1554480"/>
            <a:ext cx="11185855" cy="2580194"/>
          </a:xfrm>
          <a:prstGeom prst="rect">
            <a:avLst/>
          </a:prstGeom>
          <a:noFill/>
        </p:spPr>
        <p:txBody>
          <a:bodyPr wrap="square">
            <a:spAutoFit/>
          </a:bodyPr>
          <a:lstStyle/>
          <a:p>
            <a:pPr marL="0" indent="0" algn="just">
              <a:spcAft>
                <a:spcPts val="1000"/>
              </a:spcAft>
            </a:pPr>
            <a:r>
              <a:rPr lang="vi-VN" sz="1700" b="1" i="0" dirty="0">
                <a:solidFill>
                  <a:srgbClr val="232323"/>
                </a:solidFill>
                <a:latin typeface="Arial"/>
              </a:rPr>
              <a:t>•  Khảo sát nhanh (giơ tay cho từng câu hỏi):</a:t>
            </a:r>
          </a:p>
          <a:p>
            <a:pPr marL="320040" indent="0" algn="just">
              <a:spcAft>
                <a:spcPts val="600"/>
              </a:spcAft>
            </a:pPr>
            <a:r>
              <a:rPr lang="vi-VN" sz="1500" b="0" i="0" dirty="0">
                <a:solidFill>
                  <a:srgbClr val="232323"/>
                </a:solidFill>
                <a:latin typeface="Arial"/>
              </a:rPr>
              <a:t>–  Đã cài đặt và mở được VS Code</a:t>
            </a:r>
          </a:p>
          <a:p>
            <a:pPr marL="320040" indent="0" algn="just">
              <a:spcAft>
                <a:spcPts val="600"/>
              </a:spcAft>
            </a:pPr>
            <a:r>
              <a:rPr lang="vi-VN" sz="1500" b="0" i="0" dirty="0">
                <a:solidFill>
                  <a:srgbClr val="232323"/>
                </a:solidFill>
                <a:latin typeface="Arial"/>
              </a:rPr>
              <a:t>–  Đã có tài khoản GitHub (và đã cài đặt GitHub Desktop nếu kịp)</a:t>
            </a:r>
          </a:p>
          <a:p>
            <a:pPr marL="320040" indent="0" algn="just">
              <a:spcAft>
                <a:spcPts val="600"/>
              </a:spcAft>
            </a:pPr>
            <a:r>
              <a:rPr lang="vi-VN" sz="1500" b="0" i="0" dirty="0">
                <a:solidFill>
                  <a:srgbClr val="232323"/>
                </a:solidFill>
                <a:latin typeface="Arial"/>
              </a:rPr>
              <a:t>–  Đã kích hoạt trợ lý lập trình AI trong VS Code — Claude Code, GitHub Copilot hoặc công cụ LLM tương tự</a:t>
            </a:r>
          </a:p>
          <a:p>
            <a:pPr marL="0" indent="0" algn="just">
              <a:spcAft>
                <a:spcPts val="1000"/>
              </a:spcAft>
            </a:pPr>
            <a:r>
              <a:rPr lang="vi-VN" sz="1700" b="0" i="0" dirty="0">
                <a:solidFill>
                  <a:srgbClr val="232323"/>
                </a:solidFill>
                <a:latin typeface="Arial"/>
              </a:rPr>
              <a:t>•  Nếu chưa có sẵn: Ghép cặp với học viên bên đã cài đặt/kích hoạt sẵn, lấy link cài đặt nhanh và báo với giảng viên hỗ trợ</a:t>
            </a:r>
          </a:p>
          <a:p>
            <a:pPr marL="0" indent="0" algn="just">
              <a:spcAft>
                <a:spcPts val="1000"/>
              </a:spcAft>
            </a:pPr>
            <a:r>
              <a:rPr lang="vi-VN" sz="1700" b="1" i="0" dirty="0">
                <a:solidFill>
                  <a:srgbClr val="232323"/>
                </a:solidFill>
                <a:latin typeface="Arial"/>
              </a:rPr>
              <a:t>•  Các vấn đề cài đặt sẽ được xử lý trong giờ nghỉ, không xử lý trực tiếp trước lớp — sáng ngày mai sẽ vẫn tiếp tục hướng dẫn đầy đủ về Git/GitHub Desktop/VS Code, bắt đầu từ nội dung cơ bản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19" y="234841"/>
            <a:ext cx="12652641" cy="810478"/>
          </a:xfrm>
          <a:prstGeom prst="rect">
            <a:avLst/>
          </a:prstGeom>
          <a:noFill/>
        </p:spPr>
        <p:txBody>
          <a:bodyPr wrap="square" anchor="ctr">
            <a:spAutoFit/>
          </a:bodyPr>
          <a:lstStyle/>
          <a:p>
            <a:pPr>
              <a:spcAft>
                <a:spcPts val="1400"/>
              </a:spcAft>
            </a:pPr>
            <a:r>
              <a:rPr lang="vi-VN" sz="1100" b="1" i="0" dirty="0">
                <a:solidFill>
                  <a:srgbClr val="FFD2D2"/>
                </a:solidFill>
                <a:latin typeface="Arial"/>
              </a:rPr>
              <a:t>PHẦN 1 · TÀI LIỆU GIẢNG DẠY / THAM KHẢO</a:t>
            </a:r>
          </a:p>
          <a:p>
            <a:r>
              <a:rPr lang="vi-VN" sz="2400" b="1" i="0" dirty="0">
                <a:solidFill>
                  <a:srgbClr val="FFFFFF"/>
                </a:solidFill>
                <a:latin typeface="Arial"/>
              </a:rPr>
              <a:t>Tài liệu tham khảo nhanh phần Thiết lập (chi tiết các bước: setup-gu</a:t>
            </a:r>
            <a:r>
              <a:rPr lang="en-US" sz="2400" b="1" i="0" dirty="0" err="1">
                <a:solidFill>
                  <a:srgbClr val="FFFFFF"/>
                </a:solidFill>
                <a:latin typeface="Arial"/>
              </a:rPr>
              <a:t>i</a:t>
            </a:r>
            <a:r>
              <a:rPr lang="vi-VN" sz="2400" b="1" i="0" dirty="0">
                <a:solidFill>
                  <a:srgbClr val="FFFFFF"/>
                </a:solidFill>
                <a:latin typeface="Arial"/>
              </a:rPr>
              <a:t>de.md)</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4</a:t>
            </a:r>
          </a:p>
        </p:txBody>
      </p:sp>
      <p:sp>
        <p:nvSpPr>
          <p:cNvPr id="9" name="TextBox 8"/>
          <p:cNvSpPr txBox="1"/>
          <p:nvPr/>
        </p:nvSpPr>
        <p:spPr>
          <a:xfrm>
            <a:off x="502920" y="1554480"/>
            <a:ext cx="11185855" cy="3067506"/>
          </a:xfrm>
          <a:prstGeom prst="rect">
            <a:avLst/>
          </a:prstGeom>
          <a:noFill/>
        </p:spPr>
        <p:txBody>
          <a:bodyPr wrap="square">
            <a:spAutoFit/>
          </a:bodyPr>
          <a:lstStyle/>
          <a:p>
            <a:pPr marL="0" indent="0">
              <a:spcAft>
                <a:spcPts val="1000"/>
              </a:spcAft>
            </a:pPr>
            <a:r>
              <a:rPr lang="vi-VN" sz="1700" b="0" i="0" dirty="0">
                <a:solidFill>
                  <a:srgbClr val="232323"/>
                </a:solidFill>
                <a:latin typeface="Arial"/>
              </a:rPr>
              <a:t>•  VS Code: tải từ trang code.visualstudio.com, mở thử để kiểm tra hoạt động</a:t>
            </a:r>
          </a:p>
          <a:p>
            <a:pPr marL="0" indent="0">
              <a:spcAft>
                <a:spcPts val="1000"/>
              </a:spcAft>
            </a:pPr>
            <a:r>
              <a:rPr lang="vi-VN" sz="1700" b="0" i="0" dirty="0">
                <a:solidFill>
                  <a:srgbClr val="232323"/>
                </a:solidFill>
                <a:latin typeface="Arial"/>
              </a:rPr>
              <a:t>•  GitHub: tạo tài khoản miễn phí tại github.com</a:t>
            </a:r>
          </a:p>
          <a:p>
            <a:pPr marL="0" indent="0">
              <a:spcAft>
                <a:spcPts val="1000"/>
              </a:spcAft>
            </a:pPr>
            <a:r>
              <a:rPr lang="vi-VN" sz="1700" b="1" i="0" dirty="0">
                <a:solidFill>
                  <a:srgbClr val="232323"/>
                </a:solidFill>
                <a:latin typeface="Arial"/>
              </a:rPr>
              <a:t>•  Trợ lý lập trình AI — chọn 1 trợ lý:</a:t>
            </a:r>
          </a:p>
          <a:p>
            <a:pPr marL="320040" indent="0">
              <a:spcAft>
                <a:spcPts val="600"/>
              </a:spcAft>
            </a:pPr>
            <a:r>
              <a:rPr lang="vi-VN" sz="1500" b="0" i="0" dirty="0">
                <a:solidFill>
                  <a:srgbClr val="232323"/>
                </a:solidFill>
                <a:latin typeface="Arial"/>
              </a:rPr>
              <a:t>–  GitHub Copilot: Xem Extensions (Ctrl/Cmd+Shift+X) → tìm "GitHub Copilot" → cài đặt → đnăg nhập GitHub</a:t>
            </a:r>
          </a:p>
          <a:p>
            <a:pPr marL="320040" indent="0">
              <a:spcAft>
                <a:spcPts val="600"/>
              </a:spcAft>
            </a:pPr>
            <a:r>
              <a:rPr lang="vi-VN" sz="1500" b="0" i="0" dirty="0">
                <a:solidFill>
                  <a:srgbClr val="232323"/>
                </a:solidFill>
                <a:latin typeface="Arial"/>
              </a:rPr>
              <a:t>–  Claude Code: cài Node.js, sau đó chạy lệnh npm install -g @anthropic-ai/claude-code, chạy claude trong terminal của VS Code</a:t>
            </a:r>
          </a:p>
          <a:p>
            <a:pPr marL="320040" indent="0">
              <a:spcAft>
                <a:spcPts val="600"/>
              </a:spcAft>
            </a:pPr>
            <a:r>
              <a:rPr lang="vi-VN" sz="1500" b="0" i="0" dirty="0">
                <a:solidFill>
                  <a:srgbClr val="232323"/>
                </a:solidFill>
                <a:latin typeface="Arial"/>
              </a:rPr>
              <a:t>– Hoặc một trợ lý lập trình LLM khác mà bạn quen sử dụng</a:t>
            </a:r>
          </a:p>
          <a:p>
            <a:pPr marL="0" indent="0">
              <a:spcAft>
                <a:spcPts val="1000"/>
              </a:spcAft>
            </a:pPr>
            <a:r>
              <a:rPr lang="vi-VN" sz="1700" b="0" i="0" dirty="0">
                <a:solidFill>
                  <a:srgbClr val="232323"/>
                </a:solidFill>
                <a:latin typeface="Arial"/>
              </a:rPr>
              <a:t>•  MATLAB: đã được cài từ khóa học trực tiếp — mở trực tiếp và chạy thử một lệnh để xác nhận</a:t>
            </a:r>
          </a:p>
          <a:p>
            <a:pPr marL="0" indent="0">
              <a:spcAft>
                <a:spcPts val="1000"/>
              </a:spcAft>
            </a:pPr>
            <a:r>
              <a:rPr lang="vi-VN" sz="1700" b="0" i="0" dirty="0">
                <a:solidFill>
                  <a:srgbClr val="232323"/>
                </a:solidFill>
                <a:latin typeface="Arial"/>
              </a:rPr>
              <a:t>•  Tùy chọn: cài extension "MATLAB" (bằng MathWorks) trong VS Code để hỗ trợ hiển thị cú pháp file.m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2 · 10 PHÚT</a:t>
            </a:r>
          </a:p>
          <a:p>
            <a:r>
              <a:rPr lang="vi-VN" sz="2400" b="1" i="0">
                <a:solidFill>
                  <a:srgbClr val="FFFFFF"/>
                </a:solidFill>
                <a:latin typeface="Arial"/>
              </a:rPr>
              <a:t>Chào mừng học viên quay lại</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5</a:t>
            </a:r>
          </a:p>
        </p:txBody>
      </p:sp>
      <p:sp>
        <p:nvSpPr>
          <p:cNvPr id="9" name="TextBox 8"/>
          <p:cNvSpPr txBox="1"/>
          <p:nvPr/>
        </p:nvSpPr>
        <p:spPr>
          <a:xfrm>
            <a:off x="502920" y="1554480"/>
            <a:ext cx="11185855" cy="2308324"/>
          </a:xfrm>
          <a:prstGeom prst="rect">
            <a:avLst/>
          </a:prstGeom>
          <a:noFill/>
        </p:spPr>
        <p:txBody>
          <a:bodyPr wrap="square">
            <a:spAutoFit/>
          </a:bodyPr>
          <a:lstStyle/>
          <a:p>
            <a:pPr marL="0" indent="0">
              <a:spcAft>
                <a:spcPts val="1000"/>
              </a:spcAft>
            </a:pPr>
            <a:r>
              <a:rPr lang="vi-VN" sz="1700" b="0" i="0" dirty="0">
                <a:solidFill>
                  <a:srgbClr val="232323"/>
                </a:solidFill>
                <a:latin typeface="Arial"/>
              </a:rPr>
              <a:t>•  Khóa học này tiếp nối nội dung từ khóa đào tạo trực tiếp (Ngày 1-2, và Ngày 3 nếu đã hoàn thành)</a:t>
            </a:r>
          </a:p>
          <a:p>
            <a:pPr marL="0" indent="0">
              <a:spcAft>
                <a:spcPts val="1000"/>
              </a:spcAft>
            </a:pPr>
            <a:r>
              <a:rPr lang="vi-VN" sz="1700" b="0" i="0" dirty="0">
                <a:solidFill>
                  <a:srgbClr val="232323"/>
                </a:solidFill>
                <a:latin typeface="Arial"/>
              </a:rPr>
              <a:t>•  Nội dung hôm nay và ngày mai tập trung chuyên sâu vào hai nhóm kịch bản chính: tài chính và hiệu quả năng lượng — hôm nay sẽ xây dựng và định nghĩa đầy đủ kịch bản, sáng mai sẽ chạy mô hình và diễn giải, phân tích kết quả</a:t>
            </a:r>
          </a:p>
          <a:p>
            <a:pPr marL="0" indent="0">
              <a:spcAft>
                <a:spcPts val="1000"/>
              </a:spcAft>
            </a:pPr>
            <a:r>
              <a:rPr lang="vi-VN" sz="1700" b="0" i="0" dirty="0">
                <a:solidFill>
                  <a:srgbClr val="232323"/>
                </a:solidFill>
                <a:latin typeface="Arial"/>
              </a:rPr>
              <a:t>•  Vị trí lưu trữ giả định: docs/financing_pathway.md, docs/energy_efficiency_pathway.md, ExcelFiles/</a:t>
            </a:r>
          </a:p>
          <a:p>
            <a:pPr marL="0" indent="0">
              <a:spcAft>
                <a:spcPts val="1000"/>
              </a:spcAft>
            </a:pPr>
            <a:r>
              <a:rPr lang="vi-VN" sz="1700" b="1" i="0" dirty="0">
                <a:solidFill>
                  <a:srgbClr val="232323"/>
                </a:solidFill>
                <a:latin typeface="Arial"/>
              </a:rPr>
              <a:t>• Nội dung về cách </a:t>
            </a:r>
            <a:r>
              <a:rPr lang="en-US" sz="1700" b="1" dirty="0" err="1">
                <a:solidFill>
                  <a:srgbClr val="232323"/>
                </a:solidFill>
                <a:latin typeface="Arial"/>
              </a:rPr>
              <a:t>định</a:t>
            </a:r>
            <a:r>
              <a:rPr lang="en-US" sz="1700" b="1" dirty="0">
                <a:solidFill>
                  <a:srgbClr val="232323"/>
                </a:solidFill>
                <a:latin typeface="Arial"/>
              </a:rPr>
              <a:t> </a:t>
            </a:r>
            <a:r>
              <a:rPr lang="en-US" sz="1700" b="1" dirty="0" err="1">
                <a:solidFill>
                  <a:srgbClr val="232323"/>
                </a:solidFill>
                <a:latin typeface="Arial"/>
              </a:rPr>
              <a:t>vị</a:t>
            </a:r>
            <a:r>
              <a:rPr lang="en-US" sz="1700" b="1" dirty="0">
                <a:solidFill>
                  <a:srgbClr val="232323"/>
                </a:solidFill>
                <a:latin typeface="Arial"/>
              </a:rPr>
              <a:t>/</a:t>
            </a:r>
            <a:r>
              <a:rPr lang="vi-VN" sz="1700" b="1" i="0" dirty="0">
                <a:solidFill>
                  <a:srgbClr val="232323"/>
                </a:solidFill>
                <a:latin typeface="Arial"/>
              </a:rPr>
              <a:t>điều hướng toàn bộ mã nguồn (codebase) và sử dụng Git/GitHub Desktop sẽ được giảng dạy vào sáng mai, ngay trước khi thực hành trực tiếp — do đó không lặp lại ở đây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3 · 15 PHÚT</a:t>
            </a:r>
          </a:p>
          <a:p>
            <a:r>
              <a:rPr lang="vi-VN" sz="2400" b="1" i="0">
                <a:solidFill>
                  <a:srgbClr val="FFFFFF"/>
                </a:solidFill>
                <a:latin typeface="Arial"/>
              </a:rPr>
              <a:t>Tầm quan trọng của thiết kế tài chính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6</a:t>
            </a:r>
          </a:p>
        </p:txBody>
      </p:sp>
      <p:sp>
        <p:nvSpPr>
          <p:cNvPr id="9" name="TextBox 8"/>
          <p:cNvSpPr txBox="1"/>
          <p:nvPr/>
        </p:nvSpPr>
        <p:spPr>
          <a:xfrm>
            <a:off x="502920" y="1554480"/>
            <a:ext cx="11185855" cy="191847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Khả năng chi trả của đầu tư công — lãi suất vay thấp hơn giúp giảm gánh nặng trả nợ cho các khoản đầu tư phục vụ quá trình chuyển dịch</a:t>
            </a:r>
          </a:p>
          <a:p>
            <a:pPr marL="0" indent="0" algn="just">
              <a:spcAft>
                <a:spcPts val="1000"/>
              </a:spcAft>
            </a:pPr>
            <a:r>
              <a:rPr lang="vi-VN" sz="1700" b="0" i="0" dirty="0">
                <a:solidFill>
                  <a:srgbClr val="232323"/>
                </a:solidFill>
                <a:latin typeface="Arial"/>
              </a:rPr>
              <a:t>• Huy động thêm đầu tư — việc tái phân bổ nguồn thu từ thuế phát thải sang đầu tư vốn cho năng lượng tái tạo có thể tài trợ mở rộng thêm công suất mà không cần vay mới</a:t>
            </a:r>
          </a:p>
          <a:p>
            <a:pPr marL="0" indent="0" algn="just">
              <a:spcAft>
                <a:spcPts val="1000"/>
              </a:spcAft>
            </a:pPr>
            <a:r>
              <a:rPr lang="vi-VN" sz="1700" b="0" i="0" dirty="0">
                <a:solidFill>
                  <a:srgbClr val="232323"/>
                </a:solidFill>
                <a:latin typeface="Arial"/>
              </a:rPr>
              <a:t>• Độ tin cậy của chính sách — các quy tắc tài chính minh bạch, được công bố trước giúp nâng cao mức độ chắc chắn trong triển khai đối với nhà đầu tư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4 · 35 PHÚT</a:t>
            </a:r>
          </a:p>
          <a:p>
            <a:r>
              <a:rPr lang="vi-VN" sz="2400" b="1" i="0">
                <a:solidFill>
                  <a:srgbClr val="FFFFFF"/>
                </a:solidFill>
                <a:latin typeface="Arial"/>
              </a:rPr>
              <a:t>Ma trận tài chính: 3 cấu trúc x 2 lộ trình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7</a:t>
            </a:r>
          </a:p>
        </p:txBody>
      </p:sp>
      <p:graphicFrame>
        <p:nvGraphicFramePr>
          <p:cNvPr id="9" name="Table 8"/>
          <p:cNvGraphicFramePr>
            <a:graphicFrameLocks noGrp="1"/>
          </p:cNvGraphicFramePr>
          <p:nvPr>
            <p:extLst>
              <p:ext uri="{D42A27DB-BD31-4B8C-83A1-F6EECF244321}">
                <p14:modId xmlns:p14="http://schemas.microsoft.com/office/powerpoint/2010/main" val="3057686353"/>
              </p:ext>
            </p:extLst>
          </p:nvPr>
        </p:nvGraphicFramePr>
        <p:xfrm>
          <a:off x="502920" y="1554480"/>
          <a:ext cx="11185852" cy="4389120"/>
        </p:xfrm>
        <a:graphic>
          <a:graphicData uri="http://schemas.openxmlformats.org/drawingml/2006/table">
            <a:tbl>
              <a:tblPr firstRow="1" bandRow="1">
                <a:tableStyleId>{5C22544A-7EE6-4342-B048-85BDC9FD1C3A}</a:tableStyleId>
              </a:tblPr>
              <a:tblGrid>
                <a:gridCol w="2260970">
                  <a:extLst>
                    <a:ext uri="{9D8B030D-6E8A-4147-A177-3AD203B41FA5}">
                      <a16:colId xmlns:a16="http://schemas.microsoft.com/office/drawing/2014/main" val="20000"/>
                    </a:ext>
                  </a:extLst>
                </a:gridCol>
                <a:gridCol w="1784976">
                  <a:extLst>
                    <a:ext uri="{9D8B030D-6E8A-4147-A177-3AD203B41FA5}">
                      <a16:colId xmlns:a16="http://schemas.microsoft.com/office/drawing/2014/main" val="20001"/>
                    </a:ext>
                  </a:extLst>
                </a:gridCol>
                <a:gridCol w="2498967">
                  <a:extLst>
                    <a:ext uri="{9D8B030D-6E8A-4147-A177-3AD203B41FA5}">
                      <a16:colId xmlns:a16="http://schemas.microsoft.com/office/drawing/2014/main" val="20002"/>
                    </a:ext>
                  </a:extLst>
                </a:gridCol>
                <a:gridCol w="2498967">
                  <a:extLst>
                    <a:ext uri="{9D8B030D-6E8A-4147-A177-3AD203B41FA5}">
                      <a16:colId xmlns:a16="http://schemas.microsoft.com/office/drawing/2014/main" val="20003"/>
                    </a:ext>
                  </a:extLst>
                </a:gridCol>
                <a:gridCol w="2141972">
                  <a:extLst>
                    <a:ext uri="{9D8B030D-6E8A-4147-A177-3AD203B41FA5}">
                      <a16:colId xmlns:a16="http://schemas.microsoft.com/office/drawing/2014/main" val="20004"/>
                    </a:ext>
                  </a:extLst>
                </a:gridCol>
              </a:tblGrid>
              <a:tr h="627017">
                <a:tc>
                  <a:txBody>
                    <a:bodyPr/>
                    <a:lstStyle/>
                    <a:p>
                      <a:r>
                        <a:rPr lang="vi-VN" sz="1300" b="1" i="0">
                          <a:solidFill>
                            <a:srgbClr val="FFFFFF"/>
                          </a:solidFill>
                          <a:latin typeface="Arial"/>
                        </a:rPr>
                        <a:t>Mã kịch bản</a:t>
                      </a:r>
                    </a:p>
                  </a:txBody>
                  <a:tcPr marT="50800" marB="50800" anchor="ctr">
                    <a:solidFill>
                      <a:srgbClr val="CC071E"/>
                    </a:solidFill>
                  </a:tcPr>
                </a:tc>
                <a:tc>
                  <a:txBody>
                    <a:bodyPr/>
                    <a:lstStyle/>
                    <a:p>
                      <a:r>
                        <a:rPr lang="vi-VN" sz="1300" b="1" i="0">
                          <a:solidFill>
                            <a:srgbClr val="FFFFFF"/>
                          </a:solidFill>
                          <a:latin typeface="Arial"/>
                        </a:rPr>
                        <a:t>Lộ trình</a:t>
                      </a:r>
                    </a:p>
                  </a:txBody>
                  <a:tcPr marT="50800" marB="50800" anchor="ctr">
                    <a:solidFill>
                      <a:srgbClr val="CC071E"/>
                    </a:solidFill>
                  </a:tcPr>
                </a:tc>
                <a:tc>
                  <a:txBody>
                    <a:bodyPr/>
                    <a:lstStyle/>
                    <a:p>
                      <a:r>
                        <a:rPr lang="vi-VN" sz="1300" b="1" i="0">
                          <a:solidFill>
                            <a:srgbClr val="FFFFFF"/>
                          </a:solidFill>
                          <a:latin typeface="Arial"/>
                        </a:rPr>
                        <a:t>Cấu trúc</a:t>
                      </a:r>
                    </a:p>
                  </a:txBody>
                  <a:tcPr marT="50800" marB="50800" anchor="ctr">
                    <a:solidFill>
                      <a:srgbClr val="CC071E"/>
                    </a:solidFill>
                  </a:tcPr>
                </a:tc>
                <a:tc>
                  <a:txBody>
                    <a:bodyPr/>
                    <a:lstStyle/>
                    <a:p>
                      <a:r>
                        <a:rPr lang="vi-VN" sz="1300" b="1" i="0">
                          <a:solidFill>
                            <a:srgbClr val="FFFFFF"/>
                          </a:solidFill>
                          <a:latin typeface="Arial"/>
                        </a:rPr>
                        <a:t>r_G / r_FDI</a:t>
                      </a:r>
                    </a:p>
                  </a:txBody>
                  <a:tcPr marT="50800" marB="50800" anchor="ctr">
                    <a:solidFill>
                      <a:srgbClr val="CC071E"/>
                    </a:solidFill>
                  </a:tcPr>
                </a:tc>
                <a:tc>
                  <a:txBody>
                    <a:bodyPr/>
                    <a:lstStyle/>
                    <a:p>
                      <a:r>
                        <a:rPr lang="vi-VN" sz="1300" b="1" i="0">
                          <a:solidFill>
                            <a:srgbClr val="FFFFFF"/>
                          </a:solidFill>
                          <a:latin typeface="Arial"/>
                        </a:rPr>
                        <a:t>K_G / K_FDI</a:t>
                      </a:r>
                    </a:p>
                  </a:txBody>
                  <a:tcPr marT="50800" marB="50800" anchor="ctr">
                    <a:solidFill>
                      <a:srgbClr val="CC071E"/>
                    </a:solidFill>
                  </a:tcPr>
                </a:tc>
                <a:extLst>
                  <a:ext uri="{0D108BD9-81ED-4DB2-BD59-A6C34878D82A}">
                    <a16:rowId xmlns:a16="http://schemas.microsoft.com/office/drawing/2014/main" val="10000"/>
                  </a:ext>
                </a:extLst>
              </a:tr>
              <a:tr h="627017">
                <a:tc>
                  <a:txBody>
                    <a:bodyPr/>
                    <a:lstStyle/>
                    <a:p>
                      <a:r>
                        <a:rPr lang="vi-VN" sz="1300" b="1" i="0">
                          <a:solidFill>
                            <a:srgbClr val="232323"/>
                          </a:solidFill>
                          <a:latin typeface="Arial"/>
                        </a:rPr>
                        <a:t>PDP8_GF_A</a:t>
                      </a:r>
                    </a:p>
                  </a:txBody>
                  <a:tcPr marT="38100" marB="38100" anchor="ctr">
                    <a:solidFill>
                      <a:srgbClr val="FFFFFF"/>
                    </a:solidFill>
                  </a:tcPr>
                </a:tc>
                <a:tc>
                  <a:txBody>
                    <a:bodyPr/>
                    <a:lstStyle/>
                    <a:p>
                      <a:r>
                        <a:rPr lang="vi-VN" sz="1300" b="0" i="0">
                          <a:solidFill>
                            <a:srgbClr val="232323"/>
                          </a:solidFill>
                          <a:latin typeface="Arial"/>
                        </a:rPr>
                        <a:t>QHĐ8</a:t>
                      </a:r>
                    </a:p>
                  </a:txBody>
                  <a:tcPr marT="38100" marB="38100" anchor="ctr">
                    <a:solidFill>
                      <a:srgbClr val="FFFFFF"/>
                    </a:solidFill>
                  </a:tcPr>
                </a:tc>
                <a:tc>
                  <a:txBody>
                    <a:bodyPr/>
                    <a:lstStyle/>
                    <a:p>
                      <a:r>
                        <a:rPr lang="vi-VN" sz="1300" b="0" i="0">
                          <a:solidFill>
                            <a:srgbClr val="232323"/>
                          </a:solidFill>
                          <a:latin typeface="Arial"/>
                        </a:rPr>
                        <a:t>A Cân bằng</a:t>
                      </a:r>
                    </a:p>
                  </a:txBody>
                  <a:tcPr marT="38100" marB="38100" anchor="ctr">
                    <a:solidFill>
                      <a:srgbClr val="FFFFFF"/>
                    </a:solidFill>
                  </a:tcPr>
                </a:tc>
                <a:tc>
                  <a:txBody>
                    <a:bodyPr/>
                    <a:lstStyle/>
                    <a:p>
                      <a:r>
                        <a:rPr lang="vi-VN" sz="1300" b="0" i="0">
                          <a:solidFill>
                            <a:srgbClr val="232323"/>
                          </a:solidFill>
                          <a:latin typeface="Arial"/>
                        </a:rPr>
                        <a:t>6,43% / 6,36%</a:t>
                      </a:r>
                    </a:p>
                  </a:txBody>
                  <a:tcPr marT="38100" marB="38100" anchor="ctr">
                    <a:solidFill>
                      <a:srgbClr val="FFFFFF"/>
                    </a:solidFill>
                  </a:tcPr>
                </a:tc>
                <a:tc>
                  <a:txBody>
                    <a:bodyPr/>
                    <a:lstStyle/>
                    <a:p>
                      <a:r>
                        <a:rPr lang="vi-VN" sz="1300" b="0" i="0">
                          <a:solidFill>
                            <a:srgbClr val="232323"/>
                          </a:solidFill>
                          <a:latin typeface="Arial"/>
                        </a:rPr>
                        <a:t>19,0% / 14,0%</a:t>
                      </a:r>
                    </a:p>
                  </a:txBody>
                  <a:tcPr marT="38100" marB="38100" anchor="ctr">
                    <a:solidFill>
                      <a:srgbClr val="FFFFFF"/>
                    </a:solidFill>
                  </a:tcPr>
                </a:tc>
                <a:extLst>
                  <a:ext uri="{0D108BD9-81ED-4DB2-BD59-A6C34878D82A}">
                    <a16:rowId xmlns:a16="http://schemas.microsoft.com/office/drawing/2014/main" val="10001"/>
                  </a:ext>
                </a:extLst>
              </a:tr>
              <a:tr h="627017">
                <a:tc>
                  <a:txBody>
                    <a:bodyPr/>
                    <a:lstStyle/>
                    <a:p>
                      <a:r>
                        <a:rPr lang="vi-VN" sz="1300" b="1" i="0">
                          <a:solidFill>
                            <a:srgbClr val="232323"/>
                          </a:solidFill>
                          <a:latin typeface="Arial"/>
                        </a:rPr>
                        <a:t>NZ_GF_A</a:t>
                      </a:r>
                    </a:p>
                  </a:txBody>
                  <a:tcPr marT="38100" marB="38100" anchor="ctr">
                    <a:solidFill>
                      <a:srgbClr val="F5F5F5"/>
                    </a:solidFill>
                  </a:tcPr>
                </a:tc>
                <a:tc>
                  <a:txBody>
                    <a:bodyPr/>
                    <a:lstStyle/>
                    <a:p>
                      <a:r>
                        <a:rPr lang="vi-VN" sz="1300" b="0" i="0">
                          <a:solidFill>
                            <a:srgbClr val="232323"/>
                          </a:solidFill>
                          <a:latin typeface="Arial"/>
                        </a:rPr>
                        <a:t>Net Zero</a:t>
                      </a:r>
                    </a:p>
                  </a:txBody>
                  <a:tcPr marT="38100" marB="38100" anchor="ctr">
                    <a:solidFill>
                      <a:srgbClr val="F5F5F5"/>
                    </a:solidFill>
                  </a:tcPr>
                </a:tc>
                <a:tc>
                  <a:txBody>
                    <a:bodyPr/>
                    <a:lstStyle/>
                    <a:p>
                      <a:r>
                        <a:rPr lang="vi-VN" sz="1300" b="0" i="0">
                          <a:solidFill>
                            <a:srgbClr val="232323"/>
                          </a:solidFill>
                          <a:latin typeface="Arial"/>
                        </a:rPr>
                        <a:t>A Cân bằng</a:t>
                      </a:r>
                    </a:p>
                  </a:txBody>
                  <a:tcPr marT="38100" marB="38100" anchor="ctr">
                    <a:solidFill>
                      <a:srgbClr val="F5F5F5"/>
                    </a:solidFill>
                  </a:tcPr>
                </a:tc>
                <a:tc>
                  <a:txBody>
                    <a:bodyPr/>
                    <a:lstStyle/>
                    <a:p>
                      <a:r>
                        <a:rPr lang="vi-VN" sz="1300" b="0" i="0">
                          <a:solidFill>
                            <a:srgbClr val="232323"/>
                          </a:solidFill>
                          <a:latin typeface="Arial"/>
                        </a:rPr>
                        <a:t>6,43% / 6,36%</a:t>
                      </a:r>
                    </a:p>
                  </a:txBody>
                  <a:tcPr marT="38100" marB="38100" anchor="ctr">
                    <a:solidFill>
                      <a:srgbClr val="F5F5F5"/>
                    </a:solidFill>
                  </a:tcPr>
                </a:tc>
                <a:tc>
                  <a:txBody>
                    <a:bodyPr/>
                    <a:lstStyle/>
                    <a:p>
                      <a:r>
                        <a:rPr lang="vi-VN" sz="1300" b="0" i="0">
                          <a:solidFill>
                            <a:srgbClr val="232323"/>
                          </a:solidFill>
                          <a:latin typeface="Arial"/>
                        </a:rPr>
                        <a:t>19,0% / 14,0%</a:t>
                      </a:r>
                    </a:p>
                  </a:txBody>
                  <a:tcPr marT="38100" marB="38100" anchor="ctr">
                    <a:solidFill>
                      <a:srgbClr val="F5F5F5"/>
                    </a:solidFill>
                  </a:tcPr>
                </a:tc>
                <a:extLst>
                  <a:ext uri="{0D108BD9-81ED-4DB2-BD59-A6C34878D82A}">
                    <a16:rowId xmlns:a16="http://schemas.microsoft.com/office/drawing/2014/main" val="10002"/>
                  </a:ext>
                </a:extLst>
              </a:tr>
              <a:tr h="627017">
                <a:tc>
                  <a:txBody>
                    <a:bodyPr/>
                    <a:lstStyle/>
                    <a:p>
                      <a:r>
                        <a:rPr lang="vi-VN" sz="1300" b="1" i="0">
                          <a:solidFill>
                            <a:srgbClr val="232323"/>
                          </a:solidFill>
                          <a:latin typeface="Arial"/>
                        </a:rPr>
                        <a:t>PDP8_GF_B</a:t>
                      </a:r>
                    </a:p>
                  </a:txBody>
                  <a:tcPr marT="38100" marB="38100" anchor="ctr">
                    <a:solidFill>
                      <a:srgbClr val="FFFFFF"/>
                    </a:solidFill>
                  </a:tcPr>
                </a:tc>
                <a:tc>
                  <a:txBody>
                    <a:bodyPr/>
                    <a:lstStyle/>
                    <a:p>
                      <a:r>
                        <a:rPr lang="vi-VN" sz="1300" b="0" i="0">
                          <a:solidFill>
                            <a:srgbClr val="232323"/>
                          </a:solidFill>
                          <a:latin typeface="Arial"/>
                        </a:rPr>
                        <a:t>QHĐ8</a:t>
                      </a:r>
                    </a:p>
                  </a:txBody>
                  <a:tcPr marT="38100" marB="38100" anchor="ctr">
                    <a:solidFill>
                      <a:srgbClr val="FFFFFF"/>
                    </a:solidFill>
                  </a:tcPr>
                </a:tc>
                <a:tc>
                  <a:txBody>
                    <a:bodyPr/>
                    <a:lstStyle/>
                    <a:p>
                      <a:r>
                        <a:rPr lang="vi-VN" sz="1300" b="0" i="0">
                          <a:solidFill>
                            <a:srgbClr val="232323"/>
                          </a:solidFill>
                          <a:latin typeface="Arial"/>
                        </a:rPr>
                        <a:t>B Thị trường dẫn dắt</a:t>
                      </a:r>
                    </a:p>
                  </a:txBody>
                  <a:tcPr marT="38100" marB="38100" anchor="ctr">
                    <a:solidFill>
                      <a:srgbClr val="FFFFFF"/>
                    </a:solidFill>
                  </a:tcPr>
                </a:tc>
                <a:tc>
                  <a:txBody>
                    <a:bodyPr/>
                    <a:lstStyle/>
                    <a:p>
                      <a:r>
                        <a:rPr lang="vi-VN" sz="1300" b="0" i="0">
                          <a:solidFill>
                            <a:srgbClr val="232323"/>
                          </a:solidFill>
                          <a:latin typeface="Arial"/>
                        </a:rPr>
                        <a:t>7,37% / 6,90%</a:t>
                      </a:r>
                    </a:p>
                  </a:txBody>
                  <a:tcPr marT="38100" marB="38100" anchor="ctr">
                    <a:solidFill>
                      <a:srgbClr val="FFFFFF"/>
                    </a:solidFill>
                  </a:tcPr>
                </a:tc>
                <a:tc>
                  <a:txBody>
                    <a:bodyPr/>
                    <a:lstStyle/>
                    <a:p>
                      <a:r>
                        <a:rPr lang="vi-VN" sz="1300" b="0" i="0">
                          <a:solidFill>
                            <a:srgbClr val="232323"/>
                          </a:solidFill>
                          <a:latin typeface="Arial"/>
                        </a:rPr>
                        <a:t>9,6% / 12,4%</a:t>
                      </a:r>
                    </a:p>
                  </a:txBody>
                  <a:tcPr marT="38100" marB="38100" anchor="ctr">
                    <a:solidFill>
                      <a:srgbClr val="FFFFFF"/>
                    </a:solidFill>
                  </a:tcPr>
                </a:tc>
                <a:extLst>
                  <a:ext uri="{0D108BD9-81ED-4DB2-BD59-A6C34878D82A}">
                    <a16:rowId xmlns:a16="http://schemas.microsoft.com/office/drawing/2014/main" val="10003"/>
                  </a:ext>
                </a:extLst>
              </a:tr>
              <a:tr h="627017">
                <a:tc>
                  <a:txBody>
                    <a:bodyPr/>
                    <a:lstStyle/>
                    <a:p>
                      <a:r>
                        <a:rPr lang="vi-VN" sz="1300" b="1" i="0">
                          <a:solidFill>
                            <a:srgbClr val="232323"/>
                          </a:solidFill>
                          <a:latin typeface="Arial"/>
                        </a:rPr>
                        <a:t>NZ_GF_B</a:t>
                      </a:r>
                    </a:p>
                  </a:txBody>
                  <a:tcPr marT="38100" marB="38100" anchor="ctr">
                    <a:solidFill>
                      <a:srgbClr val="F5F5F5"/>
                    </a:solidFill>
                  </a:tcPr>
                </a:tc>
                <a:tc>
                  <a:txBody>
                    <a:bodyPr/>
                    <a:lstStyle/>
                    <a:p>
                      <a:r>
                        <a:rPr lang="vi-VN" sz="1300" b="0" i="0">
                          <a:solidFill>
                            <a:srgbClr val="232323"/>
                          </a:solidFill>
                          <a:latin typeface="Arial"/>
                        </a:rPr>
                        <a:t>Net Zero</a:t>
                      </a:r>
                    </a:p>
                  </a:txBody>
                  <a:tcPr marT="38100" marB="38100" anchor="ctr">
                    <a:solidFill>
                      <a:srgbClr val="F5F5F5"/>
                    </a:solidFill>
                  </a:tcPr>
                </a:tc>
                <a:tc>
                  <a:txBody>
                    <a:bodyPr/>
                    <a:lstStyle/>
                    <a:p>
                      <a:r>
                        <a:rPr lang="vi-VN" sz="1300" b="0" i="0">
                          <a:solidFill>
                            <a:srgbClr val="232323"/>
                          </a:solidFill>
                          <a:latin typeface="Arial"/>
                        </a:rPr>
                        <a:t>B Thị trường dẫn dắt</a:t>
                      </a:r>
                    </a:p>
                  </a:txBody>
                  <a:tcPr marT="38100" marB="38100" anchor="ctr">
                    <a:solidFill>
                      <a:srgbClr val="F5F5F5"/>
                    </a:solidFill>
                  </a:tcPr>
                </a:tc>
                <a:tc>
                  <a:txBody>
                    <a:bodyPr/>
                    <a:lstStyle/>
                    <a:p>
                      <a:r>
                        <a:rPr lang="vi-VN" sz="1300" b="0" i="0">
                          <a:solidFill>
                            <a:srgbClr val="232323"/>
                          </a:solidFill>
                          <a:latin typeface="Arial"/>
                        </a:rPr>
                        <a:t>7,37% / 6,90%</a:t>
                      </a:r>
                    </a:p>
                  </a:txBody>
                  <a:tcPr marT="38100" marB="38100" anchor="ctr">
                    <a:solidFill>
                      <a:srgbClr val="F5F5F5"/>
                    </a:solidFill>
                  </a:tcPr>
                </a:tc>
                <a:tc>
                  <a:txBody>
                    <a:bodyPr/>
                    <a:lstStyle/>
                    <a:p>
                      <a:r>
                        <a:rPr lang="vi-VN" sz="1300" b="0" i="0">
                          <a:solidFill>
                            <a:srgbClr val="232323"/>
                          </a:solidFill>
                          <a:latin typeface="Arial"/>
                        </a:rPr>
                        <a:t>9,6% / 12,4%</a:t>
                      </a:r>
                    </a:p>
                  </a:txBody>
                  <a:tcPr marT="38100" marB="38100" anchor="ctr">
                    <a:solidFill>
                      <a:srgbClr val="F5F5F5"/>
                    </a:solidFill>
                  </a:tcPr>
                </a:tc>
                <a:extLst>
                  <a:ext uri="{0D108BD9-81ED-4DB2-BD59-A6C34878D82A}">
                    <a16:rowId xmlns:a16="http://schemas.microsoft.com/office/drawing/2014/main" val="10004"/>
                  </a:ext>
                </a:extLst>
              </a:tr>
              <a:tr h="627017">
                <a:tc>
                  <a:txBody>
                    <a:bodyPr/>
                    <a:lstStyle/>
                    <a:p>
                      <a:r>
                        <a:rPr lang="vi-VN" sz="1300" b="1" i="0">
                          <a:solidFill>
                            <a:srgbClr val="232323"/>
                          </a:solidFill>
                          <a:latin typeface="Arial"/>
                        </a:rPr>
                        <a:t>PDP8_GF_C</a:t>
                      </a:r>
                    </a:p>
                  </a:txBody>
                  <a:tcPr marT="38100" marB="38100" anchor="ctr">
                    <a:solidFill>
                      <a:srgbClr val="FFFFFF"/>
                    </a:solidFill>
                  </a:tcPr>
                </a:tc>
                <a:tc>
                  <a:txBody>
                    <a:bodyPr/>
                    <a:lstStyle/>
                    <a:p>
                      <a:r>
                        <a:rPr lang="vi-VN" sz="1300" b="0" i="0">
                          <a:solidFill>
                            <a:srgbClr val="232323"/>
                          </a:solidFill>
                          <a:latin typeface="Arial"/>
                        </a:rPr>
                        <a:t>QHĐ8</a:t>
                      </a:r>
                    </a:p>
                  </a:txBody>
                  <a:tcPr marT="38100" marB="38100" anchor="ctr">
                    <a:solidFill>
                      <a:srgbClr val="FFFFFF"/>
                    </a:solidFill>
                  </a:tcPr>
                </a:tc>
                <a:tc>
                  <a:txBody>
                    <a:bodyPr/>
                    <a:lstStyle/>
                    <a:p>
                      <a:r>
                        <a:rPr lang="vi-VN" sz="1300" b="0" i="0">
                          <a:solidFill>
                            <a:srgbClr val="232323"/>
                          </a:solidFill>
                          <a:latin typeface="Arial"/>
                        </a:rPr>
                        <a:t>C Nhà nước dẫn dắt</a:t>
                      </a:r>
                    </a:p>
                  </a:txBody>
                  <a:tcPr marT="38100" marB="38100" anchor="ctr">
                    <a:solidFill>
                      <a:srgbClr val="FFFFFF"/>
                    </a:solidFill>
                  </a:tcPr>
                </a:tc>
                <a:tc>
                  <a:txBody>
                    <a:bodyPr/>
                    <a:lstStyle/>
                    <a:p>
                      <a:r>
                        <a:rPr lang="vi-VN" sz="1300" b="0" i="0">
                          <a:solidFill>
                            <a:srgbClr val="232323"/>
                          </a:solidFill>
                          <a:latin typeface="Arial"/>
                        </a:rPr>
                        <a:t>5,07% / 6,00%</a:t>
                      </a:r>
                    </a:p>
                  </a:txBody>
                  <a:tcPr marT="38100" marB="38100" anchor="ctr">
                    <a:solidFill>
                      <a:srgbClr val="FFFFFF"/>
                    </a:solidFill>
                  </a:tcPr>
                </a:tc>
                <a:tc>
                  <a:txBody>
                    <a:bodyPr/>
                    <a:lstStyle/>
                    <a:p>
                      <a:r>
                        <a:rPr lang="vi-VN" sz="1300" b="0" i="0">
                          <a:solidFill>
                            <a:srgbClr val="232323"/>
                          </a:solidFill>
                          <a:latin typeface="Arial"/>
                        </a:rPr>
                        <a:t>36,5% / 19,0%</a:t>
                      </a:r>
                    </a:p>
                  </a:txBody>
                  <a:tcPr marT="38100" marB="38100" anchor="ctr">
                    <a:solidFill>
                      <a:srgbClr val="FFFFFF"/>
                    </a:solidFill>
                  </a:tcPr>
                </a:tc>
                <a:extLst>
                  <a:ext uri="{0D108BD9-81ED-4DB2-BD59-A6C34878D82A}">
                    <a16:rowId xmlns:a16="http://schemas.microsoft.com/office/drawing/2014/main" val="10005"/>
                  </a:ext>
                </a:extLst>
              </a:tr>
              <a:tr h="627018">
                <a:tc>
                  <a:txBody>
                    <a:bodyPr/>
                    <a:lstStyle/>
                    <a:p>
                      <a:r>
                        <a:rPr lang="vi-VN" sz="1300" b="1" i="0">
                          <a:solidFill>
                            <a:srgbClr val="232323"/>
                          </a:solidFill>
                          <a:latin typeface="Arial"/>
                        </a:rPr>
                        <a:t>NZ_GF_C</a:t>
                      </a:r>
                    </a:p>
                  </a:txBody>
                  <a:tcPr marT="38100" marB="38100" anchor="ctr">
                    <a:solidFill>
                      <a:srgbClr val="F5F5F5"/>
                    </a:solidFill>
                  </a:tcPr>
                </a:tc>
                <a:tc>
                  <a:txBody>
                    <a:bodyPr/>
                    <a:lstStyle/>
                    <a:p>
                      <a:r>
                        <a:rPr lang="vi-VN" sz="1300" b="0" i="0">
                          <a:solidFill>
                            <a:srgbClr val="232323"/>
                          </a:solidFill>
                          <a:latin typeface="Arial"/>
                        </a:rPr>
                        <a:t>Net Zero</a:t>
                      </a:r>
                    </a:p>
                  </a:txBody>
                  <a:tcPr marT="38100" marB="38100" anchor="ctr">
                    <a:solidFill>
                      <a:srgbClr val="F5F5F5"/>
                    </a:solidFill>
                  </a:tcPr>
                </a:tc>
                <a:tc>
                  <a:txBody>
                    <a:bodyPr/>
                    <a:lstStyle/>
                    <a:p>
                      <a:r>
                        <a:rPr lang="vi-VN" sz="1300" b="0" i="0">
                          <a:solidFill>
                            <a:srgbClr val="232323"/>
                          </a:solidFill>
                          <a:latin typeface="Arial"/>
                        </a:rPr>
                        <a:t>C Nhà nước dẫn dắt</a:t>
                      </a:r>
                    </a:p>
                  </a:txBody>
                  <a:tcPr marT="38100" marB="38100" anchor="ctr">
                    <a:solidFill>
                      <a:srgbClr val="F5F5F5"/>
                    </a:solidFill>
                  </a:tcPr>
                </a:tc>
                <a:tc>
                  <a:txBody>
                    <a:bodyPr/>
                    <a:lstStyle/>
                    <a:p>
                      <a:r>
                        <a:rPr lang="vi-VN" sz="1300" b="0" i="0">
                          <a:solidFill>
                            <a:srgbClr val="232323"/>
                          </a:solidFill>
                          <a:latin typeface="Arial"/>
                        </a:rPr>
                        <a:t>5,07% / 6,00%</a:t>
                      </a:r>
                    </a:p>
                  </a:txBody>
                  <a:tcPr marT="38100" marB="38100" anchor="ctr">
                    <a:solidFill>
                      <a:srgbClr val="F5F5F5"/>
                    </a:solidFill>
                  </a:tcPr>
                </a:tc>
                <a:tc>
                  <a:txBody>
                    <a:bodyPr/>
                    <a:lstStyle/>
                    <a:p>
                      <a:r>
                        <a:rPr lang="vi-VN" sz="1300" b="0" i="0">
                          <a:solidFill>
                            <a:srgbClr val="232323"/>
                          </a:solidFill>
                          <a:latin typeface="Arial"/>
                        </a:rPr>
                        <a:t>36,5% / 19,0%</a:t>
                      </a:r>
                    </a:p>
                  </a:txBody>
                  <a:tcPr marT="38100" marB="38100" anchor="ctr">
                    <a:solidFill>
                      <a:srgbClr val="F5F5F5"/>
                    </a:solidFill>
                  </a:tcPr>
                </a:tc>
                <a:extLst>
                  <a:ext uri="{0D108BD9-81ED-4DB2-BD59-A6C34878D82A}">
                    <a16:rowId xmlns:a16="http://schemas.microsoft.com/office/drawing/2014/main" val="10006"/>
                  </a:ext>
                </a:extLst>
              </a:tr>
            </a:tbl>
          </a:graphicData>
        </a:graphic>
      </p:graphicFrame>
      <p:sp>
        <p:nvSpPr>
          <p:cNvPr id="10" name="Rounded Rectangle 9"/>
          <p:cNvSpPr/>
          <p:nvPr/>
        </p:nvSpPr>
        <p:spPr>
          <a:xfrm>
            <a:off x="502920" y="5943600"/>
            <a:ext cx="11185855" cy="566928"/>
          </a:xfrm>
          <a:prstGeom prst="roundRect">
            <a:avLst/>
          </a:prstGeom>
          <a:solidFill>
            <a:srgbClr val="F5F5F5"/>
          </a:solidFill>
          <a:ln w="12700">
            <a:solidFill>
              <a:srgbClr val="CC071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ctr"/>
            <a:r>
              <a:rPr lang="vi-VN" sz="1300" b="0" i="1">
                <a:solidFill>
                  <a:srgbClr val="232323"/>
                </a:solidFill>
                <a:latin typeface="Arial"/>
              </a:rPr>
              <a:t>Chỉ so sánh các cấu trúc tài chính trong CÙNG một lộ trình phát thải; bản thân lộ trình là một nguồn khác biệt riêng biệt.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5 · 25 PHÚT</a:t>
            </a:r>
          </a:p>
          <a:p>
            <a:r>
              <a:rPr lang="vi-VN" sz="2400" b="1" i="0">
                <a:solidFill>
                  <a:srgbClr val="FFFFFF"/>
                </a:solidFill>
                <a:latin typeface="Arial"/>
              </a:rPr>
              <a:t>Lập bảng siêu dữ liệu kịch bản tài chính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8</a:t>
            </a:r>
          </a:p>
        </p:txBody>
      </p:sp>
      <p:sp>
        <p:nvSpPr>
          <p:cNvPr id="9" name="TextBox 8"/>
          <p:cNvSpPr txBox="1"/>
          <p:nvPr/>
        </p:nvSpPr>
        <p:spPr>
          <a:xfrm>
            <a:off x="502920" y="1554480"/>
            <a:ext cx="11185855" cy="256993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Mỗi nhóm được phân công một cấu trúc tài chính (A, B hoặc C) và phải ghi chép kết quả cho cả hai biến thể lộ trình</a:t>
            </a:r>
            <a:r>
              <a:rPr lang="en-US" sz="1700" b="0" i="0" dirty="0">
                <a:solidFill>
                  <a:srgbClr val="232323"/>
                </a:solidFill>
                <a:latin typeface="Arial"/>
              </a:rPr>
              <a:t>.</a:t>
            </a:r>
            <a:endParaRPr lang="vi-VN" sz="1700" b="0" i="0" dirty="0">
              <a:solidFill>
                <a:srgbClr val="232323"/>
              </a:solidFill>
              <a:latin typeface="Arial"/>
            </a:endParaRPr>
          </a:p>
          <a:p>
            <a:pPr marL="0" indent="0" algn="just">
              <a:spcAft>
                <a:spcPts val="1000"/>
              </a:spcAft>
            </a:pPr>
            <a:r>
              <a:rPr lang="vi-VN" sz="1700" b="0" i="0" dirty="0">
                <a:solidFill>
                  <a:srgbClr val="232323"/>
                </a:solidFill>
                <a:latin typeface="Arial"/>
              </a:rPr>
              <a:t>• Ghi chép đầy đủ các nội dung: nhãn kịch bản, cơ chế tác động, các chỉnh sửa cụ thể trong file, các biến được thay đổi, lộ trình theo thời gian, năm bắt đầu/kết thúc, hồ sơ chuyển đổi, tác động kỳ vọng, các chỉ tiêu đầu ra chính, các lưu ý/hạn chế, người phụ trách, ngày thực hiện</a:t>
            </a:r>
          </a:p>
          <a:p>
            <a:pPr marL="0" indent="0" algn="just">
              <a:spcAft>
                <a:spcPts val="1000"/>
              </a:spcAft>
            </a:pPr>
            <a:r>
              <a:rPr lang="vi-VN" sz="1700" b="0" i="0" dirty="0">
                <a:solidFill>
                  <a:srgbClr val="232323"/>
                </a:solidFill>
                <a:latin typeface="Arial"/>
              </a:rPr>
              <a:t>• Đồng thời, cần nêu rõ: cấu trúc nào trong cùng lộ trình được chọn để so sánh, và những biến nào trong số r_G, r_FDI, tỷ trọng K_G, tỷ trọng K_FDI có khác biệt</a:t>
            </a:r>
          </a:p>
          <a:p>
            <a:pPr marL="0" indent="0" algn="just">
              <a:spcAft>
                <a:spcPts val="1000"/>
              </a:spcAft>
            </a:pPr>
            <a:r>
              <a:rPr lang="vi-VN" sz="1700" b="1" i="0" dirty="0">
                <a:solidFill>
                  <a:srgbClr val="232323"/>
                </a:solidFill>
                <a:latin typeface="Arial"/>
              </a:rPr>
              <a:t>• Ghi lại bảng dữ liệu này vào nhật ký kịch bản tài chính (finance scenario log) trước khi nghỉ giải lao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2011680"/>
          </a:xfrm>
          <a:prstGeom prst="rect">
            <a:avLst/>
          </a:prstGeom>
          <a:noFill/>
        </p:spPr>
        <p:txBody>
          <a:bodyPr wrap="square">
            <a:spAutoFit/>
          </a:bodyPr>
          <a:lstStyle/>
          <a:p>
            <a:pPr>
              <a:spcAft>
                <a:spcPts val="1000"/>
              </a:spcAft>
            </a:pPr>
            <a:r>
              <a:rPr lang="vi-VN" sz="1500" b="1" i="0">
                <a:solidFill>
                  <a:srgbClr val="FFD2D2"/>
                </a:solidFill>
                <a:latin typeface="Arial"/>
              </a:rPr>
              <a:t>NGHỈ GIẢI LAO</a:t>
            </a:r>
          </a:p>
          <a:p>
            <a:r>
              <a:rPr lang="vi-VN" sz="3400" b="1" i="0">
                <a:solidFill>
                  <a:srgbClr val="FFFFFF"/>
                </a:solidFill>
                <a:latin typeface="Arial"/>
              </a:rPr>
              <a:t>15 phút</a:t>
            </a:r>
          </a:p>
          <a:p>
            <a:pPr>
              <a:spcBef>
                <a:spcPts val="1400"/>
              </a:spcBef>
            </a:pPr>
            <a:r>
              <a:rPr lang="vi-VN" sz="1700" b="0" i="0">
                <a:solidFill>
                  <a:srgbClr val="FFFFFF"/>
                </a:solidFill>
                <a:latin typeface="Arial"/>
              </a:rPr>
              <a:t>Phần tiếp theo: kịch bản hiệu quả năng lượng, mức độ chi tiết tương đương ma trận tài chính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6 · 35 PHÚT</a:t>
            </a:r>
          </a:p>
          <a:p>
            <a:r>
              <a:rPr lang="vi-VN" sz="2400" b="1" i="0">
                <a:solidFill>
                  <a:srgbClr val="FFFFFF"/>
                </a:solidFill>
                <a:latin typeface="Arial"/>
              </a:rPr>
              <a:t>Các nhóm EE và RTS, đầy đủ chi tiết</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9</a:t>
            </a:r>
          </a:p>
        </p:txBody>
      </p:sp>
      <p:sp>
        <p:nvSpPr>
          <p:cNvPr id="9" name="TextBox 8"/>
          <p:cNvSpPr txBox="1"/>
          <p:nvPr/>
        </p:nvSpPr>
        <p:spPr>
          <a:xfrm>
            <a:off x="502920" y="1554480"/>
            <a:ext cx="11185855" cy="3349635"/>
          </a:xfrm>
          <a:prstGeom prst="rect">
            <a:avLst/>
          </a:prstGeom>
          <a:noFill/>
        </p:spPr>
        <p:txBody>
          <a:bodyPr wrap="square">
            <a:spAutoFit/>
          </a:bodyPr>
          <a:lstStyle/>
          <a:p>
            <a:pPr marL="0" indent="0">
              <a:spcAft>
                <a:spcPts val="1000"/>
              </a:spcAft>
            </a:pPr>
            <a:r>
              <a:rPr lang="vi-VN" sz="1700" b="0" i="0" dirty="0">
                <a:solidFill>
                  <a:srgbClr val="232323"/>
                </a:solidFill>
                <a:latin typeface="Arial"/>
              </a:rPr>
              <a:t>• Có ba nhóm EE hoặc RTS nằm trong phạm vi phân tích: EE_PDP8, EE_Directive10, và EE_PDP8_PV_BESS</a:t>
            </a:r>
          </a:p>
          <a:p>
            <a:pPr marL="0" indent="0">
              <a:spcAft>
                <a:spcPts val="1000"/>
              </a:spcAft>
            </a:pPr>
            <a:r>
              <a:rPr lang="vi-VN" sz="1700" b="0" i="0" dirty="0">
                <a:solidFill>
                  <a:srgbClr val="232323"/>
                </a:solidFill>
                <a:latin typeface="Arial"/>
              </a:rPr>
              <a:t>• Các kênh tác động chính: exo_AI làm giảm cường độ năng lượng trong ngành công nghiệp và dịch vụ; exo_PVEff và GA_3 phản ánh các kênh liên quan đến điện mặt trời mái nhà và BESS, khi có áp dụng</a:t>
            </a:r>
          </a:p>
          <a:p>
            <a:pPr marL="0" indent="0">
              <a:spcAft>
                <a:spcPts val="1000"/>
              </a:spcAft>
            </a:pPr>
            <a:r>
              <a:rPr lang="vi-VN" sz="1700" b="0" i="0" dirty="0">
                <a:solidFill>
                  <a:srgbClr val="232323"/>
                </a:solidFill>
                <a:latin typeface="Arial"/>
              </a:rPr>
              <a:t>• T</a:t>
            </a:r>
            <a:r>
              <a:rPr lang="en-US" sz="1700" b="0" i="0" dirty="0" err="1">
                <a:solidFill>
                  <a:srgbClr val="232323"/>
                </a:solidFill>
                <a:latin typeface="Arial"/>
              </a:rPr>
              <a:t>i</a:t>
            </a:r>
            <a:r>
              <a:rPr lang="vi-VN" sz="1700" b="0" i="0" dirty="0">
                <a:solidFill>
                  <a:srgbClr val="232323"/>
                </a:solidFill>
                <a:latin typeface="Arial"/>
              </a:rPr>
              <a:t>ềm năng tiết kiệm đến năm 2030: ≈7,4% đối với sản xuất, ≈5,1% đối với dịch vụ/thương mại, ≈11,6% đối với hộ gia đình</a:t>
            </a:r>
          </a:p>
          <a:p>
            <a:pPr marL="0" indent="0">
              <a:spcAft>
                <a:spcPts val="1000"/>
              </a:spcAft>
            </a:pPr>
            <a:r>
              <a:rPr lang="vi-VN" sz="1700" b="0" i="0" dirty="0">
                <a:solidFill>
                  <a:srgbClr val="232323"/>
                </a:solidFill>
                <a:latin typeface="Arial"/>
              </a:rPr>
              <a:t>• Định lượng nhu cầu đầu tư: ≈ 361 triệu USD/năm (tương đương 0,076% GDP năm 2024)</a:t>
            </a:r>
          </a:p>
          <a:p>
            <a:pPr marL="0" indent="0">
              <a:spcAft>
                <a:spcPts val="1000"/>
              </a:spcAft>
            </a:pPr>
            <a:r>
              <a:rPr lang="vi-VN" sz="1700" b="1" i="0" dirty="0">
                <a:solidFill>
                  <a:srgbClr val="232323"/>
                </a:solidFill>
                <a:latin typeface="Arial"/>
              </a:rPr>
              <a:t>• Hiệu ứng </a:t>
            </a:r>
            <a:r>
              <a:rPr lang="en-US" sz="1700" b="1" i="0" dirty="0" err="1">
                <a:solidFill>
                  <a:srgbClr val="232323"/>
                </a:solidFill>
                <a:latin typeface="Arial"/>
              </a:rPr>
              <a:t>tương</a:t>
            </a:r>
            <a:r>
              <a:rPr lang="en-US" sz="1700" b="1" i="0" dirty="0">
                <a:solidFill>
                  <a:srgbClr val="232323"/>
                </a:solidFill>
                <a:latin typeface="Arial"/>
              </a:rPr>
              <a:t> </a:t>
            </a:r>
            <a:r>
              <a:rPr lang="en-US" sz="1700" b="1" i="0" dirty="0" err="1">
                <a:solidFill>
                  <a:srgbClr val="232323"/>
                </a:solidFill>
                <a:latin typeface="Arial"/>
              </a:rPr>
              <a:t>tác</a:t>
            </a:r>
            <a:r>
              <a:rPr lang="en-US" sz="1700" b="1" i="0" dirty="0">
                <a:solidFill>
                  <a:srgbClr val="232323"/>
                </a:solidFill>
                <a:latin typeface="Arial"/>
              </a:rPr>
              <a:t> (rebound effect)</a:t>
            </a:r>
            <a:r>
              <a:rPr lang="vi-VN" sz="1700" b="1" i="0" dirty="0">
                <a:solidFill>
                  <a:srgbClr val="232323"/>
                </a:solidFill>
                <a:latin typeface="Arial"/>
              </a:rPr>
              <a:t>: hiệu quả năng lượng tăng giúp tăng năng suất và GDP, tuy nhiên các hoạt động kinh tế mở rộng từ kết quả đó sẽ triệt tiêu một phần năng lượng tiết kiệm được ban đầu</a:t>
            </a:r>
          </a:p>
          <a:p>
            <a:pPr marL="0" indent="0">
              <a:spcAft>
                <a:spcPts val="1000"/>
              </a:spcAft>
            </a:pPr>
            <a:r>
              <a:rPr lang="vi-VN" sz="1700" b="0" i="0" dirty="0">
                <a:solidFill>
                  <a:srgbClr val="232323"/>
                </a:solidFill>
                <a:latin typeface="Arial"/>
              </a:rPr>
              <a:t>• Đối với Nhóm 1, hai biến thể EE_PDP8 Full và NoBESS có kết quả số giống hệt nhau do kênh BESS bằng 0 trong toàn bộ mô phỏng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7 · 30 PHÚT</a:t>
            </a:r>
          </a:p>
          <a:p>
            <a:r>
              <a:rPr lang="vi-VN" sz="2400" b="1" i="0">
                <a:solidFill>
                  <a:srgbClr val="FFFFFF"/>
                </a:solidFill>
                <a:latin typeface="Arial"/>
              </a:rPr>
              <a:t>Lập bảng siêu dữ liệu kịch bản hiệu quả năng lượng</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10</a:t>
            </a:r>
          </a:p>
        </p:txBody>
      </p:sp>
      <p:sp>
        <p:nvSpPr>
          <p:cNvPr id="9" name="TextBox 8"/>
          <p:cNvSpPr txBox="1"/>
          <p:nvPr/>
        </p:nvSpPr>
        <p:spPr>
          <a:xfrm>
            <a:off x="502920" y="1554480"/>
            <a:ext cx="11185855" cy="230832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Yêu cầu mức độ chi tiết tương đương với bảng dữ liệu kịch bản tài chính, bao gồm: cơ chế tác động, các giả định theo từng ngành (có dẫn nguồn), các ngành chịu tác động, lộ trình theo thời gian, các tác động kỳ vọng (bao gồm cả hiệu ứng bật lại), các chỉ tiêu đầu ra chính, các lưu ý/hạn chế</a:t>
            </a:r>
          </a:p>
          <a:p>
            <a:pPr marL="0" indent="0" algn="just">
              <a:spcAft>
                <a:spcPts val="1000"/>
              </a:spcAft>
            </a:pPr>
            <a:r>
              <a:rPr lang="vi-VN" sz="1700" b="0" i="0" dirty="0">
                <a:solidFill>
                  <a:srgbClr val="232323"/>
                </a:solidFill>
                <a:latin typeface="Arial"/>
              </a:rPr>
              <a:t>• Mỗi nhóm phải trình bày cả hai biến thể BESS cho nhóm được phân công, không chỉ một biến thể</a:t>
            </a:r>
          </a:p>
          <a:p>
            <a:pPr marL="0" indent="0" algn="just">
              <a:spcAft>
                <a:spcPts val="1000"/>
              </a:spcAft>
            </a:pPr>
            <a:r>
              <a:rPr lang="vi-VN" sz="1700" b="0" i="0" dirty="0">
                <a:solidFill>
                  <a:srgbClr val="232323"/>
                </a:solidFill>
                <a:latin typeface="Arial"/>
              </a:rPr>
              <a:t>• Các ngành chịu tác động: sản xuất, dịch vụ/thương mại, hộ gia đình</a:t>
            </a:r>
          </a:p>
          <a:p>
            <a:pPr marL="0" indent="0" algn="just">
              <a:spcAft>
                <a:spcPts val="1000"/>
              </a:spcAft>
            </a:pPr>
            <a:r>
              <a:rPr lang="vi-VN" sz="1700" b="0" i="0" dirty="0">
                <a:solidFill>
                  <a:srgbClr val="232323"/>
                </a:solidFill>
                <a:latin typeface="Arial"/>
              </a:rPr>
              <a:t>• Lưu lại bảng dữ liệu vào nhật ký kịch bản hiệu quả năng lượng (energy-efficiency scenario log) trước khi kết thúc buổi học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TỔNG KẾT</a:t>
            </a:r>
          </a:p>
          <a:p>
            <a:r>
              <a:rPr lang="vi-VN" sz="2400" b="1" i="0">
                <a:solidFill>
                  <a:srgbClr val="FFFFFF"/>
                </a:solidFill>
                <a:latin typeface="Arial"/>
              </a:rPr>
              <a:t>Thảo luận &amp; các lỗi thường gặp</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11</a:t>
            </a:r>
          </a:p>
        </p:txBody>
      </p:sp>
      <p:sp>
        <p:nvSpPr>
          <p:cNvPr id="9" name="TextBox 8"/>
          <p:cNvSpPr txBox="1"/>
          <p:nvPr/>
        </p:nvSpPr>
        <p:spPr>
          <a:xfrm>
            <a:off x="502920" y="1554480"/>
            <a:ext cx="11185855" cy="2436564"/>
          </a:xfrm>
          <a:prstGeom prst="rect">
            <a:avLst/>
          </a:prstGeom>
          <a:noFill/>
        </p:spPr>
        <p:txBody>
          <a:bodyPr wrap="square">
            <a:spAutoFit/>
          </a:bodyPr>
          <a:lstStyle/>
          <a:p>
            <a:pPr marL="0" indent="0">
              <a:spcAft>
                <a:spcPts val="1000"/>
              </a:spcAft>
            </a:pPr>
            <a:r>
              <a:rPr lang="vi-VN" sz="1700" b="0" i="0" dirty="0">
                <a:solidFill>
                  <a:srgbClr val="232323"/>
                </a:solidFill>
                <a:latin typeface="Arial"/>
              </a:rPr>
              <a:t>• Thảo luận tổng kết: trong kịch bản tài chính của nhóm bạn, những biến nào trong số r_G, r_FDI, tỷ trọng K_G, tỷ trọng K_FDI khác biệt so với cấu trúc được chọn để so sánh?</a:t>
            </a:r>
          </a:p>
          <a:p>
            <a:pPr marL="0" indent="0">
              <a:spcAft>
                <a:spcPts val="1000"/>
              </a:spcAft>
            </a:pPr>
            <a:r>
              <a:rPr lang="vi-VN" sz="1700" b="0" i="0" dirty="0">
                <a:solidFill>
                  <a:srgbClr val="232323"/>
                </a:solidFill>
                <a:latin typeface="Arial"/>
              </a:rPr>
              <a:t>• Thảo luận: hiệu ứng tương tácảnh hưởng thế nào đến mức tiết kiệm ròng của kịch bản hiệu quả năng lượng?</a:t>
            </a:r>
          </a:p>
          <a:p>
            <a:pPr marL="0" indent="0">
              <a:spcAft>
                <a:spcPts val="1000"/>
              </a:spcAft>
            </a:pPr>
            <a:r>
              <a:rPr lang="vi-VN" sz="1700" b="0" i="0" dirty="0">
                <a:solidFill>
                  <a:srgbClr val="232323"/>
                </a:solidFill>
                <a:latin typeface="Arial"/>
              </a:rPr>
              <a:t>• Lưu ý quan trọng: tránh nhầm lẫn giữa giá trị cơ sở đã hiệu chỉnh với PDP8_GF_B — Nhóm B vẫn là một cấu trúc tài chính, không phải là kịch bản tham chiếu không có cú sốc</a:t>
            </a:r>
          </a:p>
          <a:p>
            <a:pPr marL="0" indent="0">
              <a:spcAft>
                <a:spcPts val="1000"/>
              </a:spcAft>
            </a:pPr>
            <a:r>
              <a:rPr lang="vi-VN" sz="1700" b="0" i="0" dirty="0">
                <a:solidFill>
                  <a:srgbClr val="232323"/>
                </a:solidFill>
                <a:latin typeface="Arial"/>
              </a:rPr>
              <a:t>• Lưu ý: so sánh sai giữa các lộ trình phát thải — chỉ được so sánh trong cùng một lộ trình</a:t>
            </a:r>
          </a:p>
          <a:p>
            <a:pPr marL="0" indent="0">
              <a:spcAft>
                <a:spcPts val="1000"/>
              </a:spcAft>
            </a:pPr>
            <a:r>
              <a:rPr lang="vi-VN" sz="1700" b="0" i="0" dirty="0">
                <a:solidFill>
                  <a:srgbClr val="232323"/>
                </a:solidFill>
                <a:latin typeface="Arial"/>
              </a:rPr>
              <a:t>• Lưu ý: bỏ sót hiệu ứng tương táctrong phần phân tích tác động kỳ vọng của kịch bản hiệu quả năng lượng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8 · 5 PHÚT</a:t>
            </a:r>
          </a:p>
          <a:p>
            <a:r>
              <a:rPr lang="vi-VN" sz="2400" b="1" i="0">
                <a:solidFill>
                  <a:srgbClr val="FFFFFF"/>
                </a:solidFill>
                <a:latin typeface="Arial"/>
              </a:rPr>
              <a:t>Kết quả đạt được hôm nay &amp; nội dung tiếp theo</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1 — Thứ 4, ngày 22/7/2026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12</a:t>
            </a:r>
          </a:p>
        </p:txBody>
      </p:sp>
      <p:sp>
        <p:nvSpPr>
          <p:cNvPr id="9" name="TextBox 8"/>
          <p:cNvSpPr txBox="1"/>
          <p:nvPr/>
        </p:nvSpPr>
        <p:spPr>
          <a:xfrm>
            <a:off x="502920" y="1554480"/>
            <a:ext cx="11185855" cy="4892040"/>
          </a:xfrm>
          <a:prstGeom prst="rect">
            <a:avLst/>
          </a:prstGeom>
          <a:noFill/>
        </p:spPr>
        <p:txBody>
          <a:bodyPr wrap="square">
            <a:spAutoFit/>
          </a:bodyPr>
          <a:lstStyle/>
          <a:p>
            <a:pPr marL="0" indent="0">
              <a:spcAft>
                <a:spcPts val="1000"/>
              </a:spcAft>
            </a:pPr>
            <a:r>
              <a:rPr lang="vi-VN" sz="1700" b="1" i="0">
                <a:solidFill>
                  <a:srgbClr val="232323"/>
                </a:solidFill>
                <a:latin typeface="Arial"/>
              </a:rPr>
              <a:t>• Kết thúc buổi học hôm nay, học viên có được:</a:t>
            </a:r>
          </a:p>
          <a:p>
            <a:pPr marL="320040" indent="0">
              <a:spcAft>
                <a:spcPts val="600"/>
              </a:spcAft>
            </a:pPr>
            <a:r>
              <a:rPr lang="vi-VN" sz="1500" b="0" i="0">
                <a:solidFill>
                  <a:srgbClr val="232323"/>
                </a:solidFill>
                <a:latin typeface="Arial"/>
              </a:rPr>
              <a:t>–  Bảng siêu dữ liệu hoàn chỉnh cho kịch bản tài chính được phân công</a:t>
            </a:r>
          </a:p>
          <a:p>
            <a:pPr marL="320040" indent="0">
              <a:spcAft>
                <a:spcPts val="600"/>
              </a:spcAft>
            </a:pPr>
            <a:r>
              <a:rPr lang="vi-VN" sz="1500" b="0" i="0">
                <a:solidFill>
                  <a:srgbClr val="232323"/>
                </a:solidFill>
                <a:latin typeface="Arial"/>
              </a:rPr>
              <a:t>–  Bảng siêu dữ liệu hoàn chỉnh cho kịch bản hiệu quả năng lượng</a:t>
            </a:r>
          </a:p>
          <a:p>
            <a:pPr marL="0" indent="0">
              <a:spcAft>
                <a:spcPts val="1000"/>
              </a:spcAft>
            </a:pPr>
            <a:r>
              <a:rPr lang="vi-VN" sz="1700" b="0" i="0">
                <a:solidFill>
                  <a:srgbClr val="232323"/>
                </a:solidFill>
                <a:latin typeface="Arial"/>
              </a:rPr>
              <a:t>• Buổi sáng ngày mai: làm quen với cấu trúc codebase, sử dụng Git/GitHub Desktop, hiệu chỉnh giá trị cơ sở và thực hành chạy mô phỏng cả hai kịch bản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1f43c89-4e08-475e-90dc-8d81c2a76942">
      <Terms xmlns="http://schemas.microsoft.com/office/infopath/2007/PartnerControls"/>
    </lcf76f155ced4ddcb4097134ff3c332f>
    <TaxCatchAll xmlns="388d0403-69f5-4686-a95b-cac9ff01ae6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00E73D352567448BBEE4D014CD02A8" ma:contentTypeVersion="12" ma:contentTypeDescription="Create a new document." ma:contentTypeScope="" ma:versionID="403e437f1347c5afed4908d2a8515fe8">
  <xsd:schema xmlns:xsd="http://www.w3.org/2001/XMLSchema" xmlns:xs="http://www.w3.org/2001/XMLSchema" xmlns:p="http://schemas.microsoft.com/office/2006/metadata/properties" xmlns:ns2="f1f43c89-4e08-475e-90dc-8d81c2a76942" xmlns:ns3="388d0403-69f5-4686-a95b-cac9ff01ae61" targetNamespace="http://schemas.microsoft.com/office/2006/metadata/properties" ma:root="true" ma:fieldsID="42eb5f7a503c3612ee98993fcd9dc6cb" ns2:_="" ns3:_="">
    <xsd:import namespace="f1f43c89-4e08-475e-90dc-8d81c2a76942"/>
    <xsd:import namespace="388d0403-69f5-4686-a95b-cac9ff01ae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f43c89-4e08-475e-90dc-8d81c2a769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ed264e-563a-469a-8ebe-271e849ec10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88d0403-69f5-4686-a95b-cac9ff01ae6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a7f6972-f309-49f4-8d2e-1c432e90d65b}" ma:internalName="TaxCatchAll" ma:showField="CatchAllData" ma:web="388d0403-69f5-4686-a95b-cac9ff01ae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641027-34B9-4779-A087-14E5D47BD839}">
  <ds:schemaRefs>
    <ds:schemaRef ds:uri="http://schemas.microsoft.com/office/2006/metadata/properties"/>
    <ds:schemaRef ds:uri="http://schemas.microsoft.com/office/infopath/2007/PartnerControls"/>
    <ds:schemaRef ds:uri="04ac4ecf-9708-45f7-9d64-eaef3bff4f59"/>
    <ds:schemaRef ds:uri="47d30a7d-b41a-4785-a964-e05815a9f29f"/>
    <ds:schemaRef ds:uri="f1f43c89-4e08-475e-90dc-8d81c2a76942"/>
    <ds:schemaRef ds:uri="388d0403-69f5-4686-a95b-cac9ff01ae61"/>
  </ds:schemaRefs>
</ds:datastoreItem>
</file>

<file path=customXml/itemProps2.xml><?xml version="1.0" encoding="utf-8"?>
<ds:datastoreItem xmlns:ds="http://schemas.openxmlformats.org/officeDocument/2006/customXml" ds:itemID="{A8260EDF-955B-4A40-A264-A3DEDD1D3323}">
  <ds:schemaRefs>
    <ds:schemaRef ds:uri="http://schemas.microsoft.com/sharepoint/v3/contenttype/forms"/>
  </ds:schemaRefs>
</ds:datastoreItem>
</file>

<file path=customXml/itemProps3.xml><?xml version="1.0" encoding="utf-8"?>
<ds:datastoreItem xmlns:ds="http://schemas.openxmlformats.org/officeDocument/2006/customXml" ds:itemID="{8743508A-8E25-495E-A6DE-E5F72E72CF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f43c89-4e08-475e-90dc-8d81c2a76942"/>
    <ds:schemaRef ds:uri="388d0403-69f5-4686-a95b-cac9ff01ae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80</TotalTime>
  <Words>2332</Words>
  <Application>Microsoft Office PowerPoint</Application>
  <PresentationFormat>Widescreen</PresentationFormat>
  <Paragraphs>160</Paragraphs>
  <Slides>13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Hoàng Lan</cp:lastModifiedBy>
  <cp:revision>5</cp:revision>
  <dcterms:created xsi:type="dcterms:W3CDTF">2013-01-27T09:14:16Z</dcterms:created>
  <dcterms:modified xsi:type="dcterms:W3CDTF">2026-07-21T13:55:47Z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0x0101009700E73D352567448BBEE4D014CD02A8</vt:lpwstr>
  </property>
  <property fmtid="{D5CDD505-2E9C-101B-9397-08002B2CF9AE}" pid="3" name="Order">
    <vt:r8>10137400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ediaServiceImageTags">
    <vt:lpwstr/>
  </property>
</Properties>
</file>