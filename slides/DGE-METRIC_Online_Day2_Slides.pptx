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2054087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2860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4000" b="1" i="0">
                <a:solidFill>
                  <a:srgbClr val="232323"/>
                </a:solidFill>
                <a:latin typeface="Calibri"/>
              </a:rPr>
              <a:t>DGE-METRIC Online Training</a:t>
            </a:r>
          </a:p>
          <a:p>
            <a:r>
              <a:rPr sz="2200" b="0" i="0">
                <a:solidFill>
                  <a:srgbClr val="CC071E"/>
                </a:solidFill>
                <a:latin typeface="Calibri"/>
              </a:rPr>
              <a:t>Online Day 2 — Calibration &amp; Scenario Hands-On, then Toy Model SOE MC: Crisis, Growth, and Joint Policy 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4709160"/>
            <a:ext cx="3840480" cy="3810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 i="0">
                <a:solidFill>
                  <a:srgbClr val="787878"/>
                </a:solidFill>
                <a:latin typeface="Calibri"/>
              </a:rPr>
              <a:t>Thursday 23 July 2026 · Morning + Afternoon · 150 min + 240 min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787878"/>
                </a:solidFill>
                <a:latin typeface="Calibri"/>
              </a:rPr>
              <a:t>GIZ Vietnam | DGE-METRIC Program | Online Module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787878"/>
                </a:solidFill>
                <a:latin typeface="Calibri"/>
              </a:rPr>
              <a:t>This is Training Day 4, delivered online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457200"/>
            <a:ext cx="1656522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6517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FFD2D2"/>
                </a:solidFill>
                <a:latin typeface="Calibri"/>
              </a:rPr>
              <a:t>ONLINE DAY 2 — MORNING</a:t>
            </a:r>
          </a:p>
          <a:p>
            <a:r>
              <a:rPr sz="3400" b="1" i="0">
                <a:solidFill>
                  <a:srgbClr val="FFFFFF"/>
                </a:solidFill>
                <a:latin typeface="Calibri"/>
              </a:rPr>
              <a:t>Calibration &amp; Scenario Hands-On</a:t>
            </a:r>
          </a:p>
          <a:p>
            <a:pPr>
              <a:spcBef>
                <a:spcPts val="1400"/>
              </a:spcBef>
            </a:pPr>
            <a:r>
              <a:rPr sz="1700" b="0" i="0">
                <a:solidFill>
                  <a:srgbClr val="FFFFFF"/>
                </a:solidFill>
                <a:latin typeface="Calibri"/>
              </a:rPr>
              <a:t>Codebase navigation, Git/GitHub Desktop, debugging, AI-assisted VS Code · 150 minutes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This Morning's Agenda — 7 Blocks + Break, 150 Minutes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2 — Thu 23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554480"/>
          <a:ext cx="11185853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33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19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05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35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Block</a:t>
                      </a:r>
                    </a:p>
                  </a:txBody>
                  <a:tcPr marT="50800" marB="50800" anchor="ctr">
                    <a:solidFill>
                      <a:srgbClr val="CC0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 marT="50800" marB="50800" anchor="ctr">
                    <a:solidFill>
                      <a:srgbClr val="CC0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What happens</a:t>
                      </a:r>
                    </a:p>
                  </a:txBody>
                  <a:tcPr marT="50800" marB="50800" anchor="ctr">
                    <a:solidFill>
                      <a:srgbClr val="CC07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1. Recap and discussion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Restate expected outputs; confirm MATLAB/Dynare/paths working; discuss open issues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2. Codebase navigation &amp; version control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Trace one equation to its helper; clone and first commit in GitHub Desktop; open in VS Code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3. Baseline calibration run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Guided execution; interpret diagnostics as a group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4. Debugging common MATLAB/Dynare errors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Categorize failure type before fixing; work one broken example together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— Break —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5. Scenario runs + AI-assisted VS Code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Run finance vs. matching base and efficiency vs. PDP8; live AI-assistant demo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6. Comparison table, chart &amp; narrative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Build comparison table and one policy-facing chart with a short narrative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7. Report-out and debrief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Fast report-out across groups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1 · 60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Recap &amp; Setup Check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2 — Thu 23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Yesterday: your finance-scenario metadata sheet and the energy-efficiency scenario metadata sheet, both fully documented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Confirm every group still has both sheets before starting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Setup check: MATLAB, Dynare, and repository paths working for every group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2 · 10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Codebase Navigation &amp; Version Control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2 — Thu 23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ModFiles/ holds Dynare equations — but the parameters/variables they reference are usually set elsewhere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Functions/ holds the MATLAB helpers that compute or set those values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The navigation skill: given an equation, find what it references, and whether that's a calibration input (ExcelFiles/) or a computed value (Functions/)</a:t>
            </a:r>
          </a:p>
          <a:p>
            <a:pPr marL="0" indent="0">
              <a:spcAft>
                <a:spcPts val="1000"/>
              </a:spcAft>
            </a:pPr>
            <a:r>
              <a:rPr sz="1700" b="1" i="0">
                <a:solidFill>
                  <a:srgbClr val="232323"/>
                </a:solidFill>
                <a:latin typeface="Calibri"/>
              </a:rPr>
              <a:t>•  Version control — no command line required:</a:t>
            </a:r>
          </a:p>
          <a:p>
            <a:pPr marL="320040" indent="0">
              <a:spcAft>
                <a:spcPts val="600"/>
              </a:spcAft>
            </a:pPr>
            <a:r>
              <a:rPr sz="1500" b="0" i="0">
                <a:solidFill>
                  <a:srgbClr val="232323"/>
                </a:solidFill>
                <a:latin typeface="Calibri"/>
              </a:rPr>
              <a:t>–  Clone the repository and make your first commit using GitHub Desktop's visual interface</a:t>
            </a:r>
          </a:p>
          <a:p>
            <a:pPr marL="320040" indent="0">
              <a:spcAft>
                <a:spcPts val="600"/>
              </a:spcAft>
            </a:pPr>
            <a:r>
              <a:rPr sz="1500" b="0" i="0">
                <a:solidFill>
                  <a:srgbClr val="232323"/>
                </a:solidFill>
                <a:latin typeface="Calibri"/>
              </a:rPr>
              <a:t>–  Open the same repository in VS Code — the two tools share one Git history; use the Source Control panel alongside GitHub Desktop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BLOCKS 3–4 · 20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Baseline Calibration &amp; Debugging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2 — Thu 23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1" i="0">
                <a:solidFill>
                  <a:srgbClr val="232323"/>
                </a:solidFill>
                <a:latin typeface="Calibri"/>
              </a:rPr>
              <a:t>•  A calibration run is only usable for scenario comparison once its diagnostics pass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Check: residuals, steady-state convergence, accounting identities, output files generated</a:t>
            </a:r>
          </a:p>
          <a:p>
            <a:pPr marL="0" indent="0">
              <a:spcAft>
                <a:spcPts val="1000"/>
              </a:spcAft>
            </a:pPr>
            <a:r>
              <a:rPr sz="1700" b="1" i="0">
                <a:solidFill>
                  <a:srgbClr val="232323"/>
                </a:solidFill>
                <a:latin typeface="Calibri"/>
              </a:rPr>
              <a:t>•  Debugging as a categorization skill — find the category before you try a fix:</a:t>
            </a:r>
          </a:p>
          <a:p>
            <a:pPr marL="320040" indent="0">
              <a:spcAft>
                <a:spcPts val="600"/>
              </a:spcAft>
            </a:pPr>
            <a:r>
              <a:rPr sz="1500" b="0" i="0">
                <a:solidFill>
                  <a:srgbClr val="232323"/>
                </a:solidFill>
                <a:latin typeface="Calibri"/>
              </a:rPr>
              <a:t>–  1. Path error — the run can't find a file it needs</a:t>
            </a:r>
          </a:p>
          <a:p>
            <a:pPr marL="320040" indent="0">
              <a:spcAft>
                <a:spcPts val="600"/>
              </a:spcAft>
            </a:pPr>
            <a:r>
              <a:rPr sz="1500" b="0" i="0">
                <a:solidFill>
                  <a:srgbClr val="232323"/>
                </a:solidFill>
                <a:latin typeface="Calibri"/>
              </a:rPr>
              <a:t>–  2. Missing or locked input — a required workbook isn't where the run expects, or is open elsewhere</a:t>
            </a:r>
          </a:p>
          <a:p>
            <a:pPr marL="320040" indent="0">
              <a:spcAft>
                <a:spcPts val="600"/>
              </a:spcAft>
            </a:pPr>
            <a:r>
              <a:rPr sz="1500" b="0" i="0">
                <a:solidFill>
                  <a:srgbClr val="232323"/>
                </a:solidFill>
                <a:latin typeface="Calibri"/>
              </a:rPr>
              <a:t>–  3. Non-convergence — the solver doesn't reach a steady state; check initial values before touching tolerances</a:t>
            </a:r>
          </a:p>
          <a:p>
            <a:pPr marL="320040" indent="0">
              <a:spcAft>
                <a:spcPts val="600"/>
              </a:spcAft>
            </a:pPr>
            <a:r>
              <a:rPr sz="1500" b="0" i="0">
                <a:solidFill>
                  <a:srgbClr val="232323"/>
                </a:solidFill>
                <a:latin typeface="Calibri"/>
              </a:rPr>
              <a:t>–  4. Syntax/structural error — usually caught by Dynare's own error message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457200"/>
            <a:ext cx="1656522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6517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FFD2D2"/>
                </a:solidFill>
                <a:latin typeface="Calibri"/>
              </a:rPr>
              <a:t>SHORT BREAK</a:t>
            </a:r>
          </a:p>
          <a:p>
            <a:r>
              <a:rPr sz="3400" b="1" i="0">
                <a:solidFill>
                  <a:srgbClr val="FFFFFF"/>
                </a:solidFill>
                <a:latin typeface="Calibri"/>
              </a:rPr>
              <a:t>15 minutes</a:t>
            </a:r>
          </a:p>
          <a:p>
            <a:pPr>
              <a:spcBef>
                <a:spcPts val="1400"/>
              </a:spcBef>
            </a:pPr>
            <a:r>
              <a:rPr sz="1700" b="0" i="0">
                <a:solidFill>
                  <a:srgbClr val="FFFFFF"/>
                </a:solidFill>
                <a:latin typeface="Calibri"/>
              </a:rPr>
              <a:t>Every group should have a valid baseline run before we continue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5 · 15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Finance + Efficiency Scenario Runs, with AI-Assisted VS Code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2 — Thu 23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541004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CC071E"/>
                </a:solidFill>
                <a:latin typeface="Calibri"/>
              </a:rPr>
              <a:t>What runs against what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5410047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500" b="0" i="0">
                <a:solidFill>
                  <a:srgbClr val="232323"/>
                </a:solidFill>
                <a:latin typeface="Calibri"/>
              </a:rPr>
              <a:t>•  Finance scenario vs. its matching base case (same emissions pathway, one variable differs)</a:t>
            </a:r>
          </a:p>
          <a:p>
            <a:pPr marL="0" indent="0">
              <a:spcAft>
                <a:spcPts val="1000"/>
              </a:spcAft>
            </a:pPr>
            <a:r>
              <a:rPr sz="1500" b="0" i="0">
                <a:solidFill>
                  <a:srgbClr val="232323"/>
                </a:solidFill>
                <a:latin typeface="Calibri"/>
              </a:rPr>
              <a:t>•  Energy-efficiency scenario vs. the PDP8 baseline (efficiency coefficients differ)</a:t>
            </a:r>
          </a:p>
          <a:p>
            <a:pPr marL="0" indent="0">
              <a:spcAft>
                <a:spcPts val="1000"/>
              </a:spcAft>
            </a:pPr>
            <a:r>
              <a:rPr sz="1500" b="0" i="0">
                <a:solidFill>
                  <a:srgbClr val="232323"/>
                </a:solidFill>
                <a:latin typeface="Calibri"/>
              </a:rPr>
              <a:t>•  Identical solver options and horizon for both comparisons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1554480"/>
            <a:ext cx="541004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CC071E"/>
                </a:solidFill>
                <a:latin typeface="Calibri"/>
              </a:rPr>
              <a:t>AI-assisted VS Code (live demo)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1965960"/>
            <a:ext cx="5410047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500" b="0" i="0">
                <a:solidFill>
                  <a:srgbClr val="232323"/>
                </a:solidFill>
                <a:latin typeface="Calibri"/>
              </a:rPr>
              <a:t>•  Locate a function/variable, explain unfamiliar code, draft a small edit for review</a:t>
            </a:r>
          </a:p>
          <a:p>
            <a:pPr marL="0" indent="0">
              <a:spcAft>
                <a:spcPts val="1000"/>
              </a:spcAft>
            </a:pPr>
            <a:r>
              <a:rPr sz="1500" b="0" i="0">
                <a:solidFill>
                  <a:srgbClr val="232323"/>
                </a:solidFill>
                <a:latin typeface="Calibri"/>
              </a:rPr>
              <a:t>•  General workflow guidance — not a DGE-METRIC-specific claim</a:t>
            </a:r>
          </a:p>
          <a:p>
            <a:pPr marL="0" indent="0">
              <a:spcAft>
                <a:spcPts val="1000"/>
              </a:spcAft>
            </a:pPr>
            <a:r>
              <a:rPr sz="1500" b="1" i="0">
                <a:solidFill>
                  <a:srgbClr val="232323"/>
                </a:solidFill>
                <a:latin typeface="Calibri"/>
              </a:rPr>
              <a:t>•  Always review AI-suggested edits before applying them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6 · 20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Comparison Tables, Chart &amp; Narrative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2 — Thu 23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Finance table: public financing rate, renewable capital stock, GDP, investment, emission-tax revenue, renewable generation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Efficiency table: energy intensity, final energy demand, GDP, investment, energy prices/expenditure</a:t>
            </a:r>
          </a:p>
          <a:p>
            <a:pPr marL="0" indent="0">
              <a:spcAft>
                <a:spcPts val="1000"/>
              </a:spcAft>
            </a:pPr>
            <a:r>
              <a:rPr sz="1700" b="1" i="0">
                <a:solidFill>
                  <a:srgbClr val="232323"/>
                </a:solidFill>
                <a:latin typeface="Calibri"/>
              </a:rPr>
              <a:t>•  The efficiency scenario's GDP effect accounts for the rebound effect — net, not gross, savings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Pick one indicator with clear policy relevance; build one chart and a 4-sentence narrative: result, mechanism, policy implication, caveat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7 · 10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This Morning's Output &amp; Debrief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2 — Thu 23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You leave with: a calibration diagnostic note; comparison tables and one chart+narrative covering both the finance and efficiency scenarios; a local repository committed to via GitHub Desktop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Debrief: which transmission channel best explains your finance scenario's difference from its base case? The efficiency scenario's difference from PDP8?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Debrief: did the AI assistant's suggestion need correcting before you trusted it?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457200"/>
            <a:ext cx="1656522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6517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FFD2D2"/>
                </a:solidFill>
                <a:latin typeface="Calibri"/>
              </a:rPr>
              <a:t>ONLINE DAY 2 — AFTERNOON</a:t>
            </a:r>
          </a:p>
          <a:p>
            <a:r>
              <a:rPr sz="3400" b="1" i="0">
                <a:solidFill>
                  <a:srgbClr val="FFFFFF"/>
                </a:solidFill>
                <a:latin typeface="Calibri"/>
              </a:rPr>
              <a:t>Toy Model SOE MC</a:t>
            </a:r>
          </a:p>
          <a:p>
            <a:pPr>
              <a:spcBef>
                <a:spcPts val="1400"/>
              </a:spcBef>
            </a:pPr>
            <a:r>
              <a:rPr sz="1700" b="0" i="0">
                <a:solidFill>
                  <a:srgbClr val="FFFFFF"/>
                </a:solidFill>
                <a:latin typeface="Calibri"/>
              </a:rPr>
              <a:t>Deterministic crisis demo, Vietnam growth, coal phase-down, joint policy search · 240 minutes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This Afternoon's Agenda — 4 Blocks + Break, 240 Minutes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2 — Thu 23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554480"/>
          <a:ext cx="11185853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8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19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5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8862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Block</a:t>
                      </a:r>
                    </a:p>
                  </a:txBody>
                  <a:tcPr marT="50800" marB="50800" anchor="ctr">
                    <a:solidFill>
                      <a:srgbClr val="CC0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 marT="50800" marB="50800" anchor="ctr">
                    <a:solidFill>
                      <a:srgbClr val="CC0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What happens</a:t>
                      </a:r>
                    </a:p>
                  </a:txBody>
                  <a:tcPr marT="50800" marB="50800" anchor="ctr">
                    <a:solidFill>
                      <a:srgbClr val="CC07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8862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1. Frame the toy model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Set up the multi-commodity SOE, reserves, and policy levers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8862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2. Deterministic crisis demo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Supply disruption with phi_R=0 vs phi_R=1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8862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3. Vietnam growth and coal transition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6.5% GDP growth, reserve coverage, and coal phase-down scenarios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8862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4. Joint optimal policy search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3D Monte Carlo over phi_R × phi_IQ × d; find the joint optimum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8862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— Break —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886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5. Interpretation and wrap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What the runs show about storage costs, complementarity, and policy trade-offs</a:t>
                      </a:r>
                    </a:p>
                  </a:txBody>
                  <a:tcPr marT="38100" marB="38100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1 · 20 MIN · READ THIS FIRST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Before We Start: A Scope Note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2 — Thu 23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11185855" cy="1051560"/>
          </a:xfrm>
          <a:prstGeom prst="roundRect">
            <a:avLst/>
          </a:prstGeom>
          <a:solidFill>
            <a:srgbClr val="FFF4E5"/>
          </a:solidFill>
          <a:ln w="19050">
            <a:solidFill>
              <a:srgbClr val="B2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/>
            <a:r>
              <a:rPr sz="1900" b="1" i="1">
                <a:solidFill>
                  <a:srgbClr val="B26A00"/>
                </a:solidFill>
                <a:latin typeface="Calibri"/>
              </a:rPr>
              <a:t>This afternoon uses the ToyModelSOEMC_run.m model, not DGE-METRIC.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88920"/>
            <a:ext cx="1118585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0" i="0" dirty="0">
                <a:solidFill>
                  <a:srgbClr val="232323"/>
                </a:solidFill>
                <a:latin typeface="Calibri"/>
              </a:rPr>
              <a:t>•  The outputs shown here are model results from the toy model and are used as training examples</a:t>
            </a:r>
          </a:p>
          <a:p>
            <a:pPr marL="0" indent="0">
              <a:spcAft>
                <a:spcPts val="1000"/>
              </a:spcAft>
            </a:pPr>
            <a:r>
              <a:rPr sz="1700" b="0" i="0" dirty="0">
                <a:solidFill>
                  <a:srgbClr val="232323"/>
                </a:solidFill>
                <a:latin typeface="Calibri"/>
              </a:rPr>
              <a:t>•  The run will compare crisis-response policies, growth adequacy, coal transition scenarios, and the joint policy optimum</a:t>
            </a:r>
          </a:p>
          <a:p>
            <a:pPr marL="0" indent="0">
              <a:spcAft>
                <a:spcPts val="1000"/>
              </a:spcAft>
            </a:pPr>
            <a:r>
              <a:rPr sz="1700" b="0" i="0" dirty="0">
                <a:solidFill>
                  <a:srgbClr val="232323"/>
                </a:solidFill>
                <a:latin typeface="Calibri"/>
              </a:rPr>
              <a:t>•  Do not read any toy-model number as a DGE-METRIC output or a final Vietnam policy recommendation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34841"/>
            <a:ext cx="8778240" cy="81047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 dirty="0">
                <a:solidFill>
                  <a:srgbClr val="FFD2D2"/>
                </a:solidFill>
                <a:latin typeface="Calibri"/>
              </a:rPr>
              <a:t>BLOCK 1 · 20 MIN</a:t>
            </a:r>
          </a:p>
          <a:p>
            <a:r>
              <a:rPr sz="2400" b="1" i="0" dirty="0">
                <a:solidFill>
                  <a:srgbClr val="FFFFFF"/>
                </a:solidFill>
                <a:latin typeface="Calibri"/>
              </a:rPr>
              <a:t>Toy Model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2 — Thu 23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502920" y="1554480"/>
                <a:ext cx="11185855" cy="35875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spcAft>
                    <a:spcPts val="1000"/>
                  </a:spcAft>
                </a:pPr>
                <a:r>
                  <a:rPr lang="en-US" sz="1700" b="0" i="0" dirty="0">
                    <a:solidFill>
                      <a:srgbClr val="232323"/>
                    </a:solidFill>
                    <a:latin typeface="Calibri"/>
                  </a:rPr>
                  <a:t>•  The model is a multi-commodity small-open economy with installed capacity and strategic reserves</a:t>
                </a:r>
              </a:p>
              <a:p>
                <a:pPr>
                  <a:spcAft>
                    <a:spcPts val="1000"/>
                  </a:spcAft>
                </a:pPr>
                <a:r>
                  <a:rPr lang="en-US" sz="1700" b="0" i="0" dirty="0">
                    <a:solidFill>
                      <a:srgbClr val="232323"/>
                    </a:solidFill>
                    <a:latin typeface="Calibri"/>
                  </a:rPr>
                  <a:t>•  Key policy levers: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0" i="1" smtClean="0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1" smtClean="0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1700" b="0" i="1" smtClean="0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1700" b="0" i="0" dirty="0">
                    <a:solidFill>
                      <a:srgbClr val="232323"/>
                    </a:solidFill>
                    <a:latin typeface="Calibri"/>
                  </a:rPr>
                  <a:t> (drawdown response),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1700" b="0" i="1" smtClean="0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  <m:t>𝐼𝑄</m:t>
                        </m:r>
                      </m:sub>
                    </m:sSub>
                    <m:r>
                      <a:rPr lang="en-US" sz="1700" i="1">
                        <a:solidFill>
                          <a:srgbClr val="232323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700" b="0" i="0" dirty="0">
                    <a:solidFill>
                      <a:srgbClr val="232323"/>
                    </a:solidFill>
                    <a:latin typeface="Calibri"/>
                  </a:rPr>
                  <a:t>(capacity/investment policy), and </a:t>
                </a:r>
                <a14:m>
                  <m:oMath xmlns:m="http://schemas.openxmlformats.org/officeDocument/2006/math">
                    <m:r>
                      <a:rPr lang="en-US" sz="1700" b="0" i="1" smtClean="0">
                        <a:solidFill>
                          <a:srgbClr val="232323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1700" b="0" i="0" dirty="0">
                    <a:solidFill>
                      <a:srgbClr val="232323"/>
                    </a:solidFill>
                    <a:latin typeface="Calibri"/>
                  </a:rPr>
                  <a:t>(reserve size / coverage)</a:t>
                </a:r>
              </a:p>
              <a:p>
                <a:pPr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700" b="0" i="1" smtClean="0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700" b="0" i="1" smtClean="0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1700" b="0" i="1" smtClean="0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700" b="0" i="1" smtClean="0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700" b="0" i="1" smtClean="0">
                          <a:solidFill>
                            <a:srgbClr val="23232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700" b="0" i="1" smtClean="0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700" b="0" i="1" smtClean="0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1700" b="0" i="1" smtClean="0">
                                  <a:solidFill>
                                    <a:srgbClr val="23232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 b="0" i="1" smtClean="0">
                                  <a:solidFill>
                                    <a:srgbClr val="232323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sz="1700" b="0" i="1" smtClean="0">
                                  <a:solidFill>
                                    <a:srgbClr val="232323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700" b="0" i="1" smtClean="0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700" b="0" i="1" smtClean="0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1700" b="0" i="1" smtClean="0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700" b="0" i="1" smtClean="0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700" b="0" i="1" smtClean="0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1700" b="0" i="1" smtClean="0">
                          <a:solidFill>
                            <a:srgbClr val="232323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700" b="0" i="1" smtClean="0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700" b="0" i="1" smtClean="0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1700" b="0" i="1" smtClean="0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700" b="0" i="1" smtClean="0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  <m:t>𝑑𝑟𝑎𝑤</m:t>
                          </m:r>
                          <m:r>
                            <a:rPr lang="en-US" sz="1700" b="0" i="1" smtClean="0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700" b="0" i="1" smtClean="0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700" b="0" i="1" smtClean="0">
                          <a:solidFill>
                            <a:srgbClr val="232323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700" i="1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1700" i="1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sz="1700" b="0" i="1" smtClean="0">
                          <a:solidFill>
                            <a:srgbClr val="23232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700" b="0" i="1" smtClean="0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1700" b="0" i="1" dirty="0" smtClean="0">
                                  <a:solidFill>
                                    <a:srgbClr val="23232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700" i="1">
                                  <a:solidFill>
                                    <a:srgbClr val="232323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  <m:sub>
                          <m:r>
                            <a:rPr lang="en-US" sz="1700" b="0" i="1" smtClean="0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1700" b="0" i="1" smtClean="0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700" b="0" i="1" smtClean="0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700" b="0" i="1" smtClean="0">
                          <a:solidFill>
                            <a:srgbClr val="232323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700" b="0" i="1" smtClean="0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700" b="0" i="1" smtClean="0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700" b="0" i="1" smtClean="0">
                          <a:solidFill>
                            <a:srgbClr val="232323"/>
                          </a:solidFill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1700" b="0" i="1" smtClean="0">
                          <a:solidFill>
                            <a:srgbClr val="232323"/>
                          </a:solidFill>
                          <a:latin typeface="Cambria Math" panose="02040503050406030204" pitchFamily="18" charset="0"/>
                        </a:rPr>
                        <m:t> (0,</m:t>
                      </m:r>
                      <m:sSub>
                        <m:sSubPr>
                          <m:ctrlPr>
                            <a:rPr lang="en-US" sz="1700" i="1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1700" i="1" dirty="0">
                                  <a:solidFill>
                                    <a:srgbClr val="23232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700" i="1">
                                  <a:solidFill>
                                    <a:srgbClr val="232323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  <m:sub>
                          <m:r>
                            <a:rPr lang="en-US" sz="1700" i="1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1700" i="1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700" i="1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700" b="0" i="1" smtClean="0">
                          <a:solidFill>
                            <a:srgbClr val="232323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700" i="1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700" i="1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1700" i="1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700" i="1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700" b="0" i="1" smtClean="0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1700" b="0" i="1" smtClean="0">
                          <a:solidFill>
                            <a:srgbClr val="232323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700" b="0" i="0" dirty="0">
                  <a:solidFill>
                    <a:srgbClr val="232323"/>
                  </a:solidFill>
                  <a:latin typeface="Calibri"/>
                </a:endParaRPr>
              </a:p>
              <a:p>
                <a:pPr marL="0" indent="0"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700" b="1" i="1" smtClean="0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1" i="1" smtClean="0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700" b="1" i="1" smtClean="0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sz="1700" b="1" i="1" smtClean="0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700" b="1" i="1" smtClean="0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  <m:t>𝒅𝒓𝒂𝒘</m:t>
                          </m:r>
                          <m:r>
                            <a:rPr lang="en-US" sz="1700" b="1" i="1" smtClean="0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700" b="1" i="1" smtClean="0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sz="1700" b="1" i="1" smtClean="0">
                          <a:solidFill>
                            <a:srgbClr val="232323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sz="1700" b="1" i="1" smtClean="0">
                          <a:solidFill>
                            <a:srgbClr val="232323"/>
                          </a:solidFill>
                          <a:latin typeface="Cambria Math" panose="02040503050406030204" pitchFamily="18" charset="0"/>
                        </a:rPr>
                        <m:t>𝒎𝒊𝒏</m:t>
                      </m:r>
                      <m:r>
                        <a:rPr lang="en-US" sz="1700" b="1" i="1" smtClean="0">
                          <a:solidFill>
                            <a:srgbClr val="23232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700" b="1" i="1" smtClean="0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1" i="1" smtClean="0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  <m:t>𝝓</m:t>
                          </m:r>
                        </m:e>
                        <m:sub>
                          <m:r>
                            <a:rPr lang="en-US" sz="1700" b="1" i="1" smtClean="0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  <m:r>
                        <a:rPr lang="en-US" sz="1700" b="1" i="1" smtClean="0">
                          <a:solidFill>
                            <a:srgbClr val="23232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700" b="1" i="1" smtClean="0">
                          <a:solidFill>
                            <a:srgbClr val="232323"/>
                          </a:solidFill>
                          <a:latin typeface="Cambria Math" panose="02040503050406030204" pitchFamily="18" charset="0"/>
                        </a:rPr>
                        <m:t>𝒎𝒂𝒙</m:t>
                      </m:r>
                      <m:d>
                        <m:dPr>
                          <m:ctrlPr>
                            <a:rPr lang="en-US" sz="1700" b="1" i="1" smtClean="0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700" b="1" i="1" smtClean="0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1700" b="1" i="1" smtClean="0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  <m:t>, −</m:t>
                          </m:r>
                          <m:sSub>
                            <m:sSubPr>
                              <m:ctrlPr>
                                <a:rPr lang="en-US" sz="1700" b="1" i="1" smtClean="0">
                                  <a:solidFill>
                                    <a:srgbClr val="23232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 b="1" i="1" smtClean="0">
                                  <a:solidFill>
                                    <a:srgbClr val="232323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sz="1700" b="1" i="1" smtClean="0">
                                  <a:solidFill>
                                    <a:srgbClr val="232323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US" sz="1700" b="1" i="1" smtClean="0">
                                  <a:solidFill>
                                    <a:srgbClr val="232323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700" b="1" i="1" smtClean="0">
                                  <a:solidFill>
                                    <a:srgbClr val="232323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  <m:r>
                        <a:rPr lang="en-US" sz="1700" b="1" i="1" smtClean="0">
                          <a:solidFill>
                            <a:srgbClr val="232323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700" b="1" i="1" smtClean="0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1" i="1" smtClean="0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700" b="1" i="1" smtClean="0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sz="1700" b="1" i="1" smtClean="0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700" b="1" i="1" smtClean="0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700" b="1" i="1" smtClean="0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700" b="1" i="1" smtClean="0">
                              <a:solidFill>
                                <a:srgbClr val="23232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700" b="1" i="1" smtClean="0">
                          <a:solidFill>
                            <a:srgbClr val="232323"/>
                          </a:solidFill>
                          <a:latin typeface="Cambria Math" panose="02040503050406030204" pitchFamily="18" charset="0"/>
                        </a:rPr>
                        <m:t> )</m:t>
                      </m:r>
                    </m:oMath>
                  </m:oMathPara>
                </a14:m>
                <a:endParaRPr lang="en-US" sz="1700" b="1" i="0" dirty="0">
                  <a:solidFill>
                    <a:srgbClr val="232323"/>
                  </a:solidFill>
                  <a:latin typeface="Calibri"/>
                </a:endParaRPr>
              </a:p>
              <a:p>
                <a:pPr marL="0" indent="0">
                  <a:spcAft>
                    <a:spcPts val="1000"/>
                  </a:spcAft>
                </a:pPr>
                <a:r>
                  <a:rPr lang="en-US" sz="1700" b="1" i="0" dirty="0">
                    <a:solidFill>
                      <a:srgbClr val="232323"/>
                    </a:solidFill>
                    <a:latin typeface="Calibri"/>
                  </a:rPr>
                  <a:t>•  Storage cost enters the resource constraint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1" i="1" smtClean="0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1" i="1" smtClean="0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  <m:t>𝜿</m:t>
                        </m:r>
                      </m:e>
                      <m:sub>
                        <m:r>
                          <a:rPr lang="en-US" sz="1700" b="1" i="1" smtClean="0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1700" b="1" i="1" smtClean="0">
                        <a:solidFill>
                          <a:srgbClr val="232323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700" b="1" i="1" smtClean="0">
                        <a:solidFill>
                          <a:srgbClr val="232323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sz="1700" b="1" i="1" smtClean="0">
                        <a:solidFill>
                          <a:srgbClr val="232323"/>
                        </a:solidFill>
                        <a:latin typeface="Cambria Math" panose="02040503050406030204" pitchFamily="18" charset="0"/>
                      </a:rPr>
                      <m:t> +</m:t>
                    </m:r>
                    <m:sSub>
                      <m:sSubPr>
                        <m:ctrlPr>
                          <a:rPr lang="en-US" sz="1700" b="1" i="1" smtClean="0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1" i="1" smtClean="0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  <m:t>𝜿</m:t>
                        </m:r>
                      </m:e>
                      <m:sub>
                        <m:r>
                          <a:rPr lang="en-US" sz="1700" b="1" i="1" smtClean="0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1700" b="1" i="1" smtClean="0">
                        <a:solidFill>
                          <a:srgbClr val="232323"/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sz="1700" b="1" i="1" smtClean="0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b="1" i="1" smtClean="0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sz="1700" b="1" i="1" smtClean="0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700" b="1" i="0" dirty="0">
                    <a:solidFill>
                      <a:srgbClr val="232323"/>
                    </a:solidFill>
                    <a:latin typeface="Calibri"/>
                  </a:rPr>
                  <a:t>, so welfare already nets out holding costs</a:t>
                </a:r>
              </a:p>
              <a:p>
                <a:pPr>
                  <a:spcAft>
                    <a:spcPts val="1000"/>
                  </a:spcAft>
                </a:pPr>
                <a:r>
                  <a:rPr lang="en-US" sz="1700" b="1" i="0" dirty="0">
                    <a:solidFill>
                      <a:srgbClr val="232323"/>
                    </a:solidFill>
                    <a:latin typeface="Calibri"/>
                  </a:rPr>
                  <a:t>•  The joint policy question: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1" i="1" smtClean="0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1" i="1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  <m:t>𝝓</m:t>
                        </m:r>
                      </m:e>
                      <m:sub>
                        <m:r>
                          <a:rPr lang="en-US" sz="1700" b="1" i="1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US" sz="1700" b="1" i="0" dirty="0">
                    <a:solidFill>
                      <a:srgbClr val="232323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1" i="1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1" i="1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  <m:t>𝝓</m:t>
                        </m:r>
                      </m:e>
                      <m:sub>
                        <m:r>
                          <a:rPr lang="en-US" sz="1700" b="1" i="1" smtClean="0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  <m:t>𝑰𝑸</m:t>
                        </m:r>
                      </m:sub>
                    </m:sSub>
                  </m:oMath>
                </a14:m>
                <a:r>
                  <a:rPr lang="en-US" sz="1700" b="1" i="0" dirty="0">
                    <a:solidFill>
                      <a:srgbClr val="232323"/>
                    </a:solidFill>
                    <a:latin typeface="Calibri"/>
                  </a:rPr>
                  <a:t> and d together, not sequentially</a:t>
                </a:r>
              </a:p>
              <a:p>
                <a:r>
                  <a:rPr lang="en-US" sz="1700" b="0" i="0" dirty="0">
                    <a:solidFill>
                      <a:srgbClr val="232323"/>
                    </a:solidFill>
                    <a:latin typeface="Calibri"/>
                  </a:rPr>
                  <a:t>•  Why joint? The policy levers are strategic complements — the best drawdown rule depends on reserve size, and reserve size depends on the policy rule</a:t>
                </a:r>
                <a:br>
                  <a:rPr lang="en-DE" dirty="0"/>
                </a:br>
                <a:endParaRPr lang="en-DE" dirty="0"/>
              </a:p>
              <a:p>
                <a:pPr marL="0" indent="0">
                  <a:spcAft>
                    <a:spcPts val="1000"/>
                  </a:spcAft>
                </a:pPr>
                <a:endParaRPr sz="1700" b="0" i="0" dirty="0">
                  <a:solidFill>
                    <a:srgbClr val="232323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1554480"/>
                <a:ext cx="11185855" cy="3587521"/>
              </a:xfrm>
              <a:prstGeom prst="rect">
                <a:avLst/>
              </a:prstGeom>
              <a:blipFill>
                <a:blip r:embed="rId3"/>
                <a:stretch>
                  <a:fillRect l="-382" t="-509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2 · 40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Deterministic Crisis Demo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2 — Thu 23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502920" y="1554480"/>
                <a:ext cx="11185855" cy="19374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spcAft>
                    <a:spcPts val="1000"/>
                  </a:spcAft>
                </a:pPr>
                <a:r>
                  <a:rPr lang="pt-PT" sz="1700" b="0" i="0" dirty="0">
                    <a:solidFill>
                      <a:srgbClr val="232323"/>
                    </a:solidFill>
                    <a:latin typeface="Calibri"/>
                  </a:rPr>
                  <a:t>•  Supply disruption demo: 30% disruption, applied to both commodities</a:t>
                </a:r>
              </a:p>
              <a:p>
                <a:pPr marL="0" indent="0">
                  <a:spcAft>
                    <a:spcPts val="1000"/>
                  </a:spcAft>
                </a:pPr>
                <a:r>
                  <a:rPr lang="pt-PT" sz="1700" b="0" i="0" dirty="0">
                    <a:solidFill>
                      <a:srgbClr val="232323"/>
                    </a:solidFill>
                    <a:latin typeface="Calibri"/>
                  </a:rPr>
                  <a:t>•  Compare no drawdown against full drawdown — or the baseline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0" i="1" smtClean="0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1" smtClean="0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1700" b="0" i="1" smtClean="0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1700" b="0" i="1" smtClean="0">
                        <a:solidFill>
                          <a:srgbClr val="232323"/>
                        </a:solidFill>
                        <a:latin typeface="Cambria Math" panose="02040503050406030204" pitchFamily="18" charset="0"/>
                      </a:rPr>
                      <m:t>=0.5 </m:t>
                    </m:r>
                  </m:oMath>
                </a14:m>
                <a:r>
                  <a:rPr lang="pt-PT" sz="1700" b="0" i="0" dirty="0">
                    <a:solidFill>
                      <a:srgbClr val="232323"/>
                    </a:solidFill>
                    <a:latin typeface="Calibri"/>
                  </a:rPr>
                  <a:t>in minimal mode</a:t>
                </a:r>
              </a:p>
              <a:p>
                <a:pPr>
                  <a:spcAft>
                    <a:spcPts val="1000"/>
                  </a:spcAft>
                </a:pPr>
                <a:r>
                  <a:rPr lang="pt-PT" sz="1700" b="0" i="0" dirty="0">
                    <a:solidFill>
                      <a:srgbClr val="232323"/>
                    </a:solidFill>
                    <a:latin typeface="Calibri"/>
                  </a:rPr>
                  <a:t>•  Read the paths for consumption C, energy services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700" i="1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pt-PT" sz="1700" b="0" i="0" dirty="0">
                    <a:solidFill>
                      <a:srgbClr val="232323"/>
                    </a:solidFill>
                    <a:latin typeface="Calibri"/>
                  </a:rPr>
                  <a:t>, reserves, and welfare W</a:t>
                </a:r>
              </a:p>
              <a:p>
                <a:pPr marL="0" indent="0">
                  <a:spcAft>
                    <a:spcPts val="1000"/>
                  </a:spcAft>
                </a:pPr>
                <a:r>
                  <a:rPr lang="pt-PT" sz="1700" b="0" i="0" dirty="0">
                    <a:solidFill>
                      <a:srgbClr val="232323"/>
                    </a:solidFill>
                    <a:latin typeface="Calibri"/>
                  </a:rPr>
                  <a:t>•  Question: how much does the drawdown rule soften the consumption and energy-services drop during the crisis window?</a:t>
                </a:r>
              </a:p>
              <a:p>
                <a:pPr marL="0" indent="0">
                  <a:spcAft>
                    <a:spcPts val="1000"/>
                  </a:spcAft>
                </a:pPr>
                <a:r>
                  <a:rPr lang="pt-PT" sz="1700" b="1" i="0" dirty="0">
                    <a:solidFill>
                      <a:srgbClr val="232323"/>
                    </a:solidFill>
                    <a:latin typeface="Calibri"/>
                  </a:rPr>
                  <a:t>•  Interpretation: the demo is about the policy response path, not a reserve-rule screening exercise</a:t>
                </a:r>
                <a:endParaRPr sz="1700" b="1" i="0" dirty="0">
                  <a:solidFill>
                    <a:srgbClr val="232323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1554480"/>
                <a:ext cx="11185855" cy="1937453"/>
              </a:xfrm>
              <a:prstGeom prst="rect">
                <a:avLst/>
              </a:prstGeom>
              <a:blipFill>
                <a:blip r:embed="rId3"/>
                <a:stretch>
                  <a:fillRect l="-382" t="-943" b="-188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502920" y="5943600"/>
            <a:ext cx="11185855" cy="566928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07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ctr"/>
            <a:r>
              <a:rPr sz="1300" b="0" i="1">
                <a:solidFill>
                  <a:srgbClr val="232323"/>
                </a:solidFill>
                <a:latin typeface="Calibri"/>
              </a:rPr>
              <a:t>This is an exact deterministic path in the toy model, not a DGE-METRIC reserve analysis.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3 · 55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Vietnam Growth Adequacy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2 — Thu 23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13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502920" y="1554480"/>
                <a:ext cx="11185855" cy="19133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pt-PT" sz="1700" b="0" i="0" dirty="0">
                    <a:solidFill>
                      <a:srgbClr val="232323"/>
                    </a:solidFill>
                    <a:latin typeface="Calibri"/>
                  </a:rPr>
                  <a:t>•  Vietnam target growth rate: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700" i="1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1" smtClean="0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1700" b="0" i="1" smtClean="0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ar-AE" sz="1700" i="1">
                        <a:solidFill>
                          <a:srgbClr val="232323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PT" sz="1700" b="0" i="0" dirty="0">
                    <a:solidFill>
                      <a:srgbClr val="232323"/>
                    </a:solidFill>
                    <a:latin typeface="Calibri"/>
                  </a:rPr>
                  <a:t>= 10% p.a. through 2030</a:t>
                </a:r>
              </a:p>
              <a:p>
                <a:pPr marL="0" indent="0">
                  <a:spcAft>
                    <a:spcPts val="1000"/>
                  </a:spcAft>
                </a:pPr>
                <a:r>
                  <a:rPr lang="pt-PT" sz="1700" b="0" i="0" dirty="0">
                    <a:solidFill>
                      <a:srgbClr val="232323"/>
                    </a:solidFill>
                    <a:latin typeface="Calibri"/>
                  </a:rPr>
                  <a:t>•  If reserves are held fixed while GDP and energy demand grow, coverage falls over time</a:t>
                </a:r>
              </a:p>
              <a:p>
                <a:pPr marL="0" indent="0">
                  <a:spcAft>
                    <a:spcPts val="1000"/>
                  </a:spcAft>
                </a:pPr>
                <a:r>
                  <a:rPr lang="pt-PT" sz="1700" b="1" i="0" dirty="0">
                    <a:solidFill>
                      <a:srgbClr val="232323"/>
                    </a:solidFill>
                    <a:latin typeface="Calibri"/>
                  </a:rPr>
                  <a:t>•  Oil SPR coverage today: about 30 days in the calibration; without scaling, coverage falls to about half in roughly 11 years</a:t>
                </a:r>
              </a:p>
              <a:p>
                <a:pPr marL="0" indent="0">
                  <a:spcAft>
                    <a:spcPts val="1000"/>
                  </a:spcAft>
                </a:pPr>
                <a:r>
                  <a:rPr lang="pt-PT" sz="1700" b="0" i="0" dirty="0">
                    <a:solidFill>
                      <a:srgbClr val="232323"/>
                    </a:solidFill>
                    <a:latin typeface="Calibri"/>
                  </a:rPr>
                  <a:t>•  Coal coverage follows the same logic: demand grows with GDP unless the stock scales up</a:t>
                </a:r>
              </a:p>
              <a:p>
                <a:pPr marL="0" indent="0">
                  <a:spcAft>
                    <a:spcPts val="1000"/>
                  </a:spcAft>
                </a:pPr>
                <a:r>
                  <a:rPr lang="pt-PT" sz="1700" b="1" i="0" dirty="0">
                    <a:solidFill>
                      <a:srgbClr val="232323"/>
                    </a:solidFill>
                    <a:latin typeface="Calibri"/>
                  </a:rPr>
                  <a:t>•  Policy lesson: reserve adequacy is a moving target, not a one-time stock number</a:t>
                </a:r>
                <a:endParaRPr sz="1700" b="1" i="0" dirty="0">
                  <a:solidFill>
                    <a:srgbClr val="232323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1554480"/>
                <a:ext cx="11185855" cy="1913344"/>
              </a:xfrm>
              <a:prstGeom prst="rect">
                <a:avLst/>
              </a:prstGeom>
              <a:blipFill>
                <a:blip r:embed="rId3"/>
                <a:stretch>
                  <a:fillRect l="-382" t="-955" b="-318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3 · 55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Energy Master Plan VIII — Coal Phase-Down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2 — Thu 23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502920" y="1554480"/>
                <a:ext cx="11185855" cy="1950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spcAft>
                    <a:spcPts val="1000"/>
                  </a:spcAft>
                </a:pPr>
                <a:r>
                  <a:rPr lang="en-US" sz="1700" b="0" i="0" dirty="0">
                    <a:solidFill>
                      <a:srgbClr val="232323"/>
                    </a:solidFill>
                    <a:latin typeface="Calibri"/>
                  </a:rPr>
                  <a:t>•  Coal imports decline by about 40% over the phase-down horizon; the model runs three variants</a:t>
                </a:r>
              </a:p>
              <a:p>
                <a:pPr marL="0" indent="0">
                  <a:spcAft>
                    <a:spcPts val="1000"/>
                  </a:spcAft>
                </a:pPr>
                <a:r>
                  <a:rPr lang="en-US" sz="1700" b="0" i="0" dirty="0">
                    <a:solidFill>
                      <a:srgbClr val="232323"/>
                    </a:solidFill>
                    <a:latin typeface="Calibri"/>
                  </a:rPr>
                  <a:t>•  A. Phase-down only: no policy response; energy services fall and GDP loses more</a:t>
                </a:r>
              </a:p>
              <a:p>
                <a:pPr marL="0" indent="0">
                  <a:spcAft>
                    <a:spcPts val="1000"/>
                  </a:spcAft>
                </a:pPr>
                <a:r>
                  <a:rPr lang="en-US" sz="1700" b="0" i="0" dirty="0">
                    <a:solidFill>
                      <a:srgbClr val="232323"/>
                    </a:solidFill>
                    <a:latin typeface="Calibri"/>
                  </a:rPr>
                  <a:t>•  B. Phase-down + high investment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0" i="1" smtClean="0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1" smtClean="0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1700" b="0" i="1" smtClean="0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  <m:t>𝐼𝑄</m:t>
                        </m:r>
                      </m:sub>
                    </m:sSub>
                  </m:oMath>
                </a14:m>
                <a:r>
                  <a:rPr lang="en-US" sz="1700" b="0" i="0" dirty="0">
                    <a:solidFill>
                      <a:srgbClr val="232323"/>
                    </a:solidFill>
                    <a:latin typeface="Calibri"/>
                  </a:rPr>
                  <a:t> = 0.08): clean-capacity build-out offsets some losses</a:t>
                </a:r>
              </a:p>
              <a:p>
                <a:pPr>
                  <a:spcAft>
                    <a:spcPts val="1000"/>
                  </a:spcAft>
                </a:pPr>
                <a:r>
                  <a:rPr lang="en-US" sz="1700" b="0" i="0" dirty="0">
                    <a:solidFill>
                      <a:srgbClr val="232323"/>
                    </a:solidFill>
                    <a:latin typeface="Calibri"/>
                  </a:rPr>
                  <a:t>•  C. Phase-down + reserve buffer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1700" b="0" i="1" smtClean="0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1700" i="1">
                        <a:solidFill>
                          <a:srgbClr val="232323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700" b="0" i="0" dirty="0">
                    <a:solidFill>
                      <a:srgbClr val="232323"/>
                    </a:solidFill>
                    <a:latin typeface="Calibri"/>
                  </a:rPr>
                  <a:t>= 1.0): coal reserves smooth the supply gap</a:t>
                </a:r>
              </a:p>
              <a:p>
                <a:pPr marL="0" indent="0">
                  <a:spcAft>
                    <a:spcPts val="1000"/>
                  </a:spcAft>
                </a:pPr>
                <a:r>
                  <a:rPr lang="en-US" sz="1700" b="1" i="0" dirty="0">
                    <a:solidFill>
                      <a:srgbClr val="232323"/>
                    </a:solidFill>
                    <a:latin typeface="Calibri"/>
                  </a:rPr>
                  <a:t>•  Interpretation: reserves, investment, and the transition path are all part of the adjustment package</a:t>
                </a:r>
                <a:endParaRPr sz="1700" b="1" i="0" dirty="0">
                  <a:solidFill>
                    <a:srgbClr val="232323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1554480"/>
                <a:ext cx="11185855" cy="1950277"/>
              </a:xfrm>
              <a:prstGeom prst="rect">
                <a:avLst/>
              </a:prstGeom>
              <a:blipFill>
                <a:blip r:embed="rId3"/>
                <a:stretch>
                  <a:fillRect l="-382" t="-938" b="-218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457200"/>
            <a:ext cx="1656522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6517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FFD2D2"/>
                </a:solidFill>
                <a:latin typeface="Calibri"/>
              </a:rPr>
              <a:t>SHORT BREAK</a:t>
            </a:r>
          </a:p>
          <a:p>
            <a:r>
              <a:rPr sz="3400" b="1" i="0">
                <a:solidFill>
                  <a:srgbClr val="FFFFFF"/>
                </a:solidFill>
                <a:latin typeface="Calibri"/>
              </a:rPr>
              <a:t>15 minutes</a:t>
            </a:r>
          </a:p>
          <a:p>
            <a:pPr>
              <a:spcBef>
                <a:spcPts val="1400"/>
              </a:spcBef>
            </a:pPr>
            <a:r>
              <a:rPr sz="1700" b="0" i="0">
                <a:solidFill>
                  <a:srgbClr val="FFFFFF"/>
                </a:solidFill>
                <a:latin typeface="Calibri"/>
              </a:rPr>
              <a:t>Next: implementation architecture and your plan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4 · 70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Joint Optimal Policy Search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2 — Thu 23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15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502920" y="1554480"/>
                <a:ext cx="11185855" cy="19786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pt-PT" sz="1700" b="0" i="0" dirty="0">
                    <a:solidFill>
                      <a:srgbClr val="232323"/>
                    </a:solidFill>
                    <a:latin typeface="Calibri"/>
                  </a:rPr>
                  <a:t>•  The key computation is a 3D Monte Carlo grid over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0" i="1" smtClean="0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1" smtClean="0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1700" b="0" i="1" smtClean="0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1700" b="0" i="1" smtClean="0">
                        <a:solidFill>
                          <a:srgbClr val="232323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PT" sz="1700" b="0" i="0" dirty="0">
                    <a:solidFill>
                      <a:srgbClr val="232323"/>
                    </a:solidFill>
                    <a:latin typeface="Calibri"/>
                  </a:rPr>
                  <a:t>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1700" b="0" i="1" smtClean="0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  <m:t>𝐼𝑄</m:t>
                        </m:r>
                      </m:sub>
                    </m:sSub>
                    <m:r>
                      <a:rPr lang="en-US" sz="1700" i="1">
                        <a:solidFill>
                          <a:srgbClr val="232323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PT" sz="1700" b="0" i="0" dirty="0">
                    <a:solidFill>
                      <a:srgbClr val="232323"/>
                    </a:solidFill>
                    <a:latin typeface="Calibri"/>
                  </a:rPr>
                  <a:t> ×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700" b="0" i="0" smtClean="0">
                        <a:solidFill>
                          <a:srgbClr val="232323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endParaRPr lang="pt-PT" sz="1700" b="0" i="0" dirty="0">
                  <a:solidFill>
                    <a:srgbClr val="232323"/>
                  </a:solidFill>
                  <a:latin typeface="Calibri"/>
                </a:endParaRPr>
              </a:p>
              <a:p>
                <a:pPr>
                  <a:spcAft>
                    <a:spcPts val="1000"/>
                  </a:spcAft>
                </a:pPr>
                <a:r>
                  <a:rPr lang="pt-PT" sz="1700" b="0" i="0" dirty="0">
                    <a:solidFill>
                      <a:srgbClr val="232323"/>
                    </a:solidFill>
                    <a:latin typeface="Calibri"/>
                  </a:rPr>
                  <a:t>•  The script searches for the joint optimum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700" b="0" i="1" smtClean="0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sz="1700" i="1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ar-AE" sz="1700" i="1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  <m:sup>
                        <m:r>
                          <a:rPr lang="en-US" sz="1700" b="0" i="1" smtClean="0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ar-AE" sz="1700" i="1">
                        <a:solidFill>
                          <a:srgbClr val="232323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PT" sz="1700" b="0" i="0" dirty="0">
                    <a:solidFill>
                      <a:srgbClr val="232323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700" i="1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sz="1700" i="1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1700" b="0" i="1" smtClean="0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  <m:t>𝐼𝑄</m:t>
                        </m:r>
                      </m:sub>
                      <m:sup>
                        <m:r>
                          <a:rPr lang="en-US" sz="1700" i="1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pt-PT" sz="1700" b="0" i="0" dirty="0">
                    <a:solidFill>
                      <a:srgbClr val="232323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b="0" i="1" smtClean="0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b="0" i="1" smtClean="0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sz="1700" b="0" i="1" smtClean="0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pt-PT" sz="1700" b="0" i="0" dirty="0">
                    <a:solidFill>
                      <a:srgbClr val="232323"/>
                    </a:solidFill>
                    <a:latin typeface="Calibri"/>
                  </a:rPr>
                  <a:t>) simultaneously</a:t>
                </a:r>
              </a:p>
              <a:p>
                <a:pPr marL="0" indent="0">
                  <a:spcAft>
                    <a:spcPts val="1000"/>
                  </a:spcAft>
                </a:pPr>
                <a:r>
                  <a:rPr lang="pt-PT" sz="1700" b="1" i="0" dirty="0">
                    <a:solidFill>
                      <a:srgbClr val="232323"/>
                    </a:solidFill>
                    <a:latin typeface="Calibri"/>
                  </a:rPr>
                  <a:t>•  Sequential </a:t>
                </a:r>
                <a:r>
                  <a:rPr lang="pt-PT" sz="1700" b="1" i="0" dirty="0" err="1">
                    <a:solidFill>
                      <a:srgbClr val="232323"/>
                    </a:solidFill>
                    <a:latin typeface="Calibri"/>
                  </a:rPr>
                  <a:t>optimisation</a:t>
                </a:r>
                <a:r>
                  <a:rPr lang="pt-PT" sz="1700" b="1" i="0" dirty="0">
                    <a:solidFill>
                      <a:srgbClr val="232323"/>
                    </a:solidFill>
                    <a:latin typeface="Calibri"/>
                  </a:rPr>
                  <a:t> is inconsistent here because drawdown policy and reserve size are strategic complements</a:t>
                </a:r>
              </a:p>
              <a:p>
                <a:pPr>
                  <a:spcAft>
                    <a:spcPts val="1000"/>
                  </a:spcAft>
                </a:pPr>
                <a:r>
                  <a:rPr lang="pt-PT" sz="1700" b="0" i="0" dirty="0">
                    <a:solidFill>
                      <a:srgbClr val="232323"/>
                    </a:solidFill>
                    <a:latin typeface="Calibri"/>
                  </a:rPr>
                  <a:t>•  The objective is </a:t>
                </a:r>
                <a14:m>
                  <m:oMath xmlns:m="http://schemas.openxmlformats.org/officeDocument/2006/math">
                    <m:r>
                      <a:rPr lang="en-US" sz="1700" b="0" i="1" smtClean="0">
                        <a:solidFill>
                          <a:srgbClr val="232323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1700" b="0" i="1" smtClean="0">
                        <a:solidFill>
                          <a:srgbClr val="232323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700" b="0" i="1" smtClean="0">
                        <a:solidFill>
                          <a:srgbClr val="232323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pt-PT" sz="1700" b="0" i="0" dirty="0">
                    <a:solidFill>
                      <a:srgbClr val="232323"/>
                    </a:solidFill>
                    <a:latin typeface="Calibri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1700" b="0" i="1" smtClean="0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pt-PT" sz="1700" dirty="0">
                    <a:solidFill>
                      <a:srgbClr val="232323"/>
                    </a:solidFill>
                  </a:rPr>
                  <a:t>,</a:t>
                </a:r>
                <a:r>
                  <a:rPr lang="en-US" sz="1700" dirty="0">
                    <a:solidFill>
                      <a:srgbClr val="232323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1700" i="1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  <m:t>𝐼𝑄</m:t>
                        </m:r>
                      </m:sub>
                    </m:sSub>
                  </m:oMath>
                </a14:m>
                <a:r>
                  <a:rPr lang="pt-PT" sz="1700" dirty="0">
                    <a:solidFill>
                      <a:srgbClr val="232323"/>
                    </a:solidFill>
                  </a:rPr>
                  <a:t>,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700" b="0" i="0" smtClean="0">
                        <a:solidFill>
                          <a:srgbClr val="232323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sz="1700" b="0" i="1" smtClean="0">
                        <a:solidFill>
                          <a:srgbClr val="232323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PT" sz="1700" b="0" i="0" dirty="0">
                    <a:solidFill>
                      <a:srgbClr val="232323"/>
                    </a:solidFill>
                    <a:latin typeface="Calibri"/>
                  </a:rPr>
                  <a:t>] — storage costs are already netted out inside the resource constraint</a:t>
                </a:r>
              </a:p>
              <a:p>
                <a:pPr marL="0" indent="0">
                  <a:spcAft>
                    <a:spcPts val="1000"/>
                  </a:spcAft>
                </a:pPr>
                <a:r>
                  <a:rPr lang="pt-PT" sz="1700" b="0" i="0" dirty="0">
                    <a:solidFill>
                      <a:srgbClr val="232323"/>
                    </a:solidFill>
                    <a:latin typeface="Calibri"/>
                  </a:rPr>
                  <a:t>•  The model writes the optimal reserve stocks and policy parameters back into </a:t>
                </a:r>
                <a:r>
                  <a:rPr lang="pt-PT" sz="1700" b="0" i="0" dirty="0" err="1">
                    <a:solidFill>
                      <a:srgbClr val="232323"/>
                    </a:solidFill>
                    <a:latin typeface="Calibri"/>
                  </a:rPr>
                  <a:t>M_.params</a:t>
                </a:r>
                <a:endParaRPr sz="1700" b="0" i="0" dirty="0">
                  <a:solidFill>
                    <a:srgbClr val="232323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1554480"/>
                <a:ext cx="11185855" cy="1978619"/>
              </a:xfrm>
              <a:prstGeom prst="rect">
                <a:avLst/>
              </a:prstGeom>
              <a:blipFill>
                <a:blip r:embed="rId3"/>
                <a:stretch>
                  <a:fillRect l="-382" t="-615" b="-2769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5 · 50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What the Toy Model Teaches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2 — Thu 23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The reserve policy, investment policy, and reserve size should be chosen together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Drawdown rules matter most when the crisis is short and severe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Growth can erode adequacy quickly unless reserve stocks scale with the economy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Transition policy needs both capacity investment and buffer stocks to keep GDP losses down</a:t>
            </a:r>
          </a:p>
          <a:p>
            <a:pPr marL="0" indent="0">
              <a:spcAft>
                <a:spcPts val="1000"/>
              </a:spcAft>
            </a:pPr>
            <a:r>
              <a:rPr sz="1700" b="1" i="0">
                <a:solidFill>
                  <a:srgbClr val="232323"/>
                </a:solidFill>
                <a:latin typeface="Calibri"/>
              </a:rPr>
              <a:t>•  This is an illustrative toy model, but it gives the right logic for thinking about policy trade-offs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5 · 25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Wrap and Preview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2 — Thu 23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17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502920" y="1554480"/>
                <a:ext cx="11185855" cy="1152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pt-PT" sz="1700" b="0" i="0" dirty="0">
                    <a:solidFill>
                      <a:srgbClr val="232323"/>
                    </a:solidFill>
                    <a:latin typeface="Calibri"/>
                  </a:rPr>
                  <a:t>•  You leave with: a clearer picture of how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700" i="1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700" i="1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ar-AE" sz="1700" b="0" i="1" smtClean="0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ar-AE" sz="1700" i="1">
                        <a:solidFill>
                          <a:srgbClr val="232323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PT" sz="1700" b="0" i="0" dirty="0">
                    <a:solidFill>
                      <a:srgbClr val="232323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1700" i="1">
                            <a:solidFill>
                              <a:srgbClr val="232323"/>
                            </a:solidFill>
                            <a:latin typeface="Cambria Math" panose="02040503050406030204" pitchFamily="18" charset="0"/>
                          </a:rPr>
                          <m:t>𝐼𝑄</m:t>
                        </m:r>
                      </m:sub>
                    </m:sSub>
                    <m:r>
                      <a:rPr lang="en-US" sz="1700" i="1">
                        <a:solidFill>
                          <a:srgbClr val="232323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PT" sz="1700" b="0" i="0" dirty="0">
                    <a:solidFill>
                      <a:srgbClr val="232323"/>
                    </a:solidFill>
                    <a:latin typeface="Calibri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700" b="0" i="0" smtClean="0">
                        <a:solidFill>
                          <a:srgbClr val="232323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pt-PT" sz="1700" b="0" i="0" dirty="0">
                    <a:solidFill>
                      <a:srgbClr val="232323"/>
                    </a:solidFill>
                    <a:latin typeface="Calibri"/>
                  </a:rPr>
                  <a:t> interact</a:t>
                </a:r>
              </a:p>
              <a:p>
                <a:pPr marL="0" indent="0">
                  <a:spcAft>
                    <a:spcPts val="1000"/>
                  </a:spcAft>
                </a:pPr>
                <a:r>
                  <a:rPr lang="pt-PT" sz="1700" b="0" i="0" dirty="0">
                    <a:solidFill>
                      <a:srgbClr val="232323"/>
                    </a:solidFill>
                    <a:latin typeface="Calibri"/>
                  </a:rPr>
                  <a:t>•  And with the main caveat: the results come from the toy model's calibration, not DGE-METRIC</a:t>
                </a:r>
              </a:p>
              <a:p>
                <a:pPr marL="0" indent="0">
                  <a:spcAft>
                    <a:spcPts val="1000"/>
                  </a:spcAft>
                </a:pPr>
                <a:r>
                  <a:rPr lang="pt-PT" sz="1700" b="0" i="0" dirty="0">
                    <a:solidFill>
                      <a:srgbClr val="232323"/>
                    </a:solidFill>
                    <a:latin typeface="Calibri"/>
                  </a:rPr>
                  <a:t>•  Preview tomorrow morning's guided lab: compute GDP losses for shortage scenarios using DGE-METRIC outputs</a:t>
                </a:r>
                <a:endParaRPr sz="1700" b="0" i="0" dirty="0">
                  <a:solidFill>
                    <a:srgbClr val="232323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1554480"/>
                <a:ext cx="11185855" cy="1152110"/>
              </a:xfrm>
              <a:prstGeom prst="rect">
                <a:avLst/>
              </a:prstGeom>
              <a:blipFill>
                <a:blip r:embed="rId3"/>
                <a:stretch>
                  <a:fillRect l="-382" t="-1058" b="-6349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1961</Words>
  <Application>Microsoft Office PowerPoint</Application>
  <PresentationFormat>Widescreen</PresentationFormat>
  <Paragraphs>196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Schult, Christoph</cp:lastModifiedBy>
  <cp:revision>11</cp:revision>
  <dcterms:created xsi:type="dcterms:W3CDTF">2013-01-27T09:14:16Z</dcterms:created>
  <dcterms:modified xsi:type="dcterms:W3CDTF">2026-07-19T22:40:36Z</dcterms:modified>
  <cp:category/>
</cp:coreProperties>
</file>