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271FE6-4B8E-48E2-AE91-5F2069705A44}" v="34" dt="2026-07-20T09:27:22.1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96" autoAdjust="0"/>
    <p:restoredTop sz="94660"/>
  </p:normalViewPr>
  <p:slideViewPr>
    <p:cSldViewPr snapToGrid="0" snapToObjects="1">
      <p:cViewPr varScale="1">
        <p:scale>
          <a:sx n="70" d="100"/>
          <a:sy n="70" d="100"/>
        </p:scale>
        <p:origin x="49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o Thi Thu, Ha GIZ VN" userId="cba32c91-3db0-4a1b-948f-9e687dc58334" providerId="ADAL" clId="{BDBB735E-F2D5-4E7A-863F-38FF7370659C}"/>
    <pc:docChg chg="modSld">
      <pc:chgData name="Dao Thi Thu, Ha GIZ VN" userId="cba32c91-3db0-4a1b-948f-9e687dc58334" providerId="ADAL" clId="{BDBB735E-F2D5-4E7A-863F-38FF7370659C}" dt="2026-07-20T09:32:16.112" v="701" actId="20577"/>
      <pc:docMkLst>
        <pc:docMk/>
      </pc:docMkLst>
      <pc:sldChg chg="modSp mod">
        <pc:chgData name="Dao Thi Thu, Ha GIZ VN" userId="cba32c91-3db0-4a1b-948f-9e687dc58334" providerId="ADAL" clId="{BDBB735E-F2D5-4E7A-863F-38FF7370659C}" dt="2026-07-20T08:40:52.243" v="1" actId="255"/>
        <pc:sldMkLst>
          <pc:docMk/>
          <pc:sldMk cId="0" sldId="256"/>
        </pc:sldMkLst>
        <pc:spChg chg="mod">
          <ac:chgData name="Dao Thi Thu, Ha GIZ VN" userId="cba32c91-3db0-4a1b-948f-9e687dc58334" providerId="ADAL" clId="{BDBB735E-F2D5-4E7A-863F-38FF7370659C}" dt="2026-07-20T08:40:52.243" v="1" actId="255"/>
          <ac:spMkLst>
            <pc:docMk/>
            <pc:sldMk cId="0" sldId="256"/>
            <ac:spMk id="5" creationId="{00000000-0000-0000-0000-000000000000}"/>
          </ac:spMkLst>
        </pc:spChg>
      </pc:sldChg>
      <pc:sldChg chg="modSp mod">
        <pc:chgData name="Dao Thi Thu, Ha GIZ VN" userId="cba32c91-3db0-4a1b-948f-9e687dc58334" providerId="ADAL" clId="{BDBB735E-F2D5-4E7A-863F-38FF7370659C}" dt="2026-07-20T08:48:51.998" v="4" actId="948"/>
        <pc:sldMkLst>
          <pc:docMk/>
          <pc:sldMk cId="0" sldId="257"/>
        </pc:sldMkLst>
        <pc:spChg chg="mod">
          <ac:chgData name="Dao Thi Thu, Ha GIZ VN" userId="cba32c91-3db0-4a1b-948f-9e687dc58334" providerId="ADAL" clId="{BDBB735E-F2D5-4E7A-863F-38FF7370659C}" dt="2026-07-20T08:48:51.998" v="4" actId="948"/>
          <ac:spMkLst>
            <pc:docMk/>
            <pc:sldMk cId="0" sldId="257"/>
            <ac:spMk id="4" creationId="{00000000-0000-0000-0000-000000000000}"/>
          </ac:spMkLst>
        </pc:spChg>
      </pc:sldChg>
      <pc:sldChg chg="modSp mod">
        <pc:chgData name="Dao Thi Thu, Ha GIZ VN" userId="cba32c91-3db0-4a1b-948f-9e687dc58334" providerId="ADAL" clId="{BDBB735E-F2D5-4E7A-863F-38FF7370659C}" dt="2026-07-20T09:32:16.112" v="701" actId="20577"/>
        <pc:sldMkLst>
          <pc:docMk/>
          <pc:sldMk cId="0" sldId="258"/>
        </pc:sldMkLst>
        <pc:spChg chg="mod">
          <ac:chgData name="Dao Thi Thu, Ha GIZ VN" userId="cba32c91-3db0-4a1b-948f-9e687dc58334" providerId="ADAL" clId="{BDBB735E-F2D5-4E7A-863F-38FF7370659C}" dt="2026-07-20T08:48:57.730" v="5" actId="14100"/>
          <ac:spMkLst>
            <pc:docMk/>
            <pc:sldMk cId="0" sldId="258"/>
            <ac:spMk id="4" creationId="{00000000-0000-0000-0000-000000000000}"/>
          </ac:spMkLst>
        </pc:spChg>
        <pc:graphicFrameChg chg="mod modGraphic">
          <ac:chgData name="Dao Thi Thu, Ha GIZ VN" userId="cba32c91-3db0-4a1b-948f-9e687dc58334" providerId="ADAL" clId="{BDBB735E-F2D5-4E7A-863F-38FF7370659C}" dt="2026-07-20T09:32:16.112" v="701" actId="20577"/>
          <ac:graphicFrameMkLst>
            <pc:docMk/>
            <pc:sldMk cId="0" sldId="258"/>
            <ac:graphicFrameMk id="9" creationId="{00000000-0000-0000-0000-000000000000}"/>
          </ac:graphicFrameMkLst>
        </pc:graphicFrameChg>
      </pc:sldChg>
      <pc:sldChg chg="modSp mod">
        <pc:chgData name="Dao Thi Thu, Ha GIZ VN" userId="cba32c91-3db0-4a1b-948f-9e687dc58334" providerId="ADAL" clId="{BDBB735E-F2D5-4E7A-863F-38FF7370659C}" dt="2026-07-20T08:51:34.933" v="95" actId="14100"/>
        <pc:sldMkLst>
          <pc:docMk/>
          <pc:sldMk cId="0" sldId="259"/>
        </pc:sldMkLst>
        <pc:spChg chg="mod">
          <ac:chgData name="Dao Thi Thu, Ha GIZ VN" userId="cba32c91-3db0-4a1b-948f-9e687dc58334" providerId="ADAL" clId="{BDBB735E-F2D5-4E7A-863F-38FF7370659C}" dt="2026-07-20T08:51:34.933" v="95" actId="14100"/>
          <ac:spMkLst>
            <pc:docMk/>
            <pc:sldMk cId="0" sldId="259"/>
            <ac:spMk id="9" creationId="{00000000-0000-0000-0000-000000000000}"/>
          </ac:spMkLst>
        </pc:spChg>
      </pc:sldChg>
      <pc:sldChg chg="modSp mod">
        <pc:chgData name="Dao Thi Thu, Ha GIZ VN" userId="cba32c91-3db0-4a1b-948f-9e687dc58334" providerId="ADAL" clId="{BDBB735E-F2D5-4E7A-863F-38FF7370659C}" dt="2026-07-20T08:59:06.368" v="286" actId="14100"/>
        <pc:sldMkLst>
          <pc:docMk/>
          <pc:sldMk cId="0" sldId="260"/>
        </pc:sldMkLst>
        <pc:spChg chg="mod">
          <ac:chgData name="Dao Thi Thu, Ha GIZ VN" userId="cba32c91-3db0-4a1b-948f-9e687dc58334" providerId="ADAL" clId="{BDBB735E-F2D5-4E7A-863F-38FF7370659C}" dt="2026-07-20T08:59:06.368" v="286" actId="14100"/>
          <ac:spMkLst>
            <pc:docMk/>
            <pc:sldMk cId="0" sldId="260"/>
            <ac:spMk id="9" creationId="{00000000-0000-0000-0000-000000000000}"/>
          </ac:spMkLst>
        </pc:spChg>
      </pc:sldChg>
      <pc:sldChg chg="modSp mod">
        <pc:chgData name="Dao Thi Thu, Ha GIZ VN" userId="cba32c91-3db0-4a1b-948f-9e687dc58334" providerId="ADAL" clId="{BDBB735E-F2D5-4E7A-863F-38FF7370659C}" dt="2026-07-20T08:59:59.253" v="287" actId="14100"/>
        <pc:sldMkLst>
          <pc:docMk/>
          <pc:sldMk cId="0" sldId="261"/>
        </pc:sldMkLst>
        <pc:spChg chg="mod">
          <ac:chgData name="Dao Thi Thu, Ha GIZ VN" userId="cba32c91-3db0-4a1b-948f-9e687dc58334" providerId="ADAL" clId="{BDBB735E-F2D5-4E7A-863F-38FF7370659C}" dt="2026-07-20T08:59:59.253" v="287" actId="14100"/>
          <ac:spMkLst>
            <pc:docMk/>
            <pc:sldMk cId="0" sldId="261"/>
            <ac:spMk id="9" creationId="{00000000-0000-0000-0000-000000000000}"/>
          </ac:spMkLst>
        </pc:spChg>
      </pc:sldChg>
      <pc:sldChg chg="modSp mod">
        <pc:chgData name="Dao Thi Thu, Ha GIZ VN" userId="cba32c91-3db0-4a1b-948f-9e687dc58334" providerId="ADAL" clId="{BDBB735E-F2D5-4E7A-863F-38FF7370659C}" dt="2026-07-20T09:14:26.507" v="319" actId="1076"/>
        <pc:sldMkLst>
          <pc:docMk/>
          <pc:sldMk cId="0" sldId="263"/>
        </pc:sldMkLst>
        <pc:spChg chg="mod">
          <ac:chgData name="Dao Thi Thu, Ha GIZ VN" userId="cba32c91-3db0-4a1b-948f-9e687dc58334" providerId="ADAL" clId="{BDBB735E-F2D5-4E7A-863F-38FF7370659C}" dt="2026-07-20T09:14:26.507" v="319" actId="1076"/>
          <ac:spMkLst>
            <pc:docMk/>
            <pc:sldMk cId="0" sldId="263"/>
            <ac:spMk id="4" creationId="{00000000-0000-0000-0000-000000000000}"/>
          </ac:spMkLst>
        </pc:spChg>
        <pc:spChg chg="mod">
          <ac:chgData name="Dao Thi Thu, Ha GIZ VN" userId="cba32c91-3db0-4a1b-948f-9e687dc58334" providerId="ADAL" clId="{BDBB735E-F2D5-4E7A-863F-38FF7370659C}" dt="2026-07-20T09:14:00.157" v="317" actId="14100"/>
          <ac:spMkLst>
            <pc:docMk/>
            <pc:sldMk cId="0" sldId="263"/>
            <ac:spMk id="10" creationId="{00000000-0000-0000-0000-000000000000}"/>
          </ac:spMkLst>
        </pc:spChg>
        <pc:spChg chg="mod">
          <ac:chgData name="Dao Thi Thu, Ha GIZ VN" userId="cba32c91-3db0-4a1b-948f-9e687dc58334" providerId="ADAL" clId="{BDBB735E-F2D5-4E7A-863F-38FF7370659C}" dt="2026-07-20T09:14:17.495" v="318" actId="14100"/>
          <ac:spMkLst>
            <pc:docMk/>
            <pc:sldMk cId="0" sldId="263"/>
            <ac:spMk id="12" creationId="{00000000-0000-0000-0000-000000000000}"/>
          </ac:spMkLst>
        </pc:spChg>
      </pc:sldChg>
      <pc:sldChg chg="modSp mod">
        <pc:chgData name="Dao Thi Thu, Ha GIZ VN" userId="cba32c91-3db0-4a1b-948f-9e687dc58334" providerId="ADAL" clId="{BDBB735E-F2D5-4E7A-863F-38FF7370659C}" dt="2026-07-20T09:17:00.653" v="453" actId="20577"/>
        <pc:sldMkLst>
          <pc:docMk/>
          <pc:sldMk cId="0" sldId="264"/>
        </pc:sldMkLst>
        <pc:spChg chg="mod">
          <ac:chgData name="Dao Thi Thu, Ha GIZ VN" userId="cba32c91-3db0-4a1b-948f-9e687dc58334" providerId="ADAL" clId="{BDBB735E-F2D5-4E7A-863F-38FF7370659C}" dt="2026-07-20T09:17:00.653" v="453" actId="20577"/>
          <ac:spMkLst>
            <pc:docMk/>
            <pc:sldMk cId="0" sldId="264"/>
            <ac:spMk id="9" creationId="{00000000-0000-0000-0000-000000000000}"/>
          </ac:spMkLst>
        </pc:spChg>
      </pc:sldChg>
      <pc:sldChg chg="modSp mod">
        <pc:chgData name="Dao Thi Thu, Ha GIZ VN" userId="cba32c91-3db0-4a1b-948f-9e687dc58334" providerId="ADAL" clId="{BDBB735E-F2D5-4E7A-863F-38FF7370659C}" dt="2026-07-20T09:19:50.504" v="526" actId="14100"/>
        <pc:sldMkLst>
          <pc:docMk/>
          <pc:sldMk cId="0" sldId="265"/>
        </pc:sldMkLst>
        <pc:spChg chg="mod">
          <ac:chgData name="Dao Thi Thu, Ha GIZ VN" userId="cba32c91-3db0-4a1b-948f-9e687dc58334" providerId="ADAL" clId="{BDBB735E-F2D5-4E7A-863F-38FF7370659C}" dt="2026-07-20T09:19:50.504" v="526" actId="14100"/>
          <ac:spMkLst>
            <pc:docMk/>
            <pc:sldMk cId="0" sldId="265"/>
            <ac:spMk id="9" creationId="{00000000-0000-0000-0000-000000000000}"/>
          </ac:spMkLst>
        </pc:spChg>
      </pc:sldChg>
      <pc:sldChg chg="modSp mod">
        <pc:chgData name="Dao Thi Thu, Ha GIZ VN" userId="cba32c91-3db0-4a1b-948f-9e687dc58334" providerId="ADAL" clId="{BDBB735E-F2D5-4E7A-863F-38FF7370659C}" dt="2026-07-20T09:20:05.563" v="527" actId="14100"/>
        <pc:sldMkLst>
          <pc:docMk/>
          <pc:sldMk cId="0" sldId="266"/>
        </pc:sldMkLst>
        <pc:spChg chg="mod">
          <ac:chgData name="Dao Thi Thu, Ha GIZ VN" userId="cba32c91-3db0-4a1b-948f-9e687dc58334" providerId="ADAL" clId="{BDBB735E-F2D5-4E7A-863F-38FF7370659C}" dt="2026-07-20T09:20:05.563" v="527" actId="14100"/>
          <ac:spMkLst>
            <pc:docMk/>
            <pc:sldMk cId="0" sldId="266"/>
            <ac:spMk id="4" creationId="{00000000-0000-0000-0000-000000000000}"/>
          </ac:spMkLst>
        </pc:spChg>
      </pc:sldChg>
      <pc:sldChg chg="modSp mod">
        <pc:chgData name="Dao Thi Thu, Ha GIZ VN" userId="cba32c91-3db0-4a1b-948f-9e687dc58334" providerId="ADAL" clId="{BDBB735E-F2D5-4E7A-863F-38FF7370659C}" dt="2026-07-20T09:20:49.724" v="554" actId="14734"/>
        <pc:sldMkLst>
          <pc:docMk/>
          <pc:sldMk cId="0" sldId="267"/>
        </pc:sldMkLst>
        <pc:spChg chg="mod">
          <ac:chgData name="Dao Thi Thu, Ha GIZ VN" userId="cba32c91-3db0-4a1b-948f-9e687dc58334" providerId="ADAL" clId="{BDBB735E-F2D5-4E7A-863F-38FF7370659C}" dt="2026-07-20T09:20:19.297" v="528" actId="14100"/>
          <ac:spMkLst>
            <pc:docMk/>
            <pc:sldMk cId="0" sldId="267"/>
            <ac:spMk id="4" creationId="{00000000-0000-0000-0000-000000000000}"/>
          </ac:spMkLst>
        </pc:spChg>
        <pc:graphicFrameChg chg="mod modGraphic">
          <ac:chgData name="Dao Thi Thu, Ha GIZ VN" userId="cba32c91-3db0-4a1b-948f-9e687dc58334" providerId="ADAL" clId="{BDBB735E-F2D5-4E7A-863F-38FF7370659C}" dt="2026-07-20T09:20:49.724" v="554" actId="14734"/>
          <ac:graphicFrameMkLst>
            <pc:docMk/>
            <pc:sldMk cId="0" sldId="267"/>
            <ac:graphicFrameMk id="9" creationId="{00000000-0000-0000-0000-000000000000}"/>
          </ac:graphicFrameMkLst>
        </pc:graphicFrameChg>
      </pc:sldChg>
      <pc:sldChg chg="modSp mod">
        <pc:chgData name="Dao Thi Thu, Ha GIZ VN" userId="cba32c91-3db0-4a1b-948f-9e687dc58334" providerId="ADAL" clId="{BDBB735E-F2D5-4E7A-863F-38FF7370659C}" dt="2026-07-20T09:21:14.984" v="556" actId="14100"/>
        <pc:sldMkLst>
          <pc:docMk/>
          <pc:sldMk cId="0" sldId="268"/>
        </pc:sldMkLst>
        <pc:spChg chg="mod">
          <ac:chgData name="Dao Thi Thu, Ha GIZ VN" userId="cba32c91-3db0-4a1b-948f-9e687dc58334" providerId="ADAL" clId="{BDBB735E-F2D5-4E7A-863F-38FF7370659C}" dt="2026-07-20T09:21:09.171" v="555" actId="20577"/>
          <ac:spMkLst>
            <pc:docMk/>
            <pc:sldMk cId="0" sldId="268"/>
            <ac:spMk id="4" creationId="{00000000-0000-0000-0000-000000000000}"/>
          </ac:spMkLst>
        </pc:spChg>
        <pc:spChg chg="mod">
          <ac:chgData name="Dao Thi Thu, Ha GIZ VN" userId="cba32c91-3db0-4a1b-948f-9e687dc58334" providerId="ADAL" clId="{BDBB735E-F2D5-4E7A-863F-38FF7370659C}" dt="2026-07-20T09:21:14.984" v="556" actId="14100"/>
          <ac:spMkLst>
            <pc:docMk/>
            <pc:sldMk cId="0" sldId="268"/>
            <ac:spMk id="10" creationId="{00000000-0000-0000-0000-000000000000}"/>
          </ac:spMkLst>
        </pc:spChg>
      </pc:sldChg>
      <pc:sldChg chg="modSp mod">
        <pc:chgData name="Dao Thi Thu, Ha GIZ VN" userId="cba32c91-3db0-4a1b-948f-9e687dc58334" providerId="ADAL" clId="{BDBB735E-F2D5-4E7A-863F-38FF7370659C}" dt="2026-07-20T09:21:47.562" v="562" actId="14100"/>
        <pc:sldMkLst>
          <pc:docMk/>
          <pc:sldMk cId="0" sldId="269"/>
        </pc:sldMkLst>
        <pc:spChg chg="mod">
          <ac:chgData name="Dao Thi Thu, Ha GIZ VN" userId="cba32c91-3db0-4a1b-948f-9e687dc58334" providerId="ADAL" clId="{BDBB735E-F2D5-4E7A-863F-38FF7370659C}" dt="2026-07-20T09:21:47.562" v="562" actId="14100"/>
          <ac:spMkLst>
            <pc:docMk/>
            <pc:sldMk cId="0" sldId="269"/>
            <ac:spMk id="9" creationId="{00000000-0000-0000-0000-000000000000}"/>
          </ac:spMkLst>
        </pc:spChg>
      </pc:sldChg>
      <pc:sldChg chg="modSp mod">
        <pc:chgData name="Dao Thi Thu, Ha GIZ VN" userId="cba32c91-3db0-4a1b-948f-9e687dc58334" providerId="ADAL" clId="{BDBB735E-F2D5-4E7A-863F-38FF7370659C}" dt="2026-07-20T09:22:39.715" v="563" actId="14100"/>
        <pc:sldMkLst>
          <pc:docMk/>
          <pc:sldMk cId="0" sldId="271"/>
        </pc:sldMkLst>
        <pc:spChg chg="mod">
          <ac:chgData name="Dao Thi Thu, Ha GIZ VN" userId="cba32c91-3db0-4a1b-948f-9e687dc58334" providerId="ADAL" clId="{BDBB735E-F2D5-4E7A-863F-38FF7370659C}" dt="2026-07-20T09:22:39.715" v="563" actId="14100"/>
          <ac:spMkLst>
            <pc:docMk/>
            <pc:sldMk cId="0" sldId="271"/>
            <ac:spMk id="4" creationId="{00000000-0000-0000-0000-000000000000}"/>
          </ac:spMkLst>
        </pc:spChg>
      </pc:sldChg>
      <pc:sldChg chg="modSp mod">
        <pc:chgData name="Dao Thi Thu, Ha GIZ VN" userId="cba32c91-3db0-4a1b-948f-9e687dc58334" providerId="ADAL" clId="{BDBB735E-F2D5-4E7A-863F-38FF7370659C}" dt="2026-07-20T09:27:39.883" v="589" actId="20577"/>
        <pc:sldMkLst>
          <pc:docMk/>
          <pc:sldMk cId="0" sldId="272"/>
        </pc:sldMkLst>
        <pc:spChg chg="mod">
          <ac:chgData name="Dao Thi Thu, Ha GIZ VN" userId="cba32c91-3db0-4a1b-948f-9e687dc58334" providerId="ADAL" clId="{BDBB735E-F2D5-4E7A-863F-38FF7370659C}" dt="2026-07-20T09:27:39.883" v="589" actId="20577"/>
          <ac:spMkLst>
            <pc:docMk/>
            <pc:sldMk cId="0" sldId="272"/>
            <ac:spMk id="9" creationId="{00000000-0000-0000-0000-000000000000}"/>
          </ac:spMkLst>
        </pc:spChg>
      </pc:sldChg>
      <pc:sldChg chg="modSp mod">
        <pc:chgData name="Dao Thi Thu, Ha GIZ VN" userId="cba32c91-3db0-4a1b-948f-9e687dc58334" providerId="ADAL" clId="{BDBB735E-F2D5-4E7A-863F-38FF7370659C}" dt="2026-07-20T09:29:10.793" v="610" actId="14100"/>
        <pc:sldMkLst>
          <pc:docMk/>
          <pc:sldMk cId="0" sldId="276"/>
        </pc:sldMkLst>
        <pc:spChg chg="mod">
          <ac:chgData name="Dao Thi Thu, Ha GIZ VN" userId="cba32c91-3db0-4a1b-948f-9e687dc58334" providerId="ADAL" clId="{BDBB735E-F2D5-4E7A-863F-38FF7370659C}" dt="2026-07-20T09:29:10.793" v="610" actId="14100"/>
          <ac:spMkLst>
            <pc:docMk/>
            <pc:sldMk cId="0" sldId="276"/>
            <ac:spMk id="9" creationId="{00000000-0000-0000-0000-000000000000}"/>
          </ac:spMkLst>
        </pc:spChg>
      </pc:sldChg>
    </pc:docChg>
  </pc:docChgLst>
  <pc:docChgLst>
    <pc:chgData name="Schult, Christoph" userId="S::christoph.schult_iwh-halle.de#ext#@gizonline.onmicrosoft.com::f0ab8cfa-b183-4bbf-bcdd-018b06fa6b4f" providerId="AD" clId="Web-{8DA54ED4-F15C-35DF-533B-611C4529DCD2}"/>
    <pc:docChg chg="modSld">
      <pc:chgData name="Schult, Christoph" userId="S::christoph.schult_iwh-halle.de#ext#@gizonline.onmicrosoft.com::f0ab8cfa-b183-4bbf-bcdd-018b06fa6b4f" providerId="AD" clId="Web-{8DA54ED4-F15C-35DF-533B-611C4529DCD2}" dt="2026-07-19T22:46:07.798" v="0" actId="1076"/>
      <pc:docMkLst>
        <pc:docMk/>
      </pc:docMkLst>
      <pc:sldChg chg="modSp">
        <pc:chgData name="Schult, Christoph" userId="S::christoph.schult_iwh-halle.de#ext#@gizonline.onmicrosoft.com::f0ab8cfa-b183-4bbf-bcdd-018b06fa6b4f" providerId="AD" clId="Web-{8DA54ED4-F15C-35DF-533B-611C4529DCD2}" dt="2026-07-19T22:46:07.798" v="0" actId="1076"/>
        <pc:sldMkLst>
          <pc:docMk/>
          <pc:sldMk cId="0" sldId="261"/>
        </pc:sldMkLst>
        <pc:spChg chg="mod">
          <ac:chgData name="Schult, Christoph" userId="S::christoph.schult_iwh-halle.de#ext#@gizonline.onmicrosoft.com::f0ab8cfa-b183-4bbf-bcdd-018b06fa6b4f" providerId="AD" clId="Web-{8DA54ED4-F15C-35DF-533B-611C4529DCD2}" dt="2026-07-19T22:46:07.798" v="0" actId="1076"/>
          <ac:spMkLst>
            <pc:docMk/>
            <pc:sldMk cId="0" sldId="261"/>
            <ac:spMk id="9" creationId="{00000000-0000-0000-0000-000000000000}"/>
          </ac:spMkLst>
        </pc:spChg>
      </pc:sldChg>
    </pc:docChg>
  </pc:docChgLst>
  <pc:docChgLst>
    <pc:chgData name="Mai Thi, Xuyen GIZ VN" userId="af4fe381-f395-4043-a6db-95ca2e2248da" providerId="ADAL" clId="{BEE46BFC-B7DC-4160-9B1E-BAE908C2B53A}"/>
    <pc:docChg chg="modSld">
      <pc:chgData name="Mai Thi, Xuyen GIZ VN" userId="af4fe381-f395-4043-a6db-95ca2e2248da" providerId="ADAL" clId="{BEE46BFC-B7DC-4160-9B1E-BAE908C2B53A}" dt="2026-07-21T04:26:36.219" v="135" actId="20577"/>
      <pc:docMkLst>
        <pc:docMk/>
      </pc:docMkLst>
      <pc:sldChg chg="modSp mod">
        <pc:chgData name="Mai Thi, Xuyen GIZ VN" userId="af4fe381-f395-4043-a6db-95ca2e2248da" providerId="ADAL" clId="{BEE46BFC-B7DC-4160-9B1E-BAE908C2B53A}" dt="2026-07-21T04:13:32.432" v="28" actId="20577"/>
        <pc:sldMkLst>
          <pc:docMk/>
          <pc:sldMk cId="0" sldId="258"/>
        </pc:sldMkLst>
        <pc:graphicFrameChg chg="modGraphic">
          <ac:chgData name="Mai Thi, Xuyen GIZ VN" userId="af4fe381-f395-4043-a6db-95ca2e2248da" providerId="ADAL" clId="{BEE46BFC-B7DC-4160-9B1E-BAE908C2B53A}" dt="2026-07-21T04:13:32.432" v="28" actId="20577"/>
          <ac:graphicFrameMkLst>
            <pc:docMk/>
            <pc:sldMk cId="0" sldId="258"/>
            <ac:graphicFrameMk id="9" creationId="{00000000-0000-0000-0000-000000000000}"/>
          </ac:graphicFrameMkLst>
        </pc:graphicFrameChg>
      </pc:sldChg>
      <pc:sldChg chg="modSp mod">
        <pc:chgData name="Mai Thi, Xuyen GIZ VN" userId="af4fe381-f395-4043-a6db-95ca2e2248da" providerId="ADAL" clId="{BEE46BFC-B7DC-4160-9B1E-BAE908C2B53A}" dt="2026-07-21T04:13:52.957" v="38" actId="20577"/>
        <pc:sldMkLst>
          <pc:docMk/>
          <pc:sldMk cId="0" sldId="260"/>
        </pc:sldMkLst>
        <pc:spChg chg="mod">
          <ac:chgData name="Mai Thi, Xuyen GIZ VN" userId="af4fe381-f395-4043-a6db-95ca2e2248da" providerId="ADAL" clId="{BEE46BFC-B7DC-4160-9B1E-BAE908C2B53A}" dt="2026-07-21T04:13:52.957" v="38" actId="20577"/>
          <ac:spMkLst>
            <pc:docMk/>
            <pc:sldMk cId="0" sldId="260"/>
            <ac:spMk id="9" creationId="{00000000-0000-0000-0000-000000000000}"/>
          </ac:spMkLst>
        </pc:spChg>
      </pc:sldChg>
      <pc:sldChg chg="modSp mod">
        <pc:chgData name="Mai Thi, Xuyen GIZ VN" userId="af4fe381-f395-4043-a6db-95ca2e2248da" providerId="ADAL" clId="{BEE46BFC-B7DC-4160-9B1E-BAE908C2B53A}" dt="2026-07-21T04:14:29.248" v="69" actId="20577"/>
        <pc:sldMkLst>
          <pc:docMk/>
          <pc:sldMk cId="0" sldId="261"/>
        </pc:sldMkLst>
        <pc:spChg chg="mod">
          <ac:chgData name="Mai Thi, Xuyen GIZ VN" userId="af4fe381-f395-4043-a6db-95ca2e2248da" providerId="ADAL" clId="{BEE46BFC-B7DC-4160-9B1E-BAE908C2B53A}" dt="2026-07-21T04:14:29.248" v="69" actId="20577"/>
          <ac:spMkLst>
            <pc:docMk/>
            <pc:sldMk cId="0" sldId="261"/>
            <ac:spMk id="9" creationId="{00000000-0000-0000-0000-000000000000}"/>
          </ac:spMkLst>
        </pc:spChg>
      </pc:sldChg>
      <pc:sldChg chg="modSp mod">
        <pc:chgData name="Mai Thi, Xuyen GIZ VN" userId="af4fe381-f395-4043-a6db-95ca2e2248da" providerId="ADAL" clId="{BEE46BFC-B7DC-4160-9B1E-BAE908C2B53A}" dt="2026-07-21T04:26:36.219" v="135" actId="20577"/>
        <pc:sldMkLst>
          <pc:docMk/>
          <pc:sldMk cId="0" sldId="264"/>
        </pc:sldMkLst>
        <pc:spChg chg="mod">
          <ac:chgData name="Mai Thi, Xuyen GIZ VN" userId="af4fe381-f395-4043-a6db-95ca2e2248da" providerId="ADAL" clId="{BEE46BFC-B7DC-4160-9B1E-BAE908C2B53A}" dt="2026-07-21T04:26:36.219" v="135" actId="20577"/>
          <ac:spMkLst>
            <pc:docMk/>
            <pc:sldMk cId="0" sldId="264"/>
            <ac:spMk id="9" creationId="{00000000-0000-0000-0000-000000000000}"/>
          </ac:spMkLst>
        </pc:spChg>
      </pc:sldChg>
      <pc:sldChg chg="modSp mod">
        <pc:chgData name="Mai Thi, Xuyen GIZ VN" userId="af4fe381-f395-4043-a6db-95ca2e2248da" providerId="ADAL" clId="{BEE46BFC-B7DC-4160-9B1E-BAE908C2B53A}" dt="2026-07-21T04:15:24.609" v="117" actId="20577"/>
        <pc:sldMkLst>
          <pc:docMk/>
          <pc:sldMk cId="0" sldId="265"/>
        </pc:sldMkLst>
        <pc:spChg chg="mod">
          <ac:chgData name="Mai Thi, Xuyen GIZ VN" userId="af4fe381-f395-4043-a6db-95ca2e2248da" providerId="ADAL" clId="{BEE46BFC-B7DC-4160-9B1E-BAE908C2B53A}" dt="2026-07-21T04:15:24.609" v="117" actId="20577"/>
          <ac:spMkLst>
            <pc:docMk/>
            <pc:sldMk cId="0" sldId="265"/>
            <ac:spMk id="9" creationId="{00000000-0000-0000-0000-000000000000}"/>
          </ac:spMkLst>
        </pc:spChg>
      </pc:sldChg>
      <pc:sldChg chg="modSp mod">
        <pc:chgData name="Mai Thi, Xuyen GIZ VN" userId="af4fe381-f395-4043-a6db-95ca2e2248da" providerId="ADAL" clId="{BEE46BFC-B7DC-4160-9B1E-BAE908C2B53A}" dt="2026-07-21T04:16:45.622" v="118" actId="1076"/>
        <pc:sldMkLst>
          <pc:docMk/>
          <pc:sldMk cId="0" sldId="270"/>
        </pc:sldMkLst>
        <pc:spChg chg="mod">
          <ac:chgData name="Mai Thi, Xuyen GIZ VN" userId="af4fe381-f395-4043-a6db-95ca2e2248da" providerId="ADAL" clId="{BEE46BFC-B7DC-4160-9B1E-BAE908C2B53A}" dt="2026-07-21T04:16:45.622" v="118" actId="1076"/>
          <ac:spMkLst>
            <pc:docMk/>
            <pc:sldMk cId="0" sldId="270"/>
            <ac:spMk id="10"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56032"/>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GIZ_Logo.png"/>
          <p:cNvPicPr>
            <a:picLocks noChangeAspect="1"/>
          </p:cNvPicPr>
          <p:nvPr/>
        </p:nvPicPr>
        <p:blipFill>
          <a:blip r:embed="rId2"/>
          <a:stretch>
            <a:fillRect/>
          </a:stretch>
        </p:blipFill>
        <p:spPr>
          <a:xfrm>
            <a:off x="548640" y="502920"/>
            <a:ext cx="2054087" cy="566928"/>
          </a:xfrm>
          <a:prstGeom prst="rect">
            <a:avLst/>
          </a:prstGeom>
        </p:spPr>
      </p:pic>
      <p:sp>
        <p:nvSpPr>
          <p:cNvPr id="5" name="TextBox 4"/>
          <p:cNvSpPr txBox="1"/>
          <p:nvPr/>
        </p:nvSpPr>
        <p:spPr>
          <a:xfrm>
            <a:off x="822960" y="2286000"/>
            <a:ext cx="10515600" cy="1502976"/>
          </a:xfrm>
          <a:prstGeom prst="rect">
            <a:avLst/>
          </a:prstGeom>
          <a:noFill/>
        </p:spPr>
        <p:txBody>
          <a:bodyPr wrap="square">
            <a:spAutoFit/>
          </a:bodyPr>
          <a:lstStyle/>
          <a:p>
            <a:pPr>
              <a:spcAft>
                <a:spcPts val="1400"/>
              </a:spcAft>
            </a:pPr>
            <a:r>
              <a:rPr lang="vi-VN" sz="3600" b="1" i="0" dirty="0">
                <a:solidFill>
                  <a:srgbClr val="232323"/>
                </a:solidFill>
                <a:latin typeface="Arial"/>
              </a:rPr>
              <a:t>Chương trình đào tạo trực tuyến DGE-METRIC</a:t>
            </a:r>
          </a:p>
          <a:p>
            <a:pPr algn="just"/>
            <a:r>
              <a:rPr lang="vi-VN" sz="2200" b="0" i="0" dirty="0">
                <a:solidFill>
                  <a:srgbClr val="CC071E"/>
                </a:solidFill>
                <a:latin typeface="Arial"/>
              </a:rPr>
              <a:t>Ngày 2 </a:t>
            </a:r>
            <a:r>
              <a:rPr lang="en-US" sz="2200" b="0" i="0" dirty="0">
                <a:solidFill>
                  <a:srgbClr val="CC071E"/>
                </a:solidFill>
                <a:latin typeface="Arial"/>
              </a:rPr>
              <a:t>-</a:t>
            </a:r>
            <a:r>
              <a:rPr lang="vi-VN" sz="2200" b="0" i="0" dirty="0">
                <a:solidFill>
                  <a:srgbClr val="CC071E"/>
                </a:solidFill>
                <a:latin typeface="Arial"/>
              </a:rPr>
              <a:t> Thực hành hiệu chỉnh mô hình &amp; xây dựng kịch bản, Mô hình thu gọn SOE MC: Khủng hoảng, tăng trưởng và tìm kiếm phương án phối hợp chính sách</a:t>
            </a:r>
          </a:p>
        </p:txBody>
      </p:sp>
      <p:sp>
        <p:nvSpPr>
          <p:cNvPr id="6" name="Rectangle 5"/>
          <p:cNvSpPr/>
          <p:nvPr/>
        </p:nvSpPr>
        <p:spPr>
          <a:xfrm>
            <a:off x="868680" y="4709160"/>
            <a:ext cx="3840480" cy="381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4892040"/>
            <a:ext cx="10058400" cy="1463040"/>
          </a:xfrm>
          <a:prstGeom prst="rect">
            <a:avLst/>
          </a:prstGeom>
          <a:noFill/>
        </p:spPr>
        <p:txBody>
          <a:bodyPr wrap="square">
            <a:spAutoFit/>
          </a:bodyPr>
          <a:lstStyle/>
          <a:p>
            <a:pPr>
              <a:spcAft>
                <a:spcPts val="400"/>
              </a:spcAft>
            </a:pPr>
            <a:r>
              <a:rPr lang="vi-VN" sz="1500" b="0" i="0">
                <a:solidFill>
                  <a:srgbClr val="787878"/>
                </a:solidFill>
                <a:latin typeface="Arial"/>
              </a:rPr>
              <a:t>Thứ Năm, ngày 23 tháng 7 năm 2026 · Sáng + Chiều · 150 phút + 240 phút</a:t>
            </a:r>
          </a:p>
          <a:p>
            <a:pPr>
              <a:spcAft>
                <a:spcPts val="400"/>
              </a:spcAft>
            </a:pPr>
            <a:r>
              <a:rPr lang="vi-VN" sz="1500" b="0" i="0">
                <a:solidFill>
                  <a:srgbClr val="787878"/>
                </a:solidFill>
                <a:latin typeface="Arial"/>
              </a:rPr>
              <a:t>GIZ Việt Nam | Chương trình đào tạo DGE-METRIC | Mô-đun trực tuyến</a:t>
            </a:r>
          </a:p>
          <a:p>
            <a:pPr>
              <a:spcAft>
                <a:spcPts val="400"/>
              </a:spcAft>
            </a:pPr>
            <a:r>
              <a:rPr lang="vi-VN" sz="1500" b="0" i="0">
                <a:solidFill>
                  <a:srgbClr val="787878"/>
                </a:solidFill>
                <a:latin typeface="Arial"/>
              </a:rPr>
              <a:t>Đây là Ngày đào tạo thứ 4 trong toàn bộ khóa học, được giảng dạy theo hình thức trực tuyến.</a:t>
            </a:r>
          </a:p>
        </p:txBody>
      </p:sp>
      <p:sp>
        <p:nvSpPr>
          <p:cNvPr id="8" name="Rectangle 7"/>
          <p:cNvSpPr/>
          <p:nvPr/>
        </p:nvSpPr>
        <p:spPr>
          <a:xfrm>
            <a:off x="0" y="6601968"/>
            <a:ext cx="12191695" cy="256032"/>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GIZ_Logo.png"/>
          <p:cNvPicPr>
            <a:picLocks noChangeAspect="1"/>
          </p:cNvPicPr>
          <p:nvPr/>
        </p:nvPicPr>
        <p:blipFill>
          <a:blip r:embed="rId2"/>
          <a:stretch>
            <a:fillRect/>
          </a:stretch>
        </p:blipFill>
        <p:spPr>
          <a:xfrm>
            <a:off x="10088575" y="457200"/>
            <a:ext cx="1656522" cy="457200"/>
          </a:xfrm>
          <a:prstGeom prst="rect">
            <a:avLst/>
          </a:prstGeom>
        </p:spPr>
      </p:pic>
      <p:sp>
        <p:nvSpPr>
          <p:cNvPr id="4" name="TextBox 3"/>
          <p:cNvSpPr txBox="1"/>
          <p:nvPr/>
        </p:nvSpPr>
        <p:spPr>
          <a:xfrm>
            <a:off x="822959" y="2651760"/>
            <a:ext cx="10922137" cy="1651734"/>
          </a:xfrm>
          <a:prstGeom prst="rect">
            <a:avLst/>
          </a:prstGeom>
          <a:noFill/>
        </p:spPr>
        <p:txBody>
          <a:bodyPr wrap="square">
            <a:spAutoFit/>
          </a:bodyPr>
          <a:lstStyle/>
          <a:p>
            <a:pPr>
              <a:spcAft>
                <a:spcPts val="1000"/>
              </a:spcAft>
            </a:pPr>
            <a:r>
              <a:rPr lang="vi-VN" sz="1500" b="1" i="0">
                <a:solidFill>
                  <a:srgbClr val="FFD2D2"/>
                </a:solidFill>
                <a:latin typeface="Arial"/>
              </a:rPr>
              <a:t>NGÀY 2 — BUỔI SÁNG</a:t>
            </a:r>
          </a:p>
          <a:p>
            <a:r>
              <a:rPr lang="vi-VN" sz="3400" b="1" i="0">
                <a:solidFill>
                  <a:srgbClr val="FFFFFF"/>
                </a:solidFill>
                <a:latin typeface="Arial"/>
              </a:rPr>
              <a:t>Thực hành hiệu chỉnh mô hình &amp; xây dựng kịch bản</a:t>
            </a:r>
          </a:p>
          <a:p>
            <a:pPr>
              <a:spcBef>
                <a:spcPts val="600"/>
              </a:spcBef>
            </a:pPr>
            <a:r>
              <a:rPr lang="vi-VN" sz="1700" b="0" i="0">
                <a:solidFill>
                  <a:srgbClr val="FFFFFF"/>
                </a:solidFill>
                <a:latin typeface="Arial"/>
              </a:rPr>
              <a:t>Định hướng cấu trúc thư mục mã nguồn (Codebase), Git/GitHub Desktop, gỡ lỗi (Debugging), dùng AI hỗ trợ </a:t>
            </a:r>
            <a:endParaRPr lang="en-US" sz="1700" b="0" i="0">
              <a:solidFill>
                <a:srgbClr val="FFFFFF"/>
              </a:solidFill>
              <a:latin typeface="Arial"/>
            </a:endParaRPr>
          </a:p>
          <a:p>
            <a:pPr>
              <a:spcBef>
                <a:spcPts val="600"/>
              </a:spcBef>
            </a:pPr>
            <a:r>
              <a:rPr lang="vi-VN" sz="1700" b="0" i="0">
                <a:solidFill>
                  <a:srgbClr val="FFFFFF"/>
                </a:solidFill>
                <a:latin typeface="Arial"/>
              </a:rPr>
              <a:t>trong VS Code · 150 phút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19" y="393859"/>
            <a:ext cx="10500055" cy="492443"/>
          </a:xfrm>
          <a:prstGeom prst="rect">
            <a:avLst/>
          </a:prstGeom>
          <a:noFill/>
        </p:spPr>
        <p:txBody>
          <a:bodyPr wrap="square" anchor="ctr">
            <a:spAutoFit/>
          </a:bodyPr>
          <a:lstStyle/>
          <a:p>
            <a:r>
              <a:rPr lang="vi-VN" sz="2600" b="1" i="0">
                <a:solidFill>
                  <a:srgbClr val="FFFFFF"/>
                </a:solidFill>
                <a:latin typeface="Arial"/>
              </a:rPr>
              <a:t>Chương trình Buổi sáng — 7 Phần + Giờ giải lao, 150 Phút</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2</a:t>
            </a:r>
          </a:p>
        </p:txBody>
      </p:sp>
      <p:graphicFrame>
        <p:nvGraphicFramePr>
          <p:cNvPr id="9" name="Table 8"/>
          <p:cNvGraphicFramePr>
            <a:graphicFrameLocks noGrp="1"/>
          </p:cNvGraphicFramePr>
          <p:nvPr>
            <p:extLst>
              <p:ext uri="{D42A27DB-BD31-4B8C-83A1-F6EECF244321}">
                <p14:modId xmlns:p14="http://schemas.microsoft.com/office/powerpoint/2010/main" val="747219695"/>
              </p:ext>
            </p:extLst>
          </p:nvPr>
        </p:nvGraphicFramePr>
        <p:xfrm>
          <a:off x="502920" y="1554480"/>
          <a:ext cx="11185853" cy="4892040"/>
        </p:xfrm>
        <a:graphic>
          <a:graphicData uri="http://schemas.openxmlformats.org/drawingml/2006/table">
            <a:tbl>
              <a:tblPr firstRow="1" bandRow="1">
                <a:tableStyleId>{5C22544A-7EE6-4342-B048-85BDC9FD1C3A}</a:tableStyleId>
              </a:tblPr>
              <a:tblGrid>
                <a:gridCol w="3926205">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6459548">
                  <a:extLst>
                    <a:ext uri="{9D8B030D-6E8A-4147-A177-3AD203B41FA5}">
                      <a16:colId xmlns:a16="http://schemas.microsoft.com/office/drawing/2014/main" val="20002"/>
                    </a:ext>
                  </a:extLst>
                </a:gridCol>
              </a:tblGrid>
              <a:tr h="543560">
                <a:tc>
                  <a:txBody>
                    <a:bodyPr/>
                    <a:lstStyle/>
                    <a:p>
                      <a:r>
                        <a:rPr lang="vi-VN" sz="1300" b="1" i="0">
                          <a:solidFill>
                            <a:srgbClr val="FFFFFF"/>
                          </a:solidFill>
                          <a:latin typeface="Arial"/>
                        </a:rPr>
                        <a:t>Phần</a:t>
                      </a:r>
                    </a:p>
                  </a:txBody>
                  <a:tcPr marT="50800" marB="50800" anchor="ctr">
                    <a:solidFill>
                      <a:srgbClr val="CC071E"/>
                    </a:solidFill>
                  </a:tcPr>
                </a:tc>
                <a:tc>
                  <a:txBody>
                    <a:bodyPr/>
                    <a:lstStyle/>
                    <a:p>
                      <a:r>
                        <a:rPr lang="vi-VN" sz="1300" b="1" i="0">
                          <a:solidFill>
                            <a:srgbClr val="FFFFFF"/>
                          </a:solidFill>
                          <a:latin typeface="Arial"/>
                        </a:rPr>
                        <a:t>Thời lượng</a:t>
                      </a:r>
                    </a:p>
                  </a:txBody>
                  <a:tcPr marT="50800" marB="50800" anchor="ctr">
                    <a:solidFill>
                      <a:srgbClr val="CC071E"/>
                    </a:solidFill>
                  </a:tcPr>
                </a:tc>
                <a:tc>
                  <a:txBody>
                    <a:bodyPr/>
                    <a:lstStyle/>
                    <a:p>
                      <a:r>
                        <a:rPr lang="vi-VN" sz="1300" b="1" i="0">
                          <a:solidFill>
                            <a:srgbClr val="FFFFFF"/>
                          </a:solidFill>
                          <a:latin typeface="Arial"/>
                        </a:rPr>
                        <a:t>Nội dung</a:t>
                      </a:r>
                    </a:p>
                  </a:txBody>
                  <a:tcPr marT="50800" marB="50800" anchor="ctr">
                    <a:solidFill>
                      <a:srgbClr val="CC071E"/>
                    </a:solidFill>
                  </a:tcPr>
                </a:tc>
                <a:extLst>
                  <a:ext uri="{0D108BD9-81ED-4DB2-BD59-A6C34878D82A}">
                    <a16:rowId xmlns:a16="http://schemas.microsoft.com/office/drawing/2014/main" val="10000"/>
                  </a:ext>
                </a:extLst>
              </a:tr>
              <a:tr h="543560">
                <a:tc>
                  <a:txBody>
                    <a:bodyPr/>
                    <a:lstStyle/>
                    <a:p>
                      <a:r>
                        <a:rPr lang="vi-VN" sz="1300" b="1" i="0">
                          <a:solidFill>
                            <a:srgbClr val="232323"/>
                          </a:solidFill>
                          <a:latin typeface="Arial"/>
                        </a:rPr>
                        <a:t>1. Tóm tắt &amp; Thảo luận</a:t>
                      </a:r>
                    </a:p>
                  </a:txBody>
                  <a:tcPr marT="38100" marB="38100" anchor="ctr">
                    <a:solidFill>
                      <a:srgbClr val="FFFFFF"/>
                    </a:solidFill>
                  </a:tcPr>
                </a:tc>
                <a:tc>
                  <a:txBody>
                    <a:bodyPr/>
                    <a:lstStyle/>
                    <a:p>
                      <a:r>
                        <a:rPr lang="vi-VN" sz="1300" b="0" i="0">
                          <a:solidFill>
                            <a:srgbClr val="232323"/>
                          </a:solidFill>
                          <a:latin typeface="Arial"/>
                        </a:rPr>
                        <a:t>60</a:t>
                      </a:r>
                      <a:r>
                        <a:rPr lang="en-US" sz="1300" b="0" i="0">
                          <a:solidFill>
                            <a:srgbClr val="232323"/>
                          </a:solidFill>
                          <a:latin typeface="Arial"/>
                        </a:rPr>
                        <a:t> phút</a:t>
                      </a:r>
                      <a:endParaRPr lang="vi-VN" sz="1300" b="0" i="0">
                        <a:solidFill>
                          <a:srgbClr val="232323"/>
                        </a:solidFill>
                        <a:latin typeface="Arial"/>
                      </a:endParaRPr>
                    </a:p>
                  </a:txBody>
                  <a:tcPr marT="38100" marB="38100" anchor="ctr">
                    <a:solidFill>
                      <a:srgbClr val="FFFFFF"/>
                    </a:solidFill>
                  </a:tcPr>
                </a:tc>
                <a:tc>
                  <a:txBody>
                    <a:bodyPr/>
                    <a:lstStyle/>
                    <a:p>
                      <a:r>
                        <a:rPr lang="vi-VN" sz="1300" b="0" i="0">
                          <a:solidFill>
                            <a:srgbClr val="232323"/>
                          </a:solidFill>
                          <a:latin typeface="Arial"/>
                        </a:rPr>
                        <a:t>Nhắc lại các kết quả đầu ra dự kiến; xác định MATLAB/Dynare/đường dẫn thư mục đang hoạt động bình thường; thảo luận các vướng mắc tồn đọng</a:t>
                      </a:r>
                    </a:p>
                  </a:txBody>
                  <a:tcPr marT="38100" marB="38100" anchor="ctr">
                    <a:solidFill>
                      <a:srgbClr val="FFFFFF"/>
                    </a:solidFill>
                  </a:tcPr>
                </a:tc>
                <a:extLst>
                  <a:ext uri="{0D108BD9-81ED-4DB2-BD59-A6C34878D82A}">
                    <a16:rowId xmlns:a16="http://schemas.microsoft.com/office/drawing/2014/main" val="10001"/>
                  </a:ext>
                </a:extLst>
              </a:tr>
              <a:tr h="543560">
                <a:tc>
                  <a:txBody>
                    <a:bodyPr/>
                    <a:lstStyle/>
                    <a:p>
                      <a:r>
                        <a:rPr lang="vi-VN" sz="1300" b="1" i="0">
                          <a:solidFill>
                            <a:srgbClr val="232323"/>
                          </a:solidFill>
                          <a:latin typeface="Arial"/>
                        </a:rPr>
                        <a:t>2. Định hướng mã nguồn &amp; Quản lý phiên bản</a:t>
                      </a:r>
                    </a:p>
                  </a:txBody>
                  <a:tcPr marT="38100" marB="38100" anchor="ctr">
                    <a:solidFill>
                      <a:srgbClr val="F5F5F5"/>
                    </a:solidFill>
                  </a:tcPr>
                </a:tc>
                <a:tc>
                  <a:txBody>
                    <a:bodyPr/>
                    <a:lstStyle/>
                    <a:p>
                      <a:r>
                        <a:rPr lang="vi-VN" sz="1300" b="0" i="0">
                          <a:solidFill>
                            <a:srgbClr val="232323"/>
                          </a:solidFill>
                          <a:latin typeface="Arial"/>
                        </a:rPr>
                        <a:t>10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dirty="0">
                          <a:solidFill>
                            <a:srgbClr val="232323"/>
                          </a:solidFill>
                          <a:latin typeface="Arial"/>
                        </a:rPr>
                        <a:t>Truy vết từ một phương trình đến hàm hỗ trợ (helper); </a:t>
                      </a:r>
                      <a:r>
                        <a:rPr lang="en-US" sz="1300" b="0" i="0" dirty="0" err="1">
                          <a:solidFill>
                            <a:srgbClr val="232323"/>
                          </a:solidFill>
                          <a:latin typeface="Arial"/>
                        </a:rPr>
                        <a:t>tải</a:t>
                      </a:r>
                      <a:r>
                        <a:rPr lang="en-US" sz="1300" b="0" i="0" dirty="0">
                          <a:solidFill>
                            <a:srgbClr val="232323"/>
                          </a:solidFill>
                          <a:latin typeface="Arial"/>
                        </a:rPr>
                        <a:t> </a:t>
                      </a:r>
                      <a:r>
                        <a:rPr lang="en-US" sz="1300" b="0" i="0" dirty="0" err="1">
                          <a:solidFill>
                            <a:srgbClr val="232323"/>
                          </a:solidFill>
                          <a:latin typeface="Arial"/>
                        </a:rPr>
                        <a:t>về</a:t>
                      </a:r>
                      <a:r>
                        <a:rPr lang="en-US" sz="1300" b="0" i="0" dirty="0">
                          <a:solidFill>
                            <a:srgbClr val="232323"/>
                          </a:solidFill>
                          <a:latin typeface="Arial"/>
                        </a:rPr>
                        <a:t> </a:t>
                      </a:r>
                      <a:r>
                        <a:rPr lang="vi-VN" sz="1300" b="0" i="0" dirty="0">
                          <a:solidFill>
                            <a:srgbClr val="232323"/>
                          </a:solidFill>
                          <a:latin typeface="Arial"/>
                        </a:rPr>
                        <a:t>và </a:t>
                      </a:r>
                      <a:r>
                        <a:rPr lang="en-US" sz="1300" b="0" i="0" dirty="0" err="1">
                          <a:solidFill>
                            <a:srgbClr val="232323"/>
                          </a:solidFill>
                          <a:latin typeface="Arial"/>
                        </a:rPr>
                        <a:t>lưu</a:t>
                      </a:r>
                      <a:r>
                        <a:rPr lang="en-US" sz="1300" b="0" i="0" dirty="0">
                          <a:solidFill>
                            <a:srgbClr val="232323"/>
                          </a:solidFill>
                          <a:latin typeface="Arial"/>
                        </a:rPr>
                        <a:t> </a:t>
                      </a:r>
                      <a:r>
                        <a:rPr lang="en-US" sz="1300" b="0" i="0" dirty="0" err="1">
                          <a:solidFill>
                            <a:srgbClr val="232323"/>
                          </a:solidFill>
                          <a:latin typeface="Arial"/>
                        </a:rPr>
                        <a:t>lại</a:t>
                      </a:r>
                      <a:r>
                        <a:rPr lang="en-US" sz="1300" b="0" i="0" dirty="0">
                          <a:solidFill>
                            <a:srgbClr val="232323"/>
                          </a:solidFill>
                          <a:latin typeface="Arial"/>
                        </a:rPr>
                        <a:t> </a:t>
                      </a:r>
                      <a:r>
                        <a:rPr lang="en-US" sz="1300" b="0" i="0" dirty="0" err="1">
                          <a:solidFill>
                            <a:srgbClr val="232323"/>
                          </a:solidFill>
                          <a:latin typeface="Arial"/>
                        </a:rPr>
                        <a:t>bản</a:t>
                      </a:r>
                      <a:r>
                        <a:rPr lang="en-US" sz="1300" b="0" i="0" dirty="0">
                          <a:solidFill>
                            <a:srgbClr val="232323"/>
                          </a:solidFill>
                          <a:latin typeface="Arial"/>
                        </a:rPr>
                        <a:t> </a:t>
                      </a:r>
                      <a:r>
                        <a:rPr lang="en-US" sz="1300" b="0" i="0" dirty="0" err="1">
                          <a:solidFill>
                            <a:srgbClr val="232323"/>
                          </a:solidFill>
                          <a:latin typeface="Arial"/>
                        </a:rPr>
                        <a:t>cập</a:t>
                      </a:r>
                      <a:r>
                        <a:rPr lang="en-US" sz="1300" b="0" i="0" dirty="0">
                          <a:solidFill>
                            <a:srgbClr val="232323"/>
                          </a:solidFill>
                          <a:latin typeface="Arial"/>
                        </a:rPr>
                        <a:t> </a:t>
                      </a:r>
                      <a:r>
                        <a:rPr lang="en-US" sz="1300" b="0" i="0" dirty="0" err="1">
                          <a:solidFill>
                            <a:srgbClr val="232323"/>
                          </a:solidFill>
                          <a:latin typeface="Arial"/>
                        </a:rPr>
                        <a:t>nhật</a:t>
                      </a:r>
                      <a:r>
                        <a:rPr lang="en-US" sz="1300" b="0" i="0" dirty="0">
                          <a:solidFill>
                            <a:srgbClr val="232323"/>
                          </a:solidFill>
                          <a:latin typeface="Arial"/>
                        </a:rPr>
                        <a:t> </a:t>
                      </a:r>
                      <a:r>
                        <a:rPr lang="vi-VN" sz="1300" b="0" i="0" dirty="0">
                          <a:solidFill>
                            <a:srgbClr val="232323"/>
                          </a:solidFill>
                          <a:latin typeface="Arial"/>
                        </a:rPr>
                        <a:t>đầu tiên trên GitHub Desktop; mở trên VS Code</a:t>
                      </a:r>
                    </a:p>
                  </a:txBody>
                  <a:tcPr marT="38100" marB="38100" anchor="ctr">
                    <a:solidFill>
                      <a:srgbClr val="F5F5F5"/>
                    </a:solidFill>
                  </a:tcPr>
                </a:tc>
                <a:extLst>
                  <a:ext uri="{0D108BD9-81ED-4DB2-BD59-A6C34878D82A}">
                    <a16:rowId xmlns:a16="http://schemas.microsoft.com/office/drawing/2014/main" val="10002"/>
                  </a:ext>
                </a:extLst>
              </a:tr>
              <a:tr h="543560">
                <a:tc>
                  <a:txBody>
                    <a:bodyPr/>
                    <a:lstStyle/>
                    <a:p>
                      <a:r>
                        <a:rPr lang="vi-VN" sz="1300" b="1" i="0">
                          <a:solidFill>
                            <a:srgbClr val="232323"/>
                          </a:solidFill>
                          <a:latin typeface="Arial"/>
                        </a:rPr>
                        <a:t>3. Chạy hiệu chỉnh Kịch bản cơ sở</a:t>
                      </a:r>
                    </a:p>
                  </a:txBody>
                  <a:tcPr marT="38100" marB="38100" anchor="ctr">
                    <a:solidFill>
                      <a:srgbClr val="FFFFFF"/>
                    </a:solidFill>
                  </a:tcPr>
                </a:tc>
                <a:tc>
                  <a:txBody>
                    <a:bodyPr/>
                    <a:lstStyle/>
                    <a:p>
                      <a:r>
                        <a:rPr lang="vi-VN" sz="1300" b="0" i="0">
                          <a:solidFill>
                            <a:srgbClr val="232323"/>
                          </a:solidFill>
                          <a:latin typeface="Arial"/>
                        </a:rPr>
                        <a:t>10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FFFFF"/>
                    </a:solidFill>
                  </a:tcPr>
                </a:tc>
                <a:tc>
                  <a:txBody>
                    <a:bodyPr/>
                    <a:lstStyle/>
                    <a:p>
                      <a:r>
                        <a:rPr lang="vi-VN" sz="1300" b="0" i="0">
                          <a:solidFill>
                            <a:srgbClr val="232323"/>
                          </a:solidFill>
                          <a:latin typeface="Arial"/>
                        </a:rPr>
                        <a:t>Thực hành hướng dẫn; cùng phân tích và giải thích các chẩn đoán đầu ra theo nhóm</a:t>
                      </a:r>
                    </a:p>
                  </a:txBody>
                  <a:tcPr marT="38100" marB="38100" anchor="ctr">
                    <a:solidFill>
                      <a:srgbClr val="FFFFFF"/>
                    </a:solidFill>
                  </a:tcPr>
                </a:tc>
                <a:extLst>
                  <a:ext uri="{0D108BD9-81ED-4DB2-BD59-A6C34878D82A}">
                    <a16:rowId xmlns:a16="http://schemas.microsoft.com/office/drawing/2014/main" val="10003"/>
                  </a:ext>
                </a:extLst>
              </a:tr>
              <a:tr h="543560">
                <a:tc>
                  <a:txBody>
                    <a:bodyPr/>
                    <a:lstStyle/>
                    <a:p>
                      <a:r>
                        <a:rPr lang="vi-VN" sz="1300" b="1" i="0">
                          <a:solidFill>
                            <a:srgbClr val="232323"/>
                          </a:solidFill>
                          <a:latin typeface="Arial"/>
                        </a:rPr>
                        <a:t>4. Gỡ lỗi các lỗi thường gặp trong MATLAB/Dynare</a:t>
                      </a:r>
                    </a:p>
                  </a:txBody>
                  <a:tcPr marT="38100" marB="38100" anchor="ctr">
                    <a:solidFill>
                      <a:srgbClr val="F5F5F5"/>
                    </a:solidFill>
                  </a:tcPr>
                </a:tc>
                <a:tc>
                  <a:txBody>
                    <a:bodyPr/>
                    <a:lstStyle/>
                    <a:p>
                      <a:r>
                        <a:rPr lang="vi-VN" sz="1300" b="0" i="0">
                          <a:solidFill>
                            <a:srgbClr val="232323"/>
                          </a:solidFill>
                          <a:latin typeface="Arial"/>
                        </a:rPr>
                        <a:t>10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a:solidFill>
                            <a:srgbClr val="232323"/>
                          </a:solidFill>
                          <a:latin typeface="Arial"/>
                        </a:rPr>
                        <a:t>Phân loại dạng lỗi trước khi sửa; cùng nhau xử lý một ví dụ bị lỗi</a:t>
                      </a:r>
                    </a:p>
                  </a:txBody>
                  <a:tcPr marT="38100" marB="38100" anchor="ctr">
                    <a:solidFill>
                      <a:srgbClr val="F5F5F5"/>
                    </a:solidFill>
                  </a:tcPr>
                </a:tc>
                <a:extLst>
                  <a:ext uri="{0D108BD9-81ED-4DB2-BD59-A6C34878D82A}">
                    <a16:rowId xmlns:a16="http://schemas.microsoft.com/office/drawing/2014/main" val="10004"/>
                  </a:ext>
                </a:extLst>
              </a:tr>
              <a:tr h="543560">
                <a:tc>
                  <a:txBody>
                    <a:bodyPr/>
                    <a:lstStyle/>
                    <a:p>
                      <a:r>
                        <a:rPr lang="vi-VN" sz="1300" b="1" i="0" dirty="0">
                          <a:solidFill>
                            <a:srgbClr val="FF0000"/>
                          </a:solidFill>
                          <a:latin typeface="Arial"/>
                        </a:rPr>
                        <a:t>— Nghỉ giải lao —</a:t>
                      </a:r>
                    </a:p>
                  </a:txBody>
                  <a:tcPr marT="38100" marB="38100" anchor="ctr">
                    <a:solidFill>
                      <a:srgbClr val="FFFFFF"/>
                    </a:solidFill>
                  </a:tcPr>
                </a:tc>
                <a:tc>
                  <a:txBody>
                    <a:bodyPr/>
                    <a:lstStyle/>
                    <a:p>
                      <a:r>
                        <a:rPr lang="vi-VN" sz="1300" b="0" i="0" dirty="0">
                          <a:solidFill>
                            <a:srgbClr val="FF0000"/>
                          </a:solidFill>
                          <a:latin typeface="Arial"/>
                        </a:rPr>
                        <a:t>15</a:t>
                      </a:r>
                      <a:r>
                        <a:rPr lang="en-US" sz="1300" b="0" i="0" dirty="0">
                          <a:solidFill>
                            <a:srgbClr val="FF0000"/>
                          </a:solidFill>
                          <a:latin typeface="+mn-lt"/>
                        </a:rPr>
                        <a:t> </a:t>
                      </a:r>
                      <a:r>
                        <a:rPr lang="en-US" sz="1300" b="0" i="0" dirty="0" err="1">
                          <a:solidFill>
                            <a:srgbClr val="FF0000"/>
                          </a:solidFill>
                          <a:latin typeface="+mn-lt"/>
                        </a:rPr>
                        <a:t>phút</a:t>
                      </a:r>
                      <a:endParaRPr lang="vi-VN" sz="1300" b="0" i="0" dirty="0">
                        <a:solidFill>
                          <a:srgbClr val="FF0000"/>
                        </a:solidFill>
                        <a:latin typeface="Arial"/>
                      </a:endParaRPr>
                    </a:p>
                  </a:txBody>
                  <a:tcPr marT="38100" marB="38100" anchor="ctr">
                    <a:solidFill>
                      <a:srgbClr val="FFFFFF"/>
                    </a:solidFill>
                  </a:tcPr>
                </a:tc>
                <a:tc>
                  <a:txBody>
                    <a:bodyPr/>
                    <a:lstStyle/>
                    <a:p>
                      <a:endParaRPr dirty="0">
                        <a:solidFill>
                          <a:srgbClr val="FF0000"/>
                        </a:solidFill>
                      </a:endParaRPr>
                    </a:p>
                  </a:txBody>
                  <a:tcPr marT="38100" marB="38100" anchor="ctr">
                    <a:solidFill>
                      <a:srgbClr val="FFFFFF"/>
                    </a:solidFill>
                  </a:tcPr>
                </a:tc>
                <a:extLst>
                  <a:ext uri="{0D108BD9-81ED-4DB2-BD59-A6C34878D82A}">
                    <a16:rowId xmlns:a16="http://schemas.microsoft.com/office/drawing/2014/main" val="10005"/>
                  </a:ext>
                </a:extLst>
              </a:tr>
              <a:tr h="543560">
                <a:tc>
                  <a:txBody>
                    <a:bodyPr/>
                    <a:lstStyle/>
                    <a:p>
                      <a:r>
                        <a:rPr lang="vi-VN" sz="1300" b="1" i="0">
                          <a:solidFill>
                            <a:srgbClr val="232323"/>
                          </a:solidFill>
                          <a:latin typeface="Arial"/>
                        </a:rPr>
                        <a:t>5. Chạy các kịch bản + AI hỗ trợ trong VS Code</a:t>
                      </a:r>
                    </a:p>
                  </a:txBody>
                  <a:tcPr marT="38100" marB="38100" anchor="ctr">
                    <a:solidFill>
                      <a:srgbClr val="F5F5F5"/>
                    </a:solidFill>
                  </a:tcPr>
                </a:tc>
                <a:tc>
                  <a:txBody>
                    <a:bodyPr/>
                    <a:lstStyle/>
                    <a:p>
                      <a:r>
                        <a:rPr lang="vi-VN" sz="1300" b="0" i="0">
                          <a:solidFill>
                            <a:srgbClr val="232323"/>
                          </a:solidFill>
                          <a:latin typeface="Arial"/>
                        </a:rPr>
                        <a:t>15</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dirty="0">
                          <a:solidFill>
                            <a:srgbClr val="232323"/>
                          </a:solidFill>
                          <a:latin typeface="Arial"/>
                        </a:rPr>
                        <a:t>Chạy so sánh kịch bản Tài chính </a:t>
                      </a:r>
                      <a:r>
                        <a:rPr lang="en-US" sz="1300" b="0" i="0" dirty="0" err="1">
                          <a:solidFill>
                            <a:srgbClr val="232323"/>
                          </a:solidFill>
                          <a:latin typeface="Arial"/>
                        </a:rPr>
                        <a:t>với</a:t>
                      </a:r>
                      <a:r>
                        <a:rPr lang="en-US" sz="1300" b="0" i="0" dirty="0">
                          <a:solidFill>
                            <a:srgbClr val="232323"/>
                          </a:solidFill>
                          <a:latin typeface="Arial"/>
                        </a:rPr>
                        <a:t> </a:t>
                      </a:r>
                      <a:r>
                        <a:rPr lang="vi-VN" sz="1300" b="0" i="0" dirty="0">
                          <a:solidFill>
                            <a:srgbClr val="232323"/>
                          </a:solidFill>
                          <a:latin typeface="Arial"/>
                        </a:rPr>
                        <a:t>Kịch bản cơ sở </a:t>
                      </a:r>
                      <a:r>
                        <a:rPr lang="en-US" sz="1300" b="0" i="0" dirty="0" err="1">
                          <a:solidFill>
                            <a:srgbClr val="232323"/>
                          </a:solidFill>
                          <a:latin typeface="Arial"/>
                        </a:rPr>
                        <a:t>tương</a:t>
                      </a:r>
                      <a:r>
                        <a:rPr lang="en-US" sz="1300" b="0" i="0" dirty="0">
                          <a:solidFill>
                            <a:srgbClr val="232323"/>
                          </a:solidFill>
                          <a:latin typeface="Arial"/>
                        </a:rPr>
                        <a:t> </a:t>
                      </a:r>
                      <a:r>
                        <a:rPr lang="en-US" sz="1300" b="0" i="0" dirty="0" err="1">
                          <a:solidFill>
                            <a:srgbClr val="232323"/>
                          </a:solidFill>
                          <a:latin typeface="Arial"/>
                        </a:rPr>
                        <a:t>ứng</a:t>
                      </a:r>
                      <a:r>
                        <a:rPr lang="vi-VN" sz="1300" b="0" i="0" dirty="0">
                          <a:solidFill>
                            <a:srgbClr val="232323"/>
                          </a:solidFill>
                          <a:latin typeface="Arial"/>
                        </a:rPr>
                        <a:t> và</a:t>
                      </a:r>
                      <a:r>
                        <a:rPr lang="en-US" sz="1300" b="0" i="0" dirty="0">
                          <a:solidFill>
                            <a:srgbClr val="232323"/>
                          </a:solidFill>
                          <a:latin typeface="Arial"/>
                        </a:rPr>
                        <a:t> so </a:t>
                      </a:r>
                      <a:r>
                        <a:rPr lang="en-US" sz="1300" b="0" i="0" dirty="0" err="1">
                          <a:solidFill>
                            <a:srgbClr val="232323"/>
                          </a:solidFill>
                          <a:latin typeface="Arial"/>
                        </a:rPr>
                        <a:t>sánh</a:t>
                      </a:r>
                      <a:r>
                        <a:rPr lang="vi-VN" sz="1300" b="0" i="0" dirty="0">
                          <a:solidFill>
                            <a:srgbClr val="232323"/>
                          </a:solidFill>
                          <a:latin typeface="Arial"/>
                        </a:rPr>
                        <a:t> kịch bản Hiệu quả năng lượng </a:t>
                      </a:r>
                      <a:r>
                        <a:rPr lang="en-US" sz="1300" b="0" i="0" dirty="0" err="1">
                          <a:solidFill>
                            <a:srgbClr val="232323"/>
                          </a:solidFill>
                          <a:latin typeface="Arial"/>
                        </a:rPr>
                        <a:t>với</a:t>
                      </a:r>
                      <a:r>
                        <a:rPr lang="vi-VN" sz="1300" b="0" i="0" dirty="0">
                          <a:solidFill>
                            <a:srgbClr val="232323"/>
                          </a:solidFill>
                          <a:latin typeface="Arial"/>
                        </a:rPr>
                        <a:t> QHĐ VIII; demo trực tiếp công cụ AI hỗ trợ</a:t>
                      </a:r>
                    </a:p>
                  </a:txBody>
                  <a:tcPr marT="38100" marB="38100" anchor="ctr">
                    <a:solidFill>
                      <a:srgbClr val="F5F5F5"/>
                    </a:solidFill>
                  </a:tcPr>
                </a:tc>
                <a:extLst>
                  <a:ext uri="{0D108BD9-81ED-4DB2-BD59-A6C34878D82A}">
                    <a16:rowId xmlns:a16="http://schemas.microsoft.com/office/drawing/2014/main" val="10006"/>
                  </a:ext>
                </a:extLst>
              </a:tr>
              <a:tr h="543560">
                <a:tc>
                  <a:txBody>
                    <a:bodyPr/>
                    <a:lstStyle/>
                    <a:p>
                      <a:r>
                        <a:rPr lang="vi-VN" sz="1300" b="1" i="0">
                          <a:solidFill>
                            <a:srgbClr val="232323"/>
                          </a:solidFill>
                          <a:latin typeface="Arial"/>
                        </a:rPr>
                        <a:t>6. Bảng so sánh, Báo cáo đồ thị &amp; Thuyết minh</a:t>
                      </a:r>
                    </a:p>
                  </a:txBody>
                  <a:tcPr marT="38100" marB="38100" anchor="ctr">
                    <a:solidFill>
                      <a:srgbClr val="FFFFFF"/>
                    </a:solidFill>
                  </a:tcPr>
                </a:tc>
                <a:tc>
                  <a:txBody>
                    <a:bodyPr/>
                    <a:lstStyle/>
                    <a:p>
                      <a:r>
                        <a:rPr lang="vi-VN" sz="1300" b="0" i="0">
                          <a:solidFill>
                            <a:srgbClr val="232323"/>
                          </a:solidFill>
                          <a:latin typeface="Arial"/>
                        </a:rPr>
                        <a:t>20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FFFFF"/>
                    </a:solidFill>
                  </a:tcPr>
                </a:tc>
                <a:tc>
                  <a:txBody>
                    <a:bodyPr/>
                    <a:lstStyle/>
                    <a:p>
                      <a:r>
                        <a:rPr lang="vi-VN" sz="1300" b="0" i="0">
                          <a:solidFill>
                            <a:srgbClr val="232323"/>
                          </a:solidFill>
                          <a:latin typeface="Arial"/>
                        </a:rPr>
                        <a:t>Xây dựng bảng so sánh và một biểu đồ định hướng chính sách kèm thuyết minh ngắn</a:t>
                      </a:r>
                    </a:p>
                  </a:txBody>
                  <a:tcPr marT="38100" marB="38100" anchor="ctr">
                    <a:solidFill>
                      <a:srgbClr val="FFFFFF"/>
                    </a:solidFill>
                  </a:tcPr>
                </a:tc>
                <a:extLst>
                  <a:ext uri="{0D108BD9-81ED-4DB2-BD59-A6C34878D82A}">
                    <a16:rowId xmlns:a16="http://schemas.microsoft.com/office/drawing/2014/main" val="10007"/>
                  </a:ext>
                </a:extLst>
              </a:tr>
              <a:tr h="543560">
                <a:tc>
                  <a:txBody>
                    <a:bodyPr/>
                    <a:lstStyle/>
                    <a:p>
                      <a:r>
                        <a:rPr lang="vi-VN" sz="1300" b="1" i="0">
                          <a:solidFill>
                            <a:srgbClr val="232323"/>
                          </a:solidFill>
                          <a:latin typeface="Arial"/>
                        </a:rPr>
                        <a:t>7. Báo cáo kết quả &amp; Tóm tắt</a:t>
                      </a:r>
                    </a:p>
                  </a:txBody>
                  <a:tcPr marT="38100" marB="38100" anchor="ctr">
                    <a:solidFill>
                      <a:srgbClr val="F5F5F5"/>
                    </a:solidFill>
                  </a:tcPr>
                </a:tc>
                <a:tc>
                  <a:txBody>
                    <a:bodyPr/>
                    <a:lstStyle/>
                    <a:p>
                      <a:r>
                        <a:rPr lang="vi-VN" sz="1300" b="0" i="0">
                          <a:solidFill>
                            <a:srgbClr val="232323"/>
                          </a:solidFill>
                          <a:latin typeface="Arial"/>
                        </a:rPr>
                        <a:t>10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dirty="0">
                          <a:solidFill>
                            <a:srgbClr val="232323"/>
                          </a:solidFill>
                          <a:latin typeface="Arial"/>
                        </a:rPr>
                        <a:t>Các nhóm báo cáo nhanh kết quả công việc</a:t>
                      </a:r>
                    </a:p>
                  </a:txBody>
                  <a:tcPr marT="38100" marB="38100" anchor="ctr">
                    <a:solidFill>
                      <a:srgbClr val="F5F5F5"/>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1 · 60 PHÚT</a:t>
            </a:r>
          </a:p>
          <a:p>
            <a:r>
              <a:rPr lang="vi-VN" sz="2400" b="1" i="0">
                <a:solidFill>
                  <a:srgbClr val="FFFFFF"/>
                </a:solidFill>
                <a:latin typeface="Arial"/>
              </a:rPr>
              <a:t>Tóm tắt &amp; Kiểm tra Cấu hình Hệ thống</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3</a:t>
            </a:r>
          </a:p>
        </p:txBody>
      </p:sp>
      <p:sp>
        <p:nvSpPr>
          <p:cNvPr id="9" name="TextBox 8"/>
          <p:cNvSpPr txBox="1"/>
          <p:nvPr/>
        </p:nvSpPr>
        <p:spPr>
          <a:xfrm>
            <a:off x="502920" y="1554480"/>
            <a:ext cx="11012805" cy="1656864"/>
          </a:xfrm>
          <a:prstGeom prst="rect">
            <a:avLst/>
          </a:prstGeom>
          <a:noFill/>
        </p:spPr>
        <p:txBody>
          <a:bodyPr wrap="square">
            <a:spAutoFit/>
          </a:bodyPr>
          <a:lstStyle/>
          <a:p>
            <a:pPr marL="0" indent="0">
              <a:spcAft>
                <a:spcPts val="1000"/>
              </a:spcAft>
            </a:pPr>
            <a:r>
              <a:rPr lang="vi-VN" sz="1700" b="0" i="0">
                <a:solidFill>
                  <a:srgbClr val="232323"/>
                </a:solidFill>
                <a:latin typeface="Arial"/>
              </a:rPr>
              <a:t>•  Kết quả </a:t>
            </a:r>
            <a:r>
              <a:rPr lang="en-US" sz="1700" b="0" i="0">
                <a:solidFill>
                  <a:srgbClr val="232323"/>
                </a:solidFill>
                <a:latin typeface="Arial"/>
              </a:rPr>
              <a:t>từ buổi học trước</a:t>
            </a:r>
            <a:r>
              <a:rPr lang="vi-VN" sz="1700" b="0" i="0">
                <a:solidFill>
                  <a:srgbClr val="232323"/>
                </a:solidFill>
                <a:latin typeface="Arial"/>
              </a:rPr>
              <a:t>: Phiếu thông tin kịch bản tài chính và phiếu thông tin kịch bản hiệu quả năng lượng của </a:t>
            </a:r>
            <a:r>
              <a:rPr lang="en-US" sz="1700" b="0" i="0">
                <a:solidFill>
                  <a:srgbClr val="232323"/>
                </a:solidFill>
                <a:latin typeface="Arial"/>
              </a:rPr>
              <a:t>anh/chị</a:t>
            </a:r>
            <a:r>
              <a:rPr lang="vi-VN" sz="1700" b="0" i="0">
                <a:solidFill>
                  <a:srgbClr val="232323"/>
                </a:solidFill>
                <a:latin typeface="Arial"/>
              </a:rPr>
              <a:t> đã được ghi nhận đầy đủ.</a:t>
            </a:r>
          </a:p>
          <a:p>
            <a:pPr marL="0" indent="0">
              <a:spcAft>
                <a:spcPts val="1000"/>
              </a:spcAft>
            </a:pPr>
            <a:r>
              <a:rPr lang="vi-VN" sz="1700" b="0" i="0">
                <a:solidFill>
                  <a:srgbClr val="232323"/>
                </a:solidFill>
                <a:latin typeface="Arial"/>
              </a:rPr>
              <a:t>•  Đảm bảo mỗi nhóm đều có đầy đủ cả 2 phiếu thông tin này trước khi bắt đầu.</a:t>
            </a:r>
          </a:p>
          <a:p>
            <a:pPr marL="0" indent="0">
              <a:spcAft>
                <a:spcPts val="1000"/>
              </a:spcAft>
            </a:pPr>
            <a:r>
              <a:rPr lang="vi-VN" sz="1700" b="0" i="0">
                <a:solidFill>
                  <a:srgbClr val="232323"/>
                </a:solidFill>
                <a:latin typeface="Arial"/>
              </a:rPr>
              <a:t>• Kiểm tra cấu hình Xác nhận MATLAB, Dynare và các đường dẫn thư mục lưu trữ mã nguồn hoạt động ổn định ở tất cả các nhóm.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2 · 10 PHÚT</a:t>
            </a:r>
          </a:p>
          <a:p>
            <a:r>
              <a:rPr lang="vi-VN" sz="2400" b="1" i="0">
                <a:solidFill>
                  <a:srgbClr val="FFFFFF"/>
                </a:solidFill>
                <a:latin typeface="Arial"/>
              </a:rPr>
              <a:t>Định hướng mã nguồn &amp; Quản lý phiên bản</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4</a:t>
            </a:r>
          </a:p>
        </p:txBody>
      </p:sp>
      <p:sp>
        <p:nvSpPr>
          <p:cNvPr id="9" name="TextBox 8"/>
          <p:cNvSpPr txBox="1"/>
          <p:nvPr/>
        </p:nvSpPr>
        <p:spPr>
          <a:xfrm>
            <a:off x="502920" y="1554480"/>
            <a:ext cx="11323015" cy="3436838"/>
          </a:xfrm>
          <a:prstGeom prst="rect">
            <a:avLst/>
          </a:prstGeom>
          <a:noFill/>
        </p:spPr>
        <p:txBody>
          <a:bodyPr wrap="square">
            <a:spAutoFit/>
          </a:bodyPr>
          <a:lstStyle/>
          <a:p>
            <a:pPr marL="0" indent="0">
              <a:spcAft>
                <a:spcPts val="1000"/>
              </a:spcAft>
            </a:pPr>
            <a:r>
              <a:rPr lang="vi-VN" sz="1700" b="0" i="0" dirty="0">
                <a:solidFill>
                  <a:srgbClr val="232323"/>
                </a:solidFill>
                <a:latin typeface="Arial"/>
              </a:rPr>
              <a:t>•  Thư mục ModFiles/ chứa các phương trình Dynare — tuy nhiên, các tham số/biến số mà chúng tham chiếu thường được thiết lập ở vị trí khác.</a:t>
            </a:r>
          </a:p>
          <a:p>
            <a:pPr marL="0" indent="0">
              <a:spcAft>
                <a:spcPts val="1000"/>
              </a:spcAft>
            </a:pPr>
            <a:r>
              <a:rPr lang="vi-VN" sz="1700" b="0" i="0" dirty="0">
                <a:solidFill>
                  <a:srgbClr val="232323"/>
                </a:solidFill>
                <a:latin typeface="Arial"/>
              </a:rPr>
              <a:t>•  Thư mục Functions/ chứa các hàm hỗ trợ trong MATLAB giúp tính toán hoặc gán các giá trị đó.</a:t>
            </a:r>
          </a:p>
          <a:p>
            <a:pPr marL="0" indent="0">
              <a:spcAft>
                <a:spcPts val="1000"/>
              </a:spcAft>
            </a:pPr>
            <a:r>
              <a:rPr lang="vi-VN" sz="1700" b="0" i="0" dirty="0">
                <a:solidFill>
                  <a:srgbClr val="232323"/>
                </a:solidFill>
                <a:latin typeface="Arial"/>
              </a:rPr>
              <a:t>•  Kỹ năng định hướng: Khi có một phương trình, xác định được các yếu tố mà phương trình đó tham chiếu, và biết đó là dữ liệu đầu vào hiệu chỉnh (trong thư mục ExcelFiles/) hay là một giá trị được tính toán (trong thư mục Functions/).</a:t>
            </a:r>
          </a:p>
          <a:p>
            <a:pPr marL="0" indent="0">
              <a:spcAft>
                <a:spcPts val="1000"/>
              </a:spcAft>
            </a:pPr>
            <a:r>
              <a:rPr lang="vi-VN" sz="1700" b="1" i="0" dirty="0">
                <a:solidFill>
                  <a:srgbClr val="232323"/>
                </a:solidFill>
                <a:latin typeface="Arial"/>
              </a:rPr>
              <a:t>•  Quản lý phiên bản — không cần dùng dòng lệnh:</a:t>
            </a:r>
          </a:p>
          <a:p>
            <a:pPr marL="320040" indent="0">
              <a:spcAft>
                <a:spcPts val="600"/>
              </a:spcAft>
            </a:pPr>
            <a:r>
              <a:rPr lang="vi-VN" sz="1500" b="0" i="0" dirty="0">
                <a:solidFill>
                  <a:srgbClr val="232323"/>
                </a:solidFill>
              </a:rPr>
              <a:t>–  </a:t>
            </a:r>
            <a:r>
              <a:rPr lang="en-US" sz="1500" b="0" i="0" dirty="0" err="1">
                <a:solidFill>
                  <a:srgbClr val="232323"/>
                </a:solidFill>
              </a:rPr>
              <a:t>Tải</a:t>
            </a:r>
            <a:r>
              <a:rPr lang="en-US" sz="1500" b="0" i="0" dirty="0">
                <a:solidFill>
                  <a:srgbClr val="232323"/>
                </a:solidFill>
              </a:rPr>
              <a:t> </a:t>
            </a:r>
            <a:r>
              <a:rPr lang="vi-VN" sz="1500" b="0" i="0" dirty="0">
                <a:solidFill>
                  <a:srgbClr val="232323"/>
                </a:solidFill>
              </a:rPr>
              <a:t>thư mục mã nguồn </a:t>
            </a:r>
            <a:r>
              <a:rPr lang="en-US" sz="1500" dirty="0" err="1">
                <a:solidFill>
                  <a:srgbClr val="232323"/>
                </a:solidFill>
              </a:rPr>
              <a:t>về</a:t>
            </a:r>
            <a:r>
              <a:rPr lang="en-US" sz="1500" dirty="0">
                <a:solidFill>
                  <a:srgbClr val="232323"/>
                </a:solidFill>
              </a:rPr>
              <a:t> </a:t>
            </a:r>
            <a:r>
              <a:rPr lang="en-US" sz="1500" dirty="0" err="1">
                <a:solidFill>
                  <a:srgbClr val="232323"/>
                </a:solidFill>
              </a:rPr>
              <a:t>máy</a:t>
            </a:r>
            <a:r>
              <a:rPr lang="en-US" sz="1500" dirty="0">
                <a:solidFill>
                  <a:srgbClr val="232323"/>
                </a:solidFill>
              </a:rPr>
              <a:t> (clone) </a:t>
            </a:r>
            <a:r>
              <a:rPr lang="vi-VN" sz="1500" b="0" i="0" dirty="0">
                <a:solidFill>
                  <a:srgbClr val="232323"/>
                </a:solidFill>
              </a:rPr>
              <a:t>và </a:t>
            </a:r>
            <a:r>
              <a:rPr lang="en-US" sz="1500" b="0" i="0" dirty="0" err="1">
                <a:solidFill>
                  <a:srgbClr val="232323"/>
                </a:solidFill>
              </a:rPr>
              <a:t>lưu</a:t>
            </a:r>
            <a:r>
              <a:rPr lang="en-US" sz="1500" b="0" i="0" dirty="0">
                <a:solidFill>
                  <a:srgbClr val="232323"/>
                </a:solidFill>
              </a:rPr>
              <a:t> </a:t>
            </a:r>
            <a:r>
              <a:rPr lang="en-US" sz="1500" b="0" i="0" dirty="0" err="1">
                <a:solidFill>
                  <a:srgbClr val="232323"/>
                </a:solidFill>
              </a:rPr>
              <a:t>lại</a:t>
            </a:r>
            <a:r>
              <a:rPr lang="en-US" sz="1500" b="0" i="0" dirty="0">
                <a:solidFill>
                  <a:srgbClr val="232323"/>
                </a:solidFill>
              </a:rPr>
              <a:t>/</a:t>
            </a:r>
            <a:r>
              <a:rPr lang="en-US" sz="1500" b="0" i="0" dirty="0" err="1">
                <a:solidFill>
                  <a:srgbClr val="232323"/>
                </a:solidFill>
              </a:rPr>
              <a:t>gửi</a:t>
            </a:r>
            <a:r>
              <a:rPr lang="en-US" sz="1500" b="0" i="0" dirty="0">
                <a:solidFill>
                  <a:srgbClr val="232323"/>
                </a:solidFill>
              </a:rPr>
              <a:t> </a:t>
            </a:r>
            <a:r>
              <a:rPr lang="en-US" sz="1500" b="0" i="0" dirty="0" err="1">
                <a:solidFill>
                  <a:srgbClr val="232323"/>
                </a:solidFill>
              </a:rPr>
              <a:t>bản</a:t>
            </a:r>
            <a:r>
              <a:rPr lang="en-US" sz="1500" b="0" i="0" dirty="0">
                <a:solidFill>
                  <a:srgbClr val="232323"/>
                </a:solidFill>
              </a:rPr>
              <a:t> </a:t>
            </a:r>
            <a:r>
              <a:rPr lang="en-US" sz="1500" b="0" i="0" dirty="0" err="1">
                <a:solidFill>
                  <a:srgbClr val="232323"/>
                </a:solidFill>
              </a:rPr>
              <a:t>cập</a:t>
            </a:r>
            <a:r>
              <a:rPr lang="en-US" sz="1500" b="0" i="0" dirty="0">
                <a:solidFill>
                  <a:srgbClr val="232323"/>
                </a:solidFill>
              </a:rPr>
              <a:t> </a:t>
            </a:r>
            <a:r>
              <a:rPr lang="en-US" sz="1500" b="0" i="0" dirty="0" err="1">
                <a:solidFill>
                  <a:srgbClr val="232323"/>
                </a:solidFill>
              </a:rPr>
              <a:t>nhật</a:t>
            </a:r>
            <a:r>
              <a:rPr lang="en-US" sz="1500" b="0" i="0" dirty="0">
                <a:solidFill>
                  <a:srgbClr val="232323"/>
                </a:solidFill>
              </a:rPr>
              <a:t> </a:t>
            </a:r>
            <a:r>
              <a:rPr lang="en-US" sz="1500" b="0" i="0" dirty="0" err="1">
                <a:solidFill>
                  <a:srgbClr val="232323"/>
                </a:solidFill>
              </a:rPr>
              <a:t>đầu</a:t>
            </a:r>
            <a:r>
              <a:rPr lang="en-US" sz="1500" b="0" i="0" dirty="0">
                <a:solidFill>
                  <a:srgbClr val="232323"/>
                </a:solidFill>
              </a:rPr>
              <a:t> </a:t>
            </a:r>
            <a:r>
              <a:rPr lang="en-US" sz="1500" b="0" i="0" dirty="0" err="1">
                <a:solidFill>
                  <a:srgbClr val="232323"/>
                </a:solidFill>
              </a:rPr>
              <a:t>tiên</a:t>
            </a:r>
            <a:r>
              <a:rPr lang="en-US" sz="1500" b="0" i="0" dirty="0">
                <a:solidFill>
                  <a:srgbClr val="232323"/>
                </a:solidFill>
              </a:rPr>
              <a:t> (</a:t>
            </a:r>
            <a:r>
              <a:rPr lang="vi-VN" sz="1500" b="0" i="0" dirty="0">
                <a:solidFill>
                  <a:srgbClr val="232323"/>
                </a:solidFill>
              </a:rPr>
              <a:t>commit</a:t>
            </a:r>
            <a:r>
              <a:rPr lang="en-US" sz="1500" b="0" i="0" dirty="0">
                <a:solidFill>
                  <a:srgbClr val="232323"/>
                </a:solidFill>
              </a:rPr>
              <a:t>)</a:t>
            </a:r>
            <a:r>
              <a:rPr lang="vi-VN" sz="1500" b="0" i="0" dirty="0">
                <a:solidFill>
                  <a:srgbClr val="232323"/>
                </a:solidFill>
              </a:rPr>
              <a:t> </a:t>
            </a:r>
            <a:r>
              <a:rPr lang="en-US" sz="1500" dirty="0" err="1">
                <a:solidFill>
                  <a:srgbClr val="232323"/>
                </a:solidFill>
              </a:rPr>
              <a:t>bằng</a:t>
            </a:r>
            <a:r>
              <a:rPr lang="en-US" sz="1500" dirty="0">
                <a:solidFill>
                  <a:srgbClr val="232323"/>
                </a:solidFill>
              </a:rPr>
              <a:t> </a:t>
            </a:r>
            <a:r>
              <a:rPr lang="vi-VN" sz="1500" b="0" i="0" dirty="0">
                <a:solidFill>
                  <a:srgbClr val="232323"/>
                </a:solidFill>
              </a:rPr>
              <a:t>giao diện </a:t>
            </a:r>
            <a:r>
              <a:rPr lang="en-US" sz="1500" dirty="0" err="1">
                <a:solidFill>
                  <a:srgbClr val="232323"/>
                </a:solidFill>
              </a:rPr>
              <a:t>đồ</a:t>
            </a:r>
            <a:r>
              <a:rPr lang="en-US" sz="1500" dirty="0">
                <a:solidFill>
                  <a:srgbClr val="232323"/>
                </a:solidFill>
              </a:rPr>
              <a:t> </a:t>
            </a:r>
            <a:r>
              <a:rPr lang="en-US" sz="1500" dirty="0" err="1">
                <a:solidFill>
                  <a:srgbClr val="232323"/>
                </a:solidFill>
              </a:rPr>
              <a:t>họa</a:t>
            </a:r>
            <a:r>
              <a:rPr lang="en-US" sz="1500" dirty="0">
                <a:solidFill>
                  <a:srgbClr val="232323"/>
                </a:solidFill>
              </a:rPr>
              <a:t> </a:t>
            </a:r>
            <a:r>
              <a:rPr lang="en-US" sz="1500" dirty="0" err="1">
                <a:solidFill>
                  <a:srgbClr val="232323"/>
                </a:solidFill>
              </a:rPr>
              <a:t>trên</a:t>
            </a:r>
            <a:r>
              <a:rPr lang="en-US" sz="1500" dirty="0">
                <a:solidFill>
                  <a:srgbClr val="232323"/>
                </a:solidFill>
              </a:rPr>
              <a:t> </a:t>
            </a:r>
            <a:r>
              <a:rPr lang="vi-VN" sz="1500" b="0" i="0" dirty="0">
                <a:solidFill>
                  <a:srgbClr val="232323"/>
                </a:solidFill>
              </a:rPr>
              <a:t>GitHub Desktop.</a:t>
            </a:r>
          </a:p>
          <a:p>
            <a:pPr marL="320040" indent="0">
              <a:spcAft>
                <a:spcPts val="600"/>
              </a:spcAft>
            </a:pPr>
            <a:r>
              <a:rPr lang="vi-VN" sz="1500" b="0" i="0" dirty="0">
                <a:solidFill>
                  <a:srgbClr val="232323"/>
                </a:solidFill>
              </a:rPr>
              <a:t>–  Mở cùng thư mục mã nguồn đó trong VS Code — cả hai công cụ đều dùng chung một lịch sử Git; sử dụng bảng điều khiển Source Control trong VS Code song song với GitHub Desktop.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3– 4 · 20 PHÚT</a:t>
            </a:r>
          </a:p>
          <a:p>
            <a:r>
              <a:rPr lang="vi-VN" sz="2400" b="1" i="0">
                <a:solidFill>
                  <a:srgbClr val="FFFFFF"/>
                </a:solidFill>
                <a:latin typeface="Arial"/>
              </a:rPr>
              <a:t>Hiệu chỉnh Kịch bản Cơ sở &amp; Gỡ lỗi</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5</a:t>
            </a:r>
          </a:p>
        </p:txBody>
      </p:sp>
      <p:sp>
        <p:nvSpPr>
          <p:cNvPr id="9" name="TextBox 8"/>
          <p:cNvSpPr txBox="1"/>
          <p:nvPr/>
        </p:nvSpPr>
        <p:spPr>
          <a:xfrm>
            <a:off x="496570" y="1548130"/>
            <a:ext cx="10976293" cy="3631763"/>
          </a:xfrm>
          <a:prstGeom prst="rect">
            <a:avLst/>
          </a:prstGeom>
          <a:noFill/>
        </p:spPr>
        <p:txBody>
          <a:bodyPr wrap="square">
            <a:spAutoFit/>
          </a:bodyPr>
          <a:lstStyle/>
          <a:p>
            <a:pPr marL="0" indent="0">
              <a:spcAft>
                <a:spcPts val="1000"/>
              </a:spcAft>
            </a:pPr>
            <a:r>
              <a:rPr lang="vi-VN" sz="1700" b="1" i="0" dirty="0">
                <a:solidFill>
                  <a:srgbClr val="232323"/>
                </a:solidFill>
                <a:latin typeface="Arial"/>
              </a:rPr>
              <a:t>•  Một lượt chạy hiệu chỉnh (calibration run) chỉ có thể dùng để so sánh kịch bản sau khi đã vượt qua các bước chẩn đoán kiểm tra (diagnostics)</a:t>
            </a:r>
          </a:p>
          <a:p>
            <a:pPr marL="0" indent="0">
              <a:spcAft>
                <a:spcPts val="1000"/>
              </a:spcAft>
            </a:pPr>
            <a:r>
              <a:rPr lang="vi-VN" sz="1700" b="0" i="0" dirty="0">
                <a:solidFill>
                  <a:srgbClr val="232323"/>
                </a:solidFill>
                <a:latin typeface="Arial"/>
              </a:rPr>
              <a:t>•  Các chỉ số cần kiểm tra: Phần dư (residuals), sự hội tụ trạng thái dừng</a:t>
            </a:r>
            <a:r>
              <a:rPr lang="en-US" sz="1700" b="0" i="0" dirty="0">
                <a:solidFill>
                  <a:srgbClr val="232323"/>
                </a:solidFill>
                <a:latin typeface="Arial"/>
              </a:rPr>
              <a:t>/</a:t>
            </a:r>
            <a:r>
              <a:rPr lang="en-US" sz="1700" b="0" i="0" dirty="0" err="1">
                <a:solidFill>
                  <a:srgbClr val="232323"/>
                </a:solidFill>
                <a:latin typeface="Arial"/>
              </a:rPr>
              <a:t>cân</a:t>
            </a:r>
            <a:r>
              <a:rPr lang="en-US" sz="1700" b="0" i="0" dirty="0">
                <a:solidFill>
                  <a:srgbClr val="232323"/>
                </a:solidFill>
                <a:latin typeface="Arial"/>
              </a:rPr>
              <a:t> </a:t>
            </a:r>
            <a:r>
              <a:rPr lang="en-US" sz="1700" b="0" i="0" dirty="0" err="1">
                <a:solidFill>
                  <a:srgbClr val="232323"/>
                </a:solidFill>
                <a:latin typeface="Arial"/>
              </a:rPr>
              <a:t>bằng</a:t>
            </a:r>
            <a:r>
              <a:rPr lang="en-US" sz="1700" b="0" i="0" dirty="0">
                <a:solidFill>
                  <a:srgbClr val="232323"/>
                </a:solidFill>
                <a:latin typeface="Arial"/>
              </a:rPr>
              <a:t> </a:t>
            </a:r>
            <a:r>
              <a:rPr lang="en-US" sz="1700" b="0" i="0" dirty="0" err="1">
                <a:solidFill>
                  <a:srgbClr val="232323"/>
                </a:solidFill>
                <a:latin typeface="Arial"/>
              </a:rPr>
              <a:t>dài</a:t>
            </a:r>
            <a:r>
              <a:rPr lang="en-US" sz="1700" b="0" i="0" dirty="0">
                <a:solidFill>
                  <a:srgbClr val="232323"/>
                </a:solidFill>
                <a:latin typeface="Arial"/>
              </a:rPr>
              <a:t> </a:t>
            </a:r>
            <a:r>
              <a:rPr lang="en-US" sz="1700" b="0" i="0" dirty="0" err="1">
                <a:solidFill>
                  <a:srgbClr val="232323"/>
                </a:solidFill>
                <a:latin typeface="Arial"/>
              </a:rPr>
              <a:t>hạn</a:t>
            </a:r>
            <a:r>
              <a:rPr lang="vi-VN" sz="1700" b="0" i="0" dirty="0">
                <a:solidFill>
                  <a:srgbClr val="232323"/>
                </a:solidFill>
                <a:latin typeface="Arial"/>
              </a:rPr>
              <a:t> (steady-state convergence), các đồng nhất thức kế toán (accounting identities), và các tệp đầu ra được khởi tạo.</a:t>
            </a:r>
          </a:p>
          <a:p>
            <a:pPr marL="0" indent="0">
              <a:spcAft>
                <a:spcPts val="1000"/>
              </a:spcAft>
            </a:pPr>
            <a:r>
              <a:rPr lang="vi-VN" sz="1700" b="1" i="0" dirty="0">
                <a:solidFill>
                  <a:srgbClr val="232323"/>
                </a:solidFill>
                <a:latin typeface="Arial"/>
              </a:rPr>
              <a:t>•  Kỹ năng phân loại lỗi khi gỡ lỗi (Debugging) — hãy xác định đúng nhóm lỗi trước khi tiến hành sửa:</a:t>
            </a:r>
          </a:p>
          <a:p>
            <a:pPr marL="320040" indent="0">
              <a:spcAft>
                <a:spcPts val="600"/>
              </a:spcAft>
            </a:pPr>
            <a:r>
              <a:rPr lang="vi-VN" sz="1500" b="0" i="0" dirty="0">
                <a:solidFill>
                  <a:srgbClr val="232323"/>
                </a:solidFill>
                <a:latin typeface="Arial"/>
              </a:rPr>
              <a:t>–  1. Lỗi đường dẫn (Path error): Chương trình chạy không tìm thấy tệp cần thiết.</a:t>
            </a:r>
          </a:p>
          <a:p>
            <a:pPr marL="320040" indent="0">
              <a:spcAft>
                <a:spcPts val="600"/>
              </a:spcAft>
            </a:pPr>
            <a:r>
              <a:rPr lang="vi-VN" sz="1500" b="0" i="0" dirty="0">
                <a:solidFill>
                  <a:srgbClr val="232323"/>
                </a:solidFill>
                <a:latin typeface="Arial"/>
              </a:rPr>
              <a:t>–  2. Thiếu hoặc khóa tệp dữ liệu (Missing or locked input): Bảng tính yêu cầu không nằm đúng vị trí dự kiến, hoặc đang mở ở một ứng dụng khác.</a:t>
            </a:r>
          </a:p>
          <a:p>
            <a:pPr marL="320040" indent="0">
              <a:spcAft>
                <a:spcPts val="600"/>
              </a:spcAft>
            </a:pPr>
            <a:r>
              <a:rPr lang="vi-VN" sz="1500" b="0" i="0" dirty="0">
                <a:solidFill>
                  <a:srgbClr val="232323"/>
                </a:solidFill>
                <a:latin typeface="Arial"/>
              </a:rPr>
              <a:t>–  3. Không hội tụ (Non-convergence): Bộ giải (solver) không đạt được trạng thái dừng; hãy kiểm tra các giá trị khởi tạo (initial values) trước khi can thiệp vào mức độ dung sai (tolerances).</a:t>
            </a:r>
          </a:p>
          <a:p>
            <a:pPr marL="320040" indent="0">
              <a:spcAft>
                <a:spcPts val="600"/>
              </a:spcAft>
            </a:pPr>
            <a:r>
              <a:rPr lang="vi-VN" sz="1500" b="0" i="0" dirty="0">
                <a:solidFill>
                  <a:srgbClr val="232323"/>
                </a:solidFill>
                <a:latin typeface="Arial"/>
              </a:rPr>
              <a:t>–  4. Lỗi cú pháp / cấu trúc (Syntax/structural error): Thường được phát hiện và báo lỗi trực tiếp bởi tin nhắn thông báo của Dynare.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GIZ_Logo.png"/>
          <p:cNvPicPr>
            <a:picLocks noChangeAspect="1"/>
          </p:cNvPicPr>
          <p:nvPr/>
        </p:nvPicPr>
        <p:blipFill>
          <a:blip r:embed="rId2"/>
          <a:stretch>
            <a:fillRect/>
          </a:stretch>
        </p:blipFill>
        <p:spPr>
          <a:xfrm>
            <a:off x="10088575" y="457200"/>
            <a:ext cx="1656522" cy="457200"/>
          </a:xfrm>
          <a:prstGeom prst="rect">
            <a:avLst/>
          </a:prstGeom>
        </p:spPr>
      </p:pic>
      <p:sp>
        <p:nvSpPr>
          <p:cNvPr id="4" name="TextBox 3"/>
          <p:cNvSpPr txBox="1"/>
          <p:nvPr/>
        </p:nvSpPr>
        <p:spPr>
          <a:xfrm>
            <a:off x="822960" y="2651760"/>
            <a:ext cx="10058400" cy="2011680"/>
          </a:xfrm>
          <a:prstGeom prst="rect">
            <a:avLst/>
          </a:prstGeom>
          <a:noFill/>
        </p:spPr>
        <p:txBody>
          <a:bodyPr wrap="square">
            <a:spAutoFit/>
          </a:bodyPr>
          <a:lstStyle/>
          <a:p>
            <a:pPr>
              <a:spcAft>
                <a:spcPts val="1000"/>
              </a:spcAft>
            </a:pPr>
            <a:r>
              <a:rPr lang="vi-VN" sz="1500" b="1" i="0">
                <a:solidFill>
                  <a:srgbClr val="FFD2D2"/>
                </a:solidFill>
                <a:latin typeface="Arial"/>
              </a:rPr>
              <a:t>NGHỈ GIẢI LAO</a:t>
            </a:r>
          </a:p>
          <a:p>
            <a:r>
              <a:rPr lang="vi-VN" sz="3400" b="1" i="0">
                <a:solidFill>
                  <a:srgbClr val="FFFFFF"/>
                </a:solidFill>
                <a:latin typeface="Arial"/>
              </a:rPr>
              <a:t>15 phút</a:t>
            </a:r>
          </a:p>
          <a:p>
            <a:pPr>
              <a:spcBef>
                <a:spcPts val="1400"/>
              </a:spcBef>
            </a:pPr>
            <a:r>
              <a:rPr lang="vi-VN" sz="1700" b="0" i="0">
                <a:solidFill>
                  <a:srgbClr val="FFFFFF"/>
                </a:solidFill>
                <a:latin typeface="Arial"/>
              </a:rPr>
              <a:t>Đảm bảo mỗi nhóm đều hoàn thành một lượt chạy kịch bản cơ sở hợp lệ trước khi chúng ta tiếp tục.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64435"/>
            <a:ext cx="11688775" cy="810478"/>
          </a:xfrm>
          <a:prstGeom prst="rect">
            <a:avLst/>
          </a:prstGeom>
          <a:noFill/>
        </p:spPr>
        <p:txBody>
          <a:bodyPr wrap="square" anchor="ctr">
            <a:spAutoFit/>
          </a:bodyPr>
          <a:lstStyle/>
          <a:p>
            <a:pPr>
              <a:spcAft>
                <a:spcPts val="1400"/>
              </a:spcAft>
            </a:pPr>
            <a:r>
              <a:rPr lang="vi-VN" sz="1100" b="1" i="0">
                <a:solidFill>
                  <a:srgbClr val="FFD2D2"/>
                </a:solidFill>
                <a:latin typeface="Arial"/>
              </a:rPr>
              <a:t>PHẦN 5 · 15 PHÚT</a:t>
            </a:r>
          </a:p>
          <a:p>
            <a:r>
              <a:rPr lang="vi-VN" sz="2400" b="1" i="0">
                <a:solidFill>
                  <a:srgbClr val="FFFFFF"/>
                </a:solidFill>
                <a:latin typeface="Arial"/>
              </a:rPr>
              <a:t>Chạy Kịch bản Tài chính + Hiệu quả Năng lượng, Hỗ trợ bởi AI trong VS Code</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6</a:t>
            </a:r>
          </a:p>
        </p:txBody>
      </p:sp>
      <p:sp>
        <p:nvSpPr>
          <p:cNvPr id="9" name="TextBox 8"/>
          <p:cNvSpPr txBox="1"/>
          <p:nvPr/>
        </p:nvSpPr>
        <p:spPr>
          <a:xfrm>
            <a:off x="502920" y="1554480"/>
            <a:ext cx="5410047" cy="365760"/>
          </a:xfrm>
          <a:prstGeom prst="rect">
            <a:avLst/>
          </a:prstGeom>
          <a:noFill/>
        </p:spPr>
        <p:txBody>
          <a:bodyPr wrap="none">
            <a:spAutoFit/>
          </a:bodyPr>
          <a:lstStyle/>
          <a:p>
            <a:r>
              <a:rPr lang="vi-VN" sz="1600" b="1" i="0">
                <a:solidFill>
                  <a:srgbClr val="CC071E"/>
                </a:solidFill>
                <a:latin typeface="Arial"/>
              </a:rPr>
              <a:t>Các kịch bản đối sánh</a:t>
            </a:r>
          </a:p>
        </p:txBody>
      </p:sp>
      <p:sp>
        <p:nvSpPr>
          <p:cNvPr id="10" name="TextBox 9"/>
          <p:cNvSpPr txBox="1"/>
          <p:nvPr/>
        </p:nvSpPr>
        <p:spPr>
          <a:xfrm>
            <a:off x="502921" y="1965960"/>
            <a:ext cx="5083492" cy="1733808"/>
          </a:xfrm>
          <a:prstGeom prst="rect">
            <a:avLst/>
          </a:prstGeom>
          <a:noFill/>
        </p:spPr>
        <p:txBody>
          <a:bodyPr wrap="square">
            <a:spAutoFit/>
          </a:bodyPr>
          <a:lstStyle/>
          <a:p>
            <a:pPr marL="0" indent="0">
              <a:spcAft>
                <a:spcPts val="1000"/>
              </a:spcAft>
            </a:pPr>
            <a:r>
              <a:rPr lang="vi-VN" sz="1500" b="0" i="0">
                <a:solidFill>
                  <a:srgbClr val="232323"/>
                </a:solidFill>
                <a:latin typeface="Arial"/>
              </a:rPr>
              <a:t>•  Kịch bản tài chính </a:t>
            </a:r>
            <a:r>
              <a:rPr lang="en-US" sz="1500" b="0" i="0">
                <a:solidFill>
                  <a:srgbClr val="232323"/>
                </a:solidFill>
                <a:latin typeface="Arial"/>
              </a:rPr>
              <a:t>so với</a:t>
            </a:r>
            <a:r>
              <a:rPr lang="vi-VN" sz="1500" b="0" i="0">
                <a:solidFill>
                  <a:srgbClr val="232323"/>
                </a:solidFill>
                <a:latin typeface="Arial"/>
              </a:rPr>
              <a:t> Kịch bản cơ sở tương ứng (cùng quỹ đạo phát thải, chỉ khác 1 biến số).</a:t>
            </a:r>
          </a:p>
          <a:p>
            <a:pPr marL="0" indent="0">
              <a:spcAft>
                <a:spcPts val="1000"/>
              </a:spcAft>
            </a:pPr>
            <a:r>
              <a:rPr lang="vi-VN" sz="1500" b="0" i="0">
                <a:solidFill>
                  <a:srgbClr val="232323"/>
                </a:solidFill>
                <a:latin typeface="Arial"/>
              </a:rPr>
              <a:t>•  Kịch bản hiệu quả năng lượng </a:t>
            </a:r>
            <a:r>
              <a:rPr lang="en-US" sz="1500" b="0" i="0">
                <a:solidFill>
                  <a:srgbClr val="232323"/>
                </a:solidFill>
                <a:latin typeface="Arial"/>
              </a:rPr>
              <a:t>so với</a:t>
            </a:r>
            <a:r>
              <a:rPr lang="vi-VN" sz="1500" b="0" i="0">
                <a:solidFill>
                  <a:srgbClr val="232323"/>
                </a:solidFill>
                <a:latin typeface="Arial"/>
              </a:rPr>
              <a:t> Kịch bản cơ sở QHĐ VIII (khác biệt ở các hệ số hiệu quả).</a:t>
            </a:r>
          </a:p>
          <a:p>
            <a:pPr marL="0" indent="0">
              <a:spcAft>
                <a:spcPts val="1000"/>
              </a:spcAft>
            </a:pPr>
            <a:r>
              <a:rPr lang="vi-VN" sz="1500" b="0" i="0">
                <a:solidFill>
                  <a:srgbClr val="232323"/>
                </a:solidFill>
                <a:latin typeface="Arial"/>
              </a:rPr>
              <a:t>•  Áp dụng cùng tùy chọn bộ giải và khung thời gian cho cả hai phép so sánh.</a:t>
            </a:r>
          </a:p>
        </p:txBody>
      </p:sp>
      <p:sp>
        <p:nvSpPr>
          <p:cNvPr id="11" name="TextBox 10"/>
          <p:cNvSpPr txBox="1"/>
          <p:nvPr/>
        </p:nvSpPr>
        <p:spPr>
          <a:xfrm>
            <a:off x="6278727" y="1554480"/>
            <a:ext cx="5410047" cy="365760"/>
          </a:xfrm>
          <a:prstGeom prst="rect">
            <a:avLst/>
          </a:prstGeom>
          <a:noFill/>
        </p:spPr>
        <p:txBody>
          <a:bodyPr wrap="none">
            <a:spAutoFit/>
          </a:bodyPr>
          <a:lstStyle/>
          <a:p>
            <a:r>
              <a:rPr lang="vi-VN" sz="1600" b="1" i="0">
                <a:solidFill>
                  <a:srgbClr val="CC071E"/>
                </a:solidFill>
                <a:latin typeface="Arial"/>
              </a:rPr>
              <a:t>Sử dụng AI hỗ trợ trong VS Code (Demo trực tiếp)</a:t>
            </a:r>
          </a:p>
        </p:txBody>
      </p:sp>
      <p:sp>
        <p:nvSpPr>
          <p:cNvPr id="12" name="TextBox 11"/>
          <p:cNvSpPr txBox="1"/>
          <p:nvPr/>
        </p:nvSpPr>
        <p:spPr>
          <a:xfrm>
            <a:off x="6278727" y="1965960"/>
            <a:ext cx="5547208" cy="1733808"/>
          </a:xfrm>
          <a:prstGeom prst="rect">
            <a:avLst/>
          </a:prstGeom>
          <a:noFill/>
        </p:spPr>
        <p:txBody>
          <a:bodyPr wrap="square">
            <a:spAutoFit/>
          </a:bodyPr>
          <a:lstStyle/>
          <a:p>
            <a:pPr marL="0" indent="0">
              <a:spcAft>
                <a:spcPts val="1000"/>
              </a:spcAft>
            </a:pPr>
            <a:r>
              <a:rPr lang="vi-VN" sz="1500" b="0" i="0">
                <a:solidFill>
                  <a:srgbClr val="232323"/>
                </a:solidFill>
                <a:latin typeface="Arial"/>
              </a:rPr>
              <a:t>•  Định vị một hàm/biến số, giải thích các đoạn mã lạ, dự thảo điều chỉnh nhỏ để kiểm tra lại.</a:t>
            </a:r>
          </a:p>
          <a:p>
            <a:pPr marL="0" indent="0">
              <a:spcAft>
                <a:spcPts val="1000"/>
              </a:spcAft>
            </a:pPr>
            <a:r>
              <a:rPr lang="vi-VN" sz="1500" b="0" i="0">
                <a:solidFill>
                  <a:srgbClr val="232323"/>
                </a:solidFill>
                <a:latin typeface="Arial"/>
              </a:rPr>
              <a:t>•  Hướng dẫn quy trình làm việc chung — không phải tính năng riêng biệt của DGE-METRIC.</a:t>
            </a:r>
          </a:p>
          <a:p>
            <a:pPr marL="0" indent="0">
              <a:spcAft>
                <a:spcPts val="1000"/>
              </a:spcAft>
            </a:pPr>
            <a:r>
              <a:rPr lang="vi-VN" sz="1500" b="1" i="0">
                <a:solidFill>
                  <a:srgbClr val="232323"/>
                </a:solidFill>
                <a:latin typeface="Arial"/>
              </a:rPr>
              <a:t>•  Luôn kiểm tra kỹ các đề xuất điều chỉnh từ AI trước khi áp dụng vào mã nguồn.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6 · 20 PHÚT</a:t>
            </a:r>
          </a:p>
          <a:p>
            <a:r>
              <a:rPr lang="vi-VN" sz="2400" b="1" i="0">
                <a:solidFill>
                  <a:srgbClr val="FFFFFF"/>
                </a:solidFill>
                <a:latin typeface="Arial"/>
              </a:rPr>
              <a:t>Bảng so sánh, Báo cáo đồ thị &amp; Thuyết minh</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7</a:t>
            </a:r>
          </a:p>
        </p:txBody>
      </p:sp>
      <p:sp>
        <p:nvSpPr>
          <p:cNvPr id="9" name="TextBox 8"/>
          <p:cNvSpPr txBox="1"/>
          <p:nvPr/>
        </p:nvSpPr>
        <p:spPr>
          <a:xfrm>
            <a:off x="502920" y="1554480"/>
            <a:ext cx="11185855" cy="2831544"/>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Bảng kịch bản tài chính: Lãi suất tài chính công, vốn đầu tư NLTT, GDP, đầu tư, thu ngân sách từ thuế phát thải, sản lượng điện tái tạo.</a:t>
            </a:r>
          </a:p>
          <a:p>
            <a:pPr marL="0" indent="0" algn="just">
              <a:spcAft>
                <a:spcPts val="1000"/>
              </a:spcAft>
            </a:pPr>
            <a:r>
              <a:rPr lang="vi-VN" sz="1700" b="0" i="0" dirty="0">
                <a:solidFill>
                  <a:srgbClr val="232323"/>
                </a:solidFill>
                <a:latin typeface="Arial"/>
              </a:rPr>
              <a:t>•  Bảng kịch bản hiệu quả năng lượng: Cường độ năng lượng, nhu cầu năng lượng cuối cùng, GDP, đầu tư, giá năng lượng / chi phí năng lượng.</a:t>
            </a:r>
          </a:p>
          <a:p>
            <a:pPr marL="0" indent="0" algn="just">
              <a:spcAft>
                <a:spcPts val="1000"/>
              </a:spcAft>
            </a:pPr>
            <a:r>
              <a:rPr lang="vi-VN" sz="1700" b="1" i="0" dirty="0">
                <a:solidFill>
                  <a:srgbClr val="232323"/>
                </a:solidFill>
                <a:latin typeface="Arial"/>
              </a:rPr>
              <a:t>•  Tác động GDP trong kịch bản hiệu quả năng lượng có tính đến hiệu ứng </a:t>
            </a:r>
            <a:r>
              <a:rPr lang="en-US" sz="1700" b="1" i="0" dirty="0" err="1">
                <a:solidFill>
                  <a:srgbClr val="232323"/>
                </a:solidFill>
                <a:latin typeface="Arial"/>
              </a:rPr>
              <a:t>tương</a:t>
            </a:r>
            <a:r>
              <a:rPr lang="en-US" sz="1700" b="1" i="0" dirty="0">
                <a:solidFill>
                  <a:srgbClr val="232323"/>
                </a:solidFill>
                <a:latin typeface="Arial"/>
              </a:rPr>
              <a:t> </a:t>
            </a:r>
            <a:r>
              <a:rPr lang="en-US" sz="1700" b="1" i="0" dirty="0" err="1">
                <a:solidFill>
                  <a:srgbClr val="232323"/>
                </a:solidFill>
                <a:latin typeface="Arial"/>
              </a:rPr>
              <a:t>tác</a:t>
            </a:r>
            <a:r>
              <a:rPr lang="vi-VN" sz="1700" b="1" i="0" dirty="0">
                <a:solidFill>
                  <a:srgbClr val="232323"/>
                </a:solidFill>
                <a:latin typeface="Arial"/>
              </a:rPr>
              <a:t> (rebound effect) — tức là mức tiết kiệm ròng, chứ không phải tiết kiệm gộp.</a:t>
            </a:r>
          </a:p>
          <a:p>
            <a:pPr marL="0" indent="0" algn="just">
              <a:spcAft>
                <a:spcPts val="1000"/>
              </a:spcAft>
            </a:pPr>
            <a:r>
              <a:rPr lang="vi-VN" sz="1700" b="0" i="0" dirty="0">
                <a:solidFill>
                  <a:srgbClr val="232323"/>
                </a:solidFill>
                <a:latin typeface="Arial"/>
              </a:rPr>
              <a:t>•  Bài tập: Chọn 1 chỉ </a:t>
            </a:r>
            <a:r>
              <a:rPr lang="en-US" sz="1700" b="0" i="0" dirty="0" err="1">
                <a:solidFill>
                  <a:srgbClr val="232323"/>
                </a:solidFill>
                <a:latin typeface="Arial"/>
              </a:rPr>
              <a:t>số</a:t>
            </a:r>
            <a:r>
              <a:rPr lang="vi-VN" sz="1700" b="0" i="0" dirty="0">
                <a:solidFill>
                  <a:srgbClr val="232323"/>
                </a:solidFill>
                <a:latin typeface="Arial"/>
              </a:rPr>
              <a:t> có </a:t>
            </a:r>
            <a:r>
              <a:rPr lang="en-US" sz="1700" b="0" i="0" dirty="0" err="1">
                <a:solidFill>
                  <a:srgbClr val="232323"/>
                </a:solidFill>
                <a:latin typeface="Arial"/>
              </a:rPr>
              <a:t>tính</a:t>
            </a:r>
            <a:r>
              <a:rPr lang="en-US" sz="1700" b="0" i="0" dirty="0">
                <a:solidFill>
                  <a:srgbClr val="232323"/>
                </a:solidFill>
                <a:latin typeface="Arial"/>
              </a:rPr>
              <a:t> </a:t>
            </a:r>
            <a:r>
              <a:rPr lang="en-US" sz="1700" b="0" i="0" dirty="0" err="1">
                <a:solidFill>
                  <a:srgbClr val="232323"/>
                </a:solidFill>
                <a:latin typeface="Arial"/>
              </a:rPr>
              <a:t>ứng</a:t>
            </a:r>
            <a:r>
              <a:rPr lang="en-US" sz="1700" b="0" i="0" dirty="0">
                <a:solidFill>
                  <a:srgbClr val="232323"/>
                </a:solidFill>
                <a:latin typeface="Arial"/>
              </a:rPr>
              <a:t> </a:t>
            </a:r>
            <a:r>
              <a:rPr lang="en-US" sz="1700" b="0" i="0" dirty="0" err="1">
                <a:solidFill>
                  <a:srgbClr val="232323"/>
                </a:solidFill>
                <a:latin typeface="Arial"/>
              </a:rPr>
              <a:t>dụng</a:t>
            </a:r>
            <a:r>
              <a:rPr lang="en-US" sz="1700" b="0" i="0" dirty="0">
                <a:solidFill>
                  <a:srgbClr val="232323"/>
                </a:solidFill>
                <a:latin typeface="Arial"/>
              </a:rPr>
              <a:t> </a:t>
            </a:r>
            <a:r>
              <a:rPr lang="vi-VN" sz="1700" b="0" i="0" dirty="0">
                <a:solidFill>
                  <a:srgbClr val="232323"/>
                </a:solidFill>
                <a:latin typeface="Arial"/>
              </a:rPr>
              <a:t>chính sách </a:t>
            </a:r>
            <a:r>
              <a:rPr lang="en-US" sz="1700" b="0" i="0" dirty="0" err="1">
                <a:solidFill>
                  <a:srgbClr val="232323"/>
                </a:solidFill>
                <a:latin typeface="Arial"/>
              </a:rPr>
              <a:t>cao</a:t>
            </a:r>
            <a:r>
              <a:rPr lang="en-US" sz="1700" b="0" i="0" dirty="0">
                <a:solidFill>
                  <a:srgbClr val="232323"/>
                </a:solidFill>
                <a:latin typeface="Arial"/>
              </a:rPr>
              <a:t> (</a:t>
            </a:r>
            <a:r>
              <a:rPr lang="en-US" sz="1700" b="0" i="0" dirty="0" err="1">
                <a:solidFill>
                  <a:srgbClr val="232323"/>
                </a:solidFill>
                <a:latin typeface="Arial"/>
              </a:rPr>
              <a:t>các</a:t>
            </a:r>
            <a:r>
              <a:rPr lang="en-US" sz="1700" b="0" i="0" dirty="0">
                <a:solidFill>
                  <a:srgbClr val="232323"/>
                </a:solidFill>
                <a:latin typeface="Arial"/>
              </a:rPr>
              <a:t> </a:t>
            </a:r>
            <a:r>
              <a:rPr lang="en-US" sz="1700" b="0" i="0" dirty="0" err="1">
                <a:solidFill>
                  <a:srgbClr val="232323"/>
                </a:solidFill>
                <a:latin typeface="Arial"/>
              </a:rPr>
              <a:t>nhà</a:t>
            </a:r>
            <a:r>
              <a:rPr lang="en-US" sz="1700" b="0" i="0" dirty="0">
                <a:solidFill>
                  <a:srgbClr val="232323"/>
                </a:solidFill>
                <a:latin typeface="Arial"/>
              </a:rPr>
              <a:t> </a:t>
            </a:r>
            <a:r>
              <a:rPr lang="en-US" sz="1700" b="0" i="0" dirty="0" err="1">
                <a:solidFill>
                  <a:srgbClr val="232323"/>
                </a:solidFill>
                <a:latin typeface="Arial"/>
              </a:rPr>
              <a:t>hoạch</a:t>
            </a:r>
            <a:r>
              <a:rPr lang="en-US" sz="1700" b="0" i="0" dirty="0">
                <a:solidFill>
                  <a:srgbClr val="232323"/>
                </a:solidFill>
                <a:latin typeface="Arial"/>
              </a:rPr>
              <a:t> </a:t>
            </a:r>
            <a:r>
              <a:rPr lang="en-US" sz="1700" b="0" i="0" dirty="0" err="1">
                <a:solidFill>
                  <a:srgbClr val="232323"/>
                </a:solidFill>
                <a:latin typeface="Arial"/>
              </a:rPr>
              <a:t>định</a:t>
            </a:r>
            <a:r>
              <a:rPr lang="en-US" sz="1700" b="0" i="0" dirty="0">
                <a:solidFill>
                  <a:srgbClr val="232323"/>
                </a:solidFill>
                <a:latin typeface="Arial"/>
              </a:rPr>
              <a:t> </a:t>
            </a:r>
            <a:r>
              <a:rPr lang="en-US" sz="1700" b="0" i="0" dirty="0" err="1">
                <a:solidFill>
                  <a:srgbClr val="232323"/>
                </a:solidFill>
                <a:latin typeface="Arial"/>
              </a:rPr>
              <a:t>chính</a:t>
            </a:r>
            <a:r>
              <a:rPr lang="en-US" sz="1700" b="0" i="0" dirty="0">
                <a:solidFill>
                  <a:srgbClr val="232323"/>
                </a:solidFill>
                <a:latin typeface="Arial"/>
              </a:rPr>
              <a:t> </a:t>
            </a:r>
            <a:r>
              <a:rPr lang="en-US" sz="1700" b="0" i="0" dirty="0" err="1">
                <a:solidFill>
                  <a:srgbClr val="232323"/>
                </a:solidFill>
                <a:latin typeface="Arial"/>
              </a:rPr>
              <a:t>sách</a:t>
            </a:r>
            <a:r>
              <a:rPr lang="en-US" sz="1700" b="0" i="0" dirty="0">
                <a:solidFill>
                  <a:srgbClr val="232323"/>
                </a:solidFill>
                <a:latin typeface="Arial"/>
              </a:rPr>
              <a:t> </a:t>
            </a:r>
            <a:r>
              <a:rPr lang="en-US" sz="1700" b="0" i="0" dirty="0" err="1">
                <a:solidFill>
                  <a:srgbClr val="232323"/>
                </a:solidFill>
                <a:latin typeface="Arial"/>
              </a:rPr>
              <a:t>thực</a:t>
            </a:r>
            <a:r>
              <a:rPr lang="en-US" sz="1700" b="0" i="0" dirty="0">
                <a:solidFill>
                  <a:srgbClr val="232323"/>
                </a:solidFill>
                <a:latin typeface="Arial"/>
              </a:rPr>
              <a:t> </a:t>
            </a:r>
            <a:r>
              <a:rPr lang="en-US" sz="1700" b="0" i="0" dirty="0" err="1">
                <a:solidFill>
                  <a:srgbClr val="232323"/>
                </a:solidFill>
                <a:latin typeface="Arial"/>
              </a:rPr>
              <a:t>sự</a:t>
            </a:r>
            <a:r>
              <a:rPr lang="en-US" sz="1700" b="0" i="0" dirty="0">
                <a:solidFill>
                  <a:srgbClr val="232323"/>
                </a:solidFill>
                <a:latin typeface="Arial"/>
              </a:rPr>
              <a:t> </a:t>
            </a:r>
            <a:r>
              <a:rPr lang="en-US" sz="1700" b="0" i="0" dirty="0" err="1">
                <a:solidFill>
                  <a:srgbClr val="232323"/>
                </a:solidFill>
                <a:latin typeface="Arial"/>
              </a:rPr>
              <a:t>quan</a:t>
            </a:r>
            <a:r>
              <a:rPr lang="en-US" sz="1700" b="0" i="0" dirty="0">
                <a:solidFill>
                  <a:srgbClr val="232323"/>
                </a:solidFill>
                <a:latin typeface="Arial"/>
              </a:rPr>
              <a:t> </a:t>
            </a:r>
            <a:r>
              <a:rPr lang="en-US" sz="1700" b="0" i="0" dirty="0" err="1">
                <a:solidFill>
                  <a:srgbClr val="232323"/>
                </a:solidFill>
                <a:latin typeface="Arial"/>
              </a:rPr>
              <a:t>tâm</a:t>
            </a:r>
            <a:r>
              <a:rPr lang="en-US" sz="1700" b="0" i="0" dirty="0">
                <a:solidFill>
                  <a:srgbClr val="232323"/>
                </a:solidFill>
                <a:latin typeface="Arial"/>
              </a:rPr>
              <a:t>)</a:t>
            </a:r>
            <a:r>
              <a:rPr lang="vi-VN" sz="1700" b="0" i="0" dirty="0">
                <a:solidFill>
                  <a:srgbClr val="232323"/>
                </a:solidFill>
                <a:latin typeface="Arial"/>
              </a:rPr>
              <a:t>; xây dựng 1 biểu đồ và viết bản thuyết minh ngắn gồm 4 câu theo cấu trúc: kết quả, cơ chế tác động, hàm ý chính sách, lưu ý/giới hạn của kết quả (caveat).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7 · 10 PHÚT</a:t>
            </a:r>
          </a:p>
          <a:p>
            <a:r>
              <a:rPr lang="vi-VN" sz="2400" b="1" i="0">
                <a:solidFill>
                  <a:srgbClr val="FFFFFF"/>
                </a:solidFill>
                <a:latin typeface="Arial"/>
              </a:rPr>
              <a:t>Kết quả bài tập buổi sáng &amp; Tổng kết thảo luận</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8</a:t>
            </a:r>
          </a:p>
        </p:txBody>
      </p:sp>
      <p:sp>
        <p:nvSpPr>
          <p:cNvPr id="9" name="TextBox 8"/>
          <p:cNvSpPr txBox="1"/>
          <p:nvPr/>
        </p:nvSpPr>
        <p:spPr>
          <a:xfrm>
            <a:off x="502920" y="1554480"/>
            <a:ext cx="11236796" cy="2441694"/>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Kết quả thu được sau </a:t>
            </a:r>
            <a:r>
              <a:rPr lang="en-US" sz="1700" b="0" i="0" dirty="0" err="1">
                <a:solidFill>
                  <a:srgbClr val="232323"/>
                </a:solidFill>
                <a:latin typeface="Arial"/>
              </a:rPr>
              <a:t>phiên</a:t>
            </a:r>
            <a:r>
              <a:rPr lang="en-US" sz="1700" b="0" i="0" dirty="0">
                <a:solidFill>
                  <a:srgbClr val="232323"/>
                </a:solidFill>
                <a:latin typeface="Arial"/>
              </a:rPr>
              <a:t> </a:t>
            </a:r>
            <a:r>
              <a:rPr lang="vi-VN" sz="1700" b="0" i="0" dirty="0">
                <a:solidFill>
                  <a:srgbClr val="232323"/>
                </a:solidFill>
                <a:latin typeface="Arial"/>
              </a:rPr>
              <a:t>buổi sáng: 01 ghi chú chẩn đoán hiệu chỉnh; các bảng so sánh và 01 biểu đồ kèm thuyết minh bao </a:t>
            </a:r>
            <a:r>
              <a:rPr lang="en-US" sz="1700" b="0" i="0" dirty="0" err="1">
                <a:solidFill>
                  <a:srgbClr val="232323"/>
                </a:solidFill>
                <a:latin typeface="Arial"/>
              </a:rPr>
              <a:t>trù</a:t>
            </a:r>
            <a:r>
              <a:rPr lang="vi-VN" sz="1700" b="0" i="0" dirty="0">
                <a:solidFill>
                  <a:srgbClr val="232323"/>
                </a:solidFill>
                <a:latin typeface="Arial"/>
              </a:rPr>
              <a:t>m cả hai kịch bản: tài chính và hiệu quả năng lượng; thư mục mã nguồn cục bộ </a:t>
            </a:r>
            <a:r>
              <a:rPr lang="en-US" sz="1700" b="0" i="0" dirty="0">
                <a:solidFill>
                  <a:srgbClr val="232323"/>
                </a:solidFill>
                <a:latin typeface="Arial"/>
              </a:rPr>
              <a:t>(</a:t>
            </a:r>
            <a:r>
              <a:rPr lang="en-US" sz="1700" b="0" i="0" dirty="0" err="1">
                <a:solidFill>
                  <a:srgbClr val="232323"/>
                </a:solidFill>
                <a:latin typeface="Arial"/>
              </a:rPr>
              <a:t>trên</a:t>
            </a:r>
            <a:r>
              <a:rPr lang="en-US" sz="1700" b="0" i="0" dirty="0">
                <a:solidFill>
                  <a:srgbClr val="232323"/>
                </a:solidFill>
                <a:latin typeface="Arial"/>
              </a:rPr>
              <a:t> </a:t>
            </a:r>
            <a:r>
              <a:rPr lang="en-US" sz="1700" b="0" i="0" dirty="0" err="1">
                <a:solidFill>
                  <a:srgbClr val="232323"/>
                </a:solidFill>
                <a:latin typeface="Arial"/>
              </a:rPr>
              <a:t>máy</a:t>
            </a:r>
            <a:r>
              <a:rPr lang="en-US" sz="1700" b="0" i="0" dirty="0">
                <a:solidFill>
                  <a:srgbClr val="232323"/>
                </a:solidFill>
                <a:latin typeface="Arial"/>
              </a:rPr>
              <a:t>) </a:t>
            </a:r>
            <a:r>
              <a:rPr lang="vi-VN" sz="1700" b="0" i="0" dirty="0">
                <a:solidFill>
                  <a:srgbClr val="232323"/>
                </a:solidFill>
                <a:latin typeface="Arial"/>
              </a:rPr>
              <a:t>đã được </a:t>
            </a:r>
            <a:r>
              <a:rPr lang="en-US" sz="1700" b="0" i="0" dirty="0" err="1">
                <a:solidFill>
                  <a:srgbClr val="232323"/>
                </a:solidFill>
                <a:latin typeface="Arial"/>
              </a:rPr>
              <a:t>tạo</a:t>
            </a:r>
            <a:r>
              <a:rPr lang="en-US" sz="1700" b="0" i="0" dirty="0">
                <a:solidFill>
                  <a:srgbClr val="232323"/>
                </a:solidFill>
                <a:latin typeface="Arial"/>
              </a:rPr>
              <a:t> </a:t>
            </a:r>
            <a:r>
              <a:rPr lang="en-US" sz="1700" b="0" i="0" dirty="0" err="1">
                <a:solidFill>
                  <a:srgbClr val="232323"/>
                </a:solidFill>
                <a:latin typeface="Arial"/>
              </a:rPr>
              <a:t>bản</a:t>
            </a:r>
            <a:r>
              <a:rPr lang="en-US" sz="1700" b="0" i="0" dirty="0">
                <a:solidFill>
                  <a:srgbClr val="232323"/>
                </a:solidFill>
                <a:latin typeface="Arial"/>
              </a:rPr>
              <a:t> </a:t>
            </a:r>
            <a:r>
              <a:rPr lang="en-US" sz="1700" b="0" i="0" dirty="0" err="1">
                <a:solidFill>
                  <a:srgbClr val="232323"/>
                </a:solidFill>
                <a:latin typeface="Arial"/>
              </a:rPr>
              <a:t>lưu</a:t>
            </a:r>
            <a:r>
              <a:rPr lang="en-US" sz="1700" b="0" i="0" dirty="0">
                <a:solidFill>
                  <a:srgbClr val="232323"/>
                </a:solidFill>
                <a:latin typeface="Arial"/>
              </a:rPr>
              <a:t> </a:t>
            </a:r>
            <a:r>
              <a:rPr lang="vi-VN" sz="1700" b="0" i="0" dirty="0">
                <a:solidFill>
                  <a:srgbClr val="232323"/>
                </a:solidFill>
                <a:latin typeface="Arial"/>
              </a:rPr>
              <a:t>(commit) qua GitHub Desktop.</a:t>
            </a:r>
          </a:p>
          <a:p>
            <a:pPr marL="0" indent="0" algn="just">
              <a:spcAft>
                <a:spcPts val="1000"/>
              </a:spcAft>
            </a:pPr>
            <a:r>
              <a:rPr lang="vi-VN" sz="1700" b="0" i="0" dirty="0">
                <a:solidFill>
                  <a:srgbClr val="232323"/>
                </a:solidFill>
                <a:latin typeface="Arial"/>
              </a:rPr>
              <a:t>•  Thảo luận tổng kết: Kênh truyền dẫn nào giải thích rõ nhất sự khác biệt giữa kịch bản tài chính của nhóm </a:t>
            </a:r>
            <a:r>
              <a:rPr lang="en-US" sz="1700" dirty="0" err="1">
                <a:solidFill>
                  <a:srgbClr val="232323"/>
                </a:solidFill>
                <a:latin typeface="Arial"/>
              </a:rPr>
              <a:t>anh</a:t>
            </a:r>
            <a:r>
              <a:rPr lang="en-US" sz="1700" dirty="0">
                <a:solidFill>
                  <a:srgbClr val="232323"/>
                </a:solidFill>
                <a:latin typeface="Arial"/>
              </a:rPr>
              <a:t>/</a:t>
            </a:r>
            <a:r>
              <a:rPr lang="en-US" sz="1700" dirty="0" err="1">
                <a:solidFill>
                  <a:srgbClr val="232323"/>
                </a:solidFill>
                <a:latin typeface="Arial"/>
              </a:rPr>
              <a:t>chị</a:t>
            </a:r>
            <a:r>
              <a:rPr lang="vi-VN" sz="1700" b="0" i="0" dirty="0">
                <a:solidFill>
                  <a:srgbClr val="232323"/>
                </a:solidFill>
                <a:latin typeface="Arial"/>
              </a:rPr>
              <a:t> so với kịch bản cơ sở tương ứng? Sự khác biệt giữa kịch bản hiệu quả năng lượng so với kịch bản QHĐ VIII thì sao?</a:t>
            </a:r>
          </a:p>
          <a:p>
            <a:pPr marL="0" indent="0" algn="just">
              <a:spcAft>
                <a:spcPts val="1000"/>
              </a:spcAft>
            </a:pPr>
            <a:r>
              <a:rPr lang="vi-VN" sz="1700" b="0" i="0" dirty="0">
                <a:solidFill>
                  <a:srgbClr val="232323"/>
                </a:solidFill>
                <a:latin typeface="Arial"/>
              </a:rPr>
              <a:t>•  Thảo luận tổng kết: Trong quá trình thực hành, có gợi ý nào của AI mà </a:t>
            </a:r>
            <a:r>
              <a:rPr lang="en-US" sz="1700" dirty="0" err="1">
                <a:solidFill>
                  <a:srgbClr val="232323"/>
                </a:solidFill>
                <a:latin typeface="Arial"/>
              </a:rPr>
              <a:t>anh</a:t>
            </a:r>
            <a:r>
              <a:rPr lang="en-US" sz="1700" dirty="0">
                <a:solidFill>
                  <a:srgbClr val="232323"/>
                </a:solidFill>
                <a:latin typeface="Arial"/>
              </a:rPr>
              <a:t>/</a:t>
            </a:r>
            <a:r>
              <a:rPr lang="en-US" sz="1700" dirty="0" err="1">
                <a:solidFill>
                  <a:srgbClr val="232323"/>
                </a:solidFill>
                <a:latin typeface="Arial"/>
              </a:rPr>
              <a:t>chị</a:t>
            </a:r>
            <a:r>
              <a:rPr lang="vi-VN" sz="1700" b="0" i="0" dirty="0">
                <a:solidFill>
                  <a:srgbClr val="232323"/>
                </a:solidFill>
                <a:latin typeface="Arial"/>
              </a:rPr>
              <a:t> phải kiểm tra và điều chỉnh lại mới dùng được không?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GIZ_Logo.png"/>
          <p:cNvPicPr>
            <a:picLocks noChangeAspect="1"/>
          </p:cNvPicPr>
          <p:nvPr/>
        </p:nvPicPr>
        <p:blipFill>
          <a:blip r:embed="rId2"/>
          <a:stretch>
            <a:fillRect/>
          </a:stretch>
        </p:blipFill>
        <p:spPr>
          <a:xfrm>
            <a:off x="10088575" y="457200"/>
            <a:ext cx="1656522" cy="457200"/>
          </a:xfrm>
          <a:prstGeom prst="rect">
            <a:avLst/>
          </a:prstGeom>
        </p:spPr>
      </p:pic>
      <p:sp>
        <p:nvSpPr>
          <p:cNvPr id="4" name="TextBox 3"/>
          <p:cNvSpPr txBox="1"/>
          <p:nvPr/>
        </p:nvSpPr>
        <p:spPr>
          <a:xfrm>
            <a:off x="822960" y="2651760"/>
            <a:ext cx="11192828" cy="2200602"/>
          </a:xfrm>
          <a:prstGeom prst="rect">
            <a:avLst/>
          </a:prstGeom>
          <a:noFill/>
        </p:spPr>
        <p:txBody>
          <a:bodyPr wrap="square">
            <a:spAutoFit/>
          </a:bodyPr>
          <a:lstStyle/>
          <a:p>
            <a:pPr>
              <a:spcAft>
                <a:spcPts val="1000"/>
              </a:spcAft>
            </a:pPr>
            <a:r>
              <a:rPr lang="vi-VN" sz="1500" b="1" i="0" dirty="0">
                <a:solidFill>
                  <a:srgbClr val="FFD2D2"/>
                </a:solidFill>
                <a:latin typeface="Arial"/>
              </a:rPr>
              <a:t>NGÀY 2 — BUỔI CHIỀU</a:t>
            </a:r>
          </a:p>
          <a:p>
            <a:r>
              <a:rPr lang="vi-VN" sz="3400" b="1" i="0" dirty="0">
                <a:solidFill>
                  <a:srgbClr val="FFFFFF"/>
                </a:solidFill>
                <a:latin typeface="Arial"/>
              </a:rPr>
              <a:t>Mô hình Thu gọn SOE MC (Nền kinh tế nhỏ, mở cửa - Đa sản phẩm)</a:t>
            </a:r>
          </a:p>
          <a:p>
            <a:pPr>
              <a:spcBef>
                <a:spcPts val="1400"/>
              </a:spcBef>
            </a:pPr>
            <a:r>
              <a:rPr lang="vi-VN" sz="1700" b="0" i="0" dirty="0">
                <a:solidFill>
                  <a:srgbClr val="FFFFFF"/>
                </a:solidFill>
                <a:latin typeface="Arial"/>
              </a:rPr>
              <a:t>Demo khủng hoảng định tính (Deterministic crisis), tăng trưởng Việt Nam, lộ trình giảm dần điện than và tìm kiếm phương án phối hợp chính sách tối ưu · 240 phút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19" y="393859"/>
            <a:ext cx="9951415" cy="492443"/>
          </a:xfrm>
          <a:prstGeom prst="rect">
            <a:avLst/>
          </a:prstGeom>
          <a:noFill/>
        </p:spPr>
        <p:txBody>
          <a:bodyPr wrap="square" anchor="ctr">
            <a:spAutoFit/>
          </a:bodyPr>
          <a:lstStyle/>
          <a:p>
            <a:r>
              <a:rPr lang="vi-VN" sz="2600" b="1" i="0">
                <a:solidFill>
                  <a:srgbClr val="FFFFFF"/>
                </a:solidFill>
                <a:latin typeface="Arial"/>
              </a:rPr>
              <a:t>Chương trình Buổi chiều — 4 Phần + Giờ giải lao, 240 Phút</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9</a:t>
            </a:r>
          </a:p>
        </p:txBody>
      </p:sp>
      <p:graphicFrame>
        <p:nvGraphicFramePr>
          <p:cNvPr id="9" name="Table 8"/>
          <p:cNvGraphicFramePr>
            <a:graphicFrameLocks noGrp="1"/>
          </p:cNvGraphicFramePr>
          <p:nvPr>
            <p:extLst>
              <p:ext uri="{D42A27DB-BD31-4B8C-83A1-F6EECF244321}">
                <p14:modId xmlns:p14="http://schemas.microsoft.com/office/powerpoint/2010/main" val="4149158527"/>
              </p:ext>
            </p:extLst>
          </p:nvPr>
        </p:nvGraphicFramePr>
        <p:xfrm>
          <a:off x="502920" y="1554480"/>
          <a:ext cx="11185853" cy="4892040"/>
        </p:xfrm>
        <a:graphic>
          <a:graphicData uri="http://schemas.openxmlformats.org/drawingml/2006/table">
            <a:tbl>
              <a:tblPr firstRow="1" bandRow="1">
                <a:tableStyleId>{5C22544A-7EE6-4342-B048-85BDC9FD1C3A}</a:tableStyleId>
              </a:tblPr>
              <a:tblGrid>
                <a:gridCol w="4426268">
                  <a:extLst>
                    <a:ext uri="{9D8B030D-6E8A-4147-A177-3AD203B41FA5}">
                      <a16:colId xmlns:a16="http://schemas.microsoft.com/office/drawing/2014/main" val="20000"/>
                    </a:ext>
                  </a:extLst>
                </a:gridCol>
                <a:gridCol w="754548">
                  <a:extLst>
                    <a:ext uri="{9D8B030D-6E8A-4147-A177-3AD203B41FA5}">
                      <a16:colId xmlns:a16="http://schemas.microsoft.com/office/drawing/2014/main" val="20001"/>
                    </a:ext>
                  </a:extLst>
                </a:gridCol>
                <a:gridCol w="6005037">
                  <a:extLst>
                    <a:ext uri="{9D8B030D-6E8A-4147-A177-3AD203B41FA5}">
                      <a16:colId xmlns:a16="http://schemas.microsoft.com/office/drawing/2014/main" val="20002"/>
                    </a:ext>
                  </a:extLst>
                </a:gridCol>
              </a:tblGrid>
              <a:tr h="698862">
                <a:tc>
                  <a:txBody>
                    <a:bodyPr/>
                    <a:lstStyle/>
                    <a:p>
                      <a:r>
                        <a:rPr lang="vi-VN" sz="1300" b="1" i="0">
                          <a:solidFill>
                            <a:srgbClr val="FFFFFF"/>
                          </a:solidFill>
                          <a:latin typeface="Arial"/>
                        </a:rPr>
                        <a:t>Phần</a:t>
                      </a:r>
                    </a:p>
                  </a:txBody>
                  <a:tcPr marT="50800" marB="50800" anchor="ctr">
                    <a:solidFill>
                      <a:srgbClr val="CC071E"/>
                    </a:solidFill>
                  </a:tcPr>
                </a:tc>
                <a:tc>
                  <a:txBody>
                    <a:bodyPr/>
                    <a:lstStyle/>
                    <a:p>
                      <a:r>
                        <a:rPr lang="vi-VN" sz="1300" b="1" i="0">
                          <a:solidFill>
                            <a:srgbClr val="FFFFFF"/>
                          </a:solidFill>
                          <a:latin typeface="Arial"/>
                        </a:rPr>
                        <a:t>Thời lượng</a:t>
                      </a:r>
                    </a:p>
                  </a:txBody>
                  <a:tcPr marT="50800" marB="50800" anchor="ctr">
                    <a:solidFill>
                      <a:srgbClr val="CC071E"/>
                    </a:solidFill>
                  </a:tcPr>
                </a:tc>
                <a:tc>
                  <a:txBody>
                    <a:bodyPr/>
                    <a:lstStyle/>
                    <a:p>
                      <a:r>
                        <a:rPr lang="vi-VN" sz="1300" b="1" i="0">
                          <a:solidFill>
                            <a:srgbClr val="FFFFFF"/>
                          </a:solidFill>
                          <a:latin typeface="Arial"/>
                        </a:rPr>
                        <a:t>Nội dung</a:t>
                      </a:r>
                    </a:p>
                  </a:txBody>
                  <a:tcPr marT="50800" marB="50800" anchor="ctr">
                    <a:solidFill>
                      <a:srgbClr val="CC071E"/>
                    </a:solidFill>
                  </a:tcPr>
                </a:tc>
                <a:extLst>
                  <a:ext uri="{0D108BD9-81ED-4DB2-BD59-A6C34878D82A}">
                    <a16:rowId xmlns:a16="http://schemas.microsoft.com/office/drawing/2014/main" val="10000"/>
                  </a:ext>
                </a:extLst>
              </a:tr>
              <a:tr h="698862">
                <a:tc>
                  <a:txBody>
                    <a:bodyPr/>
                    <a:lstStyle/>
                    <a:p>
                      <a:r>
                        <a:rPr lang="vi-VN" sz="1300" b="1" i="0">
                          <a:solidFill>
                            <a:srgbClr val="232323"/>
                          </a:solidFill>
                          <a:latin typeface="Arial"/>
                        </a:rPr>
                        <a:t>1. Định hình mô hình thu gọn</a:t>
                      </a:r>
                    </a:p>
                  </a:txBody>
                  <a:tcPr marT="38100" marB="38100" anchor="ctr">
                    <a:solidFill>
                      <a:srgbClr val="FFFFFF"/>
                    </a:solidFill>
                  </a:tcPr>
                </a:tc>
                <a:tc>
                  <a:txBody>
                    <a:bodyPr/>
                    <a:lstStyle/>
                    <a:p>
                      <a:r>
                        <a:rPr lang="vi-VN" sz="1300" b="0" i="0">
                          <a:solidFill>
                            <a:srgbClr val="232323"/>
                          </a:solidFill>
                          <a:latin typeface="Arial"/>
                        </a:rPr>
                        <a:t>20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FFFFF"/>
                    </a:solidFill>
                  </a:tcPr>
                </a:tc>
                <a:tc>
                  <a:txBody>
                    <a:bodyPr/>
                    <a:lstStyle/>
                    <a:p>
                      <a:r>
                        <a:rPr lang="vi-VN" sz="1300" b="0" i="0">
                          <a:solidFill>
                            <a:srgbClr val="232323"/>
                          </a:solidFill>
                          <a:latin typeface="Arial"/>
                        </a:rPr>
                        <a:t>Thiết lập mô hình nền kinh tế nhỏ, mở cửa - đa sản phẩm (multi-commodity SOE), dữ trữ chiến lược và các công cụ chính sách</a:t>
                      </a:r>
                    </a:p>
                  </a:txBody>
                  <a:tcPr marT="38100" marB="38100" anchor="ctr">
                    <a:solidFill>
                      <a:srgbClr val="FFFFFF"/>
                    </a:solidFill>
                  </a:tcPr>
                </a:tc>
                <a:extLst>
                  <a:ext uri="{0D108BD9-81ED-4DB2-BD59-A6C34878D82A}">
                    <a16:rowId xmlns:a16="http://schemas.microsoft.com/office/drawing/2014/main" val="10001"/>
                  </a:ext>
                </a:extLst>
              </a:tr>
              <a:tr h="698862">
                <a:tc>
                  <a:txBody>
                    <a:bodyPr/>
                    <a:lstStyle/>
                    <a:p>
                      <a:r>
                        <a:rPr lang="vi-VN" sz="1300" b="1" i="0">
                          <a:solidFill>
                            <a:srgbClr val="232323"/>
                          </a:solidFill>
                          <a:latin typeface="Arial"/>
                        </a:rPr>
                        <a:t>2. Demo khủng hoảng định tính</a:t>
                      </a:r>
                    </a:p>
                  </a:txBody>
                  <a:tcPr marT="38100" marB="38100" anchor="ctr">
                    <a:solidFill>
                      <a:srgbClr val="F5F5F5"/>
                    </a:solidFill>
                  </a:tcPr>
                </a:tc>
                <a:tc>
                  <a:txBody>
                    <a:bodyPr/>
                    <a:lstStyle/>
                    <a:p>
                      <a:r>
                        <a:rPr lang="vi-VN" sz="1300" b="0" i="0">
                          <a:solidFill>
                            <a:srgbClr val="232323"/>
                          </a:solidFill>
                          <a:latin typeface="Arial"/>
                        </a:rPr>
                        <a:t>40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a:solidFill>
                            <a:srgbClr val="232323"/>
                          </a:solidFill>
                          <a:latin typeface="Arial"/>
                        </a:rPr>
                        <a:t>Gián đoạn nguồn cung với các kịch bản phản ứng chính sách phi_R=0 so với phi_R=1</a:t>
                      </a:r>
                    </a:p>
                  </a:txBody>
                  <a:tcPr marT="38100" marB="38100" anchor="ctr">
                    <a:solidFill>
                      <a:srgbClr val="F5F5F5"/>
                    </a:solidFill>
                  </a:tcPr>
                </a:tc>
                <a:extLst>
                  <a:ext uri="{0D108BD9-81ED-4DB2-BD59-A6C34878D82A}">
                    <a16:rowId xmlns:a16="http://schemas.microsoft.com/office/drawing/2014/main" val="10002"/>
                  </a:ext>
                </a:extLst>
              </a:tr>
              <a:tr h="698862">
                <a:tc>
                  <a:txBody>
                    <a:bodyPr/>
                    <a:lstStyle/>
                    <a:p>
                      <a:r>
                        <a:rPr lang="vi-VN" sz="1300" b="1" i="0">
                          <a:solidFill>
                            <a:srgbClr val="232323"/>
                          </a:solidFill>
                          <a:latin typeface="Arial"/>
                        </a:rPr>
                        <a:t>3. Tăng trưởng Việt Nam và chuyển dịch khỏi than đá</a:t>
                      </a:r>
                    </a:p>
                  </a:txBody>
                  <a:tcPr marT="38100" marB="38100" anchor="ctr">
                    <a:solidFill>
                      <a:srgbClr val="FFFFFF"/>
                    </a:solidFill>
                  </a:tcPr>
                </a:tc>
                <a:tc>
                  <a:txBody>
                    <a:bodyPr/>
                    <a:lstStyle/>
                    <a:p>
                      <a:r>
                        <a:rPr lang="vi-VN" sz="1300" b="0" i="0">
                          <a:solidFill>
                            <a:srgbClr val="232323"/>
                          </a:solidFill>
                          <a:latin typeface="Arial"/>
                        </a:rPr>
                        <a:t>55</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FFFFF"/>
                    </a:solidFill>
                  </a:tcPr>
                </a:tc>
                <a:tc>
                  <a:txBody>
                    <a:bodyPr/>
                    <a:lstStyle/>
                    <a:p>
                      <a:r>
                        <a:rPr lang="vi-VN" sz="1300" b="0" i="0">
                          <a:solidFill>
                            <a:srgbClr val="232323"/>
                          </a:solidFill>
                          <a:latin typeface="Arial"/>
                        </a:rPr>
                        <a:t>Tăng trưởng GDP 6,5%, mức bảo đảm dự trữ và các kịch bản giảm dần điện than</a:t>
                      </a:r>
                    </a:p>
                  </a:txBody>
                  <a:tcPr marT="38100" marB="38100" anchor="ctr">
                    <a:solidFill>
                      <a:srgbClr val="FFFFFF"/>
                    </a:solidFill>
                  </a:tcPr>
                </a:tc>
                <a:extLst>
                  <a:ext uri="{0D108BD9-81ED-4DB2-BD59-A6C34878D82A}">
                    <a16:rowId xmlns:a16="http://schemas.microsoft.com/office/drawing/2014/main" val="10003"/>
                  </a:ext>
                </a:extLst>
              </a:tr>
              <a:tr h="698862">
                <a:tc>
                  <a:txBody>
                    <a:bodyPr/>
                    <a:lstStyle/>
                    <a:p>
                      <a:r>
                        <a:rPr lang="vi-VN" sz="1300" b="1" i="0">
                          <a:solidFill>
                            <a:srgbClr val="232323"/>
                          </a:solidFill>
                          <a:latin typeface="Arial"/>
                        </a:rPr>
                        <a:t>4. Tìm kiếm phương án phối hợp chính sách tối ưu</a:t>
                      </a:r>
                    </a:p>
                  </a:txBody>
                  <a:tcPr marT="38100" marB="38100" anchor="ctr">
                    <a:solidFill>
                      <a:srgbClr val="F5F5F5"/>
                    </a:solidFill>
                  </a:tcPr>
                </a:tc>
                <a:tc>
                  <a:txBody>
                    <a:bodyPr/>
                    <a:lstStyle/>
                    <a:p>
                      <a:r>
                        <a:rPr lang="vi-VN" sz="1300" b="0" i="0">
                          <a:solidFill>
                            <a:srgbClr val="232323"/>
                          </a:solidFill>
                          <a:latin typeface="Arial"/>
                        </a:rPr>
                        <a:t>70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a:solidFill>
                            <a:srgbClr val="232323"/>
                          </a:solidFill>
                          <a:latin typeface="Arial"/>
                        </a:rPr>
                        <a:t>Mô phỏng Monte Carlo 3 chiều trên không gian tham số phi_R × phi_IQ × d; xác định điểm tối ưu phối hợp</a:t>
                      </a:r>
                    </a:p>
                  </a:txBody>
                  <a:tcPr marT="38100" marB="38100" anchor="ctr">
                    <a:solidFill>
                      <a:srgbClr val="F5F5F5"/>
                    </a:solidFill>
                  </a:tcPr>
                </a:tc>
                <a:extLst>
                  <a:ext uri="{0D108BD9-81ED-4DB2-BD59-A6C34878D82A}">
                    <a16:rowId xmlns:a16="http://schemas.microsoft.com/office/drawing/2014/main" val="10004"/>
                  </a:ext>
                </a:extLst>
              </a:tr>
              <a:tr h="698862">
                <a:tc>
                  <a:txBody>
                    <a:bodyPr/>
                    <a:lstStyle/>
                    <a:p>
                      <a:r>
                        <a:rPr lang="vi-VN" sz="1300" b="1" i="0">
                          <a:solidFill>
                            <a:srgbClr val="232323"/>
                          </a:solidFill>
                          <a:latin typeface="Arial"/>
                        </a:rPr>
                        <a:t>— Nghỉ giải lao —</a:t>
                      </a:r>
                    </a:p>
                  </a:txBody>
                  <a:tcPr marT="38100" marB="38100" anchor="ctr">
                    <a:solidFill>
                      <a:srgbClr val="FFFFFF"/>
                    </a:solidFill>
                  </a:tcPr>
                </a:tc>
                <a:tc>
                  <a:txBody>
                    <a:bodyPr/>
                    <a:lstStyle/>
                    <a:p>
                      <a:r>
                        <a:rPr lang="vi-VN" sz="1300" b="0" i="0">
                          <a:solidFill>
                            <a:srgbClr val="232323"/>
                          </a:solidFill>
                          <a:latin typeface="Arial"/>
                        </a:rPr>
                        <a:t>15</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FFFFF"/>
                    </a:solidFill>
                  </a:tcPr>
                </a:tc>
                <a:tc>
                  <a:txBody>
                    <a:bodyPr/>
                    <a:lstStyle/>
                    <a:p>
                      <a:endParaRPr/>
                    </a:p>
                  </a:txBody>
                  <a:tcPr marT="38100" marB="38100" anchor="ctr">
                    <a:solidFill>
                      <a:srgbClr val="FFFFFF"/>
                    </a:solidFill>
                  </a:tcPr>
                </a:tc>
                <a:extLst>
                  <a:ext uri="{0D108BD9-81ED-4DB2-BD59-A6C34878D82A}">
                    <a16:rowId xmlns:a16="http://schemas.microsoft.com/office/drawing/2014/main" val="10005"/>
                  </a:ext>
                </a:extLst>
              </a:tr>
              <a:tr h="698868">
                <a:tc>
                  <a:txBody>
                    <a:bodyPr/>
                    <a:lstStyle/>
                    <a:p>
                      <a:r>
                        <a:rPr lang="vi-VN" sz="1300" b="1" i="0">
                          <a:solidFill>
                            <a:srgbClr val="232323"/>
                          </a:solidFill>
                          <a:latin typeface="Arial"/>
                        </a:rPr>
                        <a:t>5. Diễn giải kết quả &amp; Báo cáo tổng kết</a:t>
                      </a:r>
                    </a:p>
                  </a:txBody>
                  <a:tcPr marT="38100" marB="38100" anchor="ctr">
                    <a:solidFill>
                      <a:srgbClr val="F5F5F5"/>
                    </a:solidFill>
                  </a:tcPr>
                </a:tc>
                <a:tc>
                  <a:txBody>
                    <a:bodyPr/>
                    <a:lstStyle/>
                    <a:p>
                      <a:r>
                        <a:rPr lang="vi-VN" sz="1300" b="0" i="0">
                          <a:solidFill>
                            <a:srgbClr val="232323"/>
                          </a:solidFill>
                          <a:latin typeface="Arial"/>
                        </a:rPr>
                        <a:t>50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a:solidFill>
                            <a:srgbClr val="232323"/>
                          </a:solidFill>
                          <a:latin typeface="Arial"/>
                        </a:rPr>
                        <a:t>Phân tích các phát hiện từ lượt chạy mô hình về chi phí lưu trữ/dự trữ, tính bổ trợ và các đánh đổi chính sách</a:t>
                      </a:r>
                    </a:p>
                  </a:txBody>
                  <a:tcPr marT="38100" marB="38100" anchor="ctr">
                    <a:solidFill>
                      <a:srgbClr val="F5F5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4841"/>
            <a:ext cx="8778240" cy="810478"/>
          </a:xfrm>
          <a:prstGeom prst="rect">
            <a:avLst/>
          </a:prstGeom>
          <a:noFill/>
        </p:spPr>
        <p:txBody>
          <a:bodyPr wrap="square" anchor="ctr">
            <a:spAutoFit/>
          </a:bodyPr>
          <a:lstStyle/>
          <a:p>
            <a:pPr>
              <a:spcAft>
                <a:spcPts val="1400"/>
              </a:spcAft>
            </a:pPr>
            <a:r>
              <a:rPr lang="vi-VN" sz="1100" b="1" i="0">
                <a:solidFill>
                  <a:srgbClr val="FFD2D2"/>
                </a:solidFill>
                <a:latin typeface="Arial"/>
              </a:rPr>
              <a:t>PHẦN 1 · 20 PHÚT · ĐỌC KỸ PHẦN NÀY TRƯỚC</a:t>
            </a:r>
          </a:p>
          <a:p>
            <a:r>
              <a:rPr lang="vi-VN" sz="2400" b="1" i="0">
                <a:solidFill>
                  <a:srgbClr val="FFFFFF"/>
                </a:solidFill>
                <a:latin typeface="Arial"/>
              </a:rPr>
              <a:t>Trước khi bắt đầu: Lưu ý về </a:t>
            </a:r>
            <a:r>
              <a:rPr lang="en-US" sz="2400" b="1" i="0">
                <a:solidFill>
                  <a:srgbClr val="FFFFFF"/>
                </a:solidFill>
                <a:latin typeface="Arial"/>
              </a:rPr>
              <a:t>p</a:t>
            </a:r>
            <a:r>
              <a:rPr lang="vi-VN" sz="2400" b="1" i="0">
                <a:solidFill>
                  <a:srgbClr val="FFFFFF"/>
                </a:solidFill>
                <a:latin typeface="Arial"/>
              </a:rPr>
              <a:t>hạm vi mô hình</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10</a:t>
            </a:r>
          </a:p>
        </p:txBody>
      </p:sp>
      <p:sp>
        <p:nvSpPr>
          <p:cNvPr id="9" name="Rounded Rectangle 8"/>
          <p:cNvSpPr/>
          <p:nvPr/>
        </p:nvSpPr>
        <p:spPr>
          <a:xfrm>
            <a:off x="502920" y="1554480"/>
            <a:ext cx="11185855" cy="1051560"/>
          </a:xfrm>
          <a:prstGeom prst="roundRect">
            <a:avLst/>
          </a:prstGeom>
          <a:solidFill>
            <a:srgbClr val="FFF4E5"/>
          </a:solidFill>
          <a:ln w="190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r>
              <a:rPr lang="vi-VN" sz="1900" b="1" i="1">
                <a:solidFill>
                  <a:srgbClr val="B26A00"/>
                </a:solidFill>
                <a:latin typeface="Arial"/>
              </a:rPr>
              <a:t>Nội dung làm việc chiều nay sử dụng mô hình thu gọn ToyModelSOEMC_run.m model, không phải mô hình DGE-METRIC chính thức.</a:t>
            </a:r>
          </a:p>
        </p:txBody>
      </p:sp>
      <p:sp>
        <p:nvSpPr>
          <p:cNvPr id="10" name="TextBox 9"/>
          <p:cNvSpPr txBox="1"/>
          <p:nvPr/>
        </p:nvSpPr>
        <p:spPr>
          <a:xfrm>
            <a:off x="502920" y="2788920"/>
            <a:ext cx="11323015" cy="1656864"/>
          </a:xfrm>
          <a:prstGeom prst="rect">
            <a:avLst/>
          </a:prstGeom>
          <a:noFill/>
        </p:spPr>
        <p:txBody>
          <a:bodyPr wrap="square">
            <a:spAutoFit/>
          </a:bodyPr>
          <a:lstStyle/>
          <a:p>
            <a:pPr marL="0" indent="0">
              <a:spcAft>
                <a:spcPts val="1000"/>
              </a:spcAft>
            </a:pPr>
            <a:r>
              <a:rPr lang="vi-VN" sz="1700" b="0" i="0" dirty="0">
                <a:solidFill>
                  <a:srgbClr val="232323"/>
                </a:solidFill>
                <a:latin typeface="Arial"/>
              </a:rPr>
              <a:t>•  Các kết quả hiển thị ở đây là đầu ra từ mô hình thu gọn và chỉ phục vụ mục đích làm ví dụ </a:t>
            </a:r>
            <a:r>
              <a:rPr lang="en-US" sz="1700" b="0" i="0" dirty="0" err="1">
                <a:solidFill>
                  <a:srgbClr val="232323"/>
                </a:solidFill>
                <a:latin typeface="Arial"/>
              </a:rPr>
              <a:t>luyện</a:t>
            </a:r>
            <a:r>
              <a:rPr lang="en-US" sz="1700" b="0" i="0" dirty="0">
                <a:solidFill>
                  <a:srgbClr val="232323"/>
                </a:solidFill>
                <a:latin typeface="Arial"/>
              </a:rPr>
              <a:t> </a:t>
            </a:r>
            <a:r>
              <a:rPr lang="en-US" sz="1700" b="0" i="0" dirty="0" err="1">
                <a:solidFill>
                  <a:srgbClr val="232323"/>
                </a:solidFill>
                <a:latin typeface="Arial"/>
              </a:rPr>
              <a:t>tập</a:t>
            </a:r>
            <a:r>
              <a:rPr lang="vi-VN" sz="1700" b="0" i="0" dirty="0">
                <a:solidFill>
                  <a:srgbClr val="232323"/>
                </a:solidFill>
                <a:latin typeface="Arial"/>
              </a:rPr>
              <a:t>.</a:t>
            </a:r>
          </a:p>
          <a:p>
            <a:pPr marL="0" indent="0">
              <a:spcAft>
                <a:spcPts val="1000"/>
              </a:spcAft>
            </a:pPr>
            <a:r>
              <a:rPr lang="vi-VN" sz="1700" b="0" i="0" dirty="0">
                <a:solidFill>
                  <a:srgbClr val="232323"/>
                </a:solidFill>
                <a:latin typeface="Arial"/>
              </a:rPr>
              <a:t>•  Lượt chạy mô hình sẽ so sánh các chính sách ứng phó khủng hoảng, mức độ đáp ứng tăng trưởng, các kịch bản chuyển dịch điện than, và bộ giải pháp chính sách đồng bộ tối ưu.</a:t>
            </a:r>
          </a:p>
          <a:p>
            <a:pPr marL="0" indent="0">
              <a:spcAft>
                <a:spcPts val="1000"/>
              </a:spcAft>
            </a:pPr>
            <a:r>
              <a:rPr lang="vi-VN" sz="1700" b="0" i="0" dirty="0">
                <a:solidFill>
                  <a:srgbClr val="232323"/>
                </a:solidFill>
                <a:latin typeface="Arial"/>
              </a:rPr>
              <a:t>•  </a:t>
            </a:r>
            <a:r>
              <a:rPr lang="vi-VN" sz="1700" b="1" i="0" dirty="0">
                <a:solidFill>
                  <a:srgbClr val="FF0000"/>
                </a:solidFill>
                <a:latin typeface="Arial"/>
              </a:rPr>
              <a:t>Lưu ý:</a:t>
            </a:r>
            <a:r>
              <a:rPr lang="vi-VN" sz="1700" b="0" i="0" dirty="0">
                <a:solidFill>
                  <a:srgbClr val="FF0000"/>
                </a:solidFill>
                <a:latin typeface="Arial"/>
              </a:rPr>
              <a:t> </a:t>
            </a:r>
            <a:r>
              <a:rPr lang="vi-VN" sz="1700" b="0" i="0" dirty="0">
                <a:solidFill>
                  <a:srgbClr val="232323"/>
                </a:solidFill>
                <a:latin typeface="Arial"/>
              </a:rPr>
              <a:t>Không sử dụng bất kỳ số liệu nào từ mô hình thu gọn này như kết quả của DGE-METRIC hay khuyến nghị chính sách chính thức cho Việt Nam.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4841"/>
            <a:ext cx="8778240" cy="810478"/>
          </a:xfrm>
          <a:prstGeom prst="rect">
            <a:avLst/>
          </a:prstGeom>
          <a:noFill/>
        </p:spPr>
        <p:txBody>
          <a:bodyPr wrap="square" anchor="ctr">
            <a:spAutoFit/>
          </a:bodyPr>
          <a:lstStyle/>
          <a:p>
            <a:pPr>
              <a:spcAft>
                <a:spcPts val="1400"/>
              </a:spcAft>
            </a:pPr>
            <a:r>
              <a:rPr lang="vi-VN" sz="1100" b="1" i="0">
                <a:solidFill>
                  <a:srgbClr val="FFD2D2"/>
                </a:solidFill>
                <a:latin typeface="Arial"/>
              </a:rPr>
              <a:t>PHẦN 1 · 20 PHÚT</a:t>
            </a:r>
          </a:p>
          <a:p>
            <a:r>
              <a:rPr lang="vi-VN" sz="2400" b="1" i="0">
                <a:solidFill>
                  <a:srgbClr val="FFFFFF"/>
                </a:solidFill>
                <a:latin typeface="Arial"/>
              </a:rPr>
              <a:t>Tổng quan Mô hình thu gọn</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dirty="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11</a:t>
            </a:r>
          </a:p>
        </p:txBody>
      </p:sp>
      <mc:AlternateContent xmlns:mc="http://schemas.openxmlformats.org/markup-compatibility/2006" xmlns:a14="http://schemas.microsoft.com/office/drawing/2010/main">
        <mc:Choice Requires="a14">
          <p:sp>
            <p:nvSpPr>
              <p:cNvPr id="9" name="TextBox 8"/>
              <p:cNvSpPr txBox="1"/>
              <p:nvPr/>
            </p:nvSpPr>
            <p:spPr>
              <a:xfrm>
                <a:off x="502921" y="1554480"/>
                <a:ext cx="10769918" cy="4633961"/>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Đây là mô hình nền kinh tế nhỏ và mở, đa sản phẩm có tính đến công suất lắp đặt và dự trữ chiến lược.</a:t>
                </a:r>
              </a:p>
              <a:p>
                <a:pPr algn="just">
                  <a:spcAft>
                    <a:spcPts val="1000"/>
                  </a:spcAft>
                </a:pPr>
                <a:r>
                  <a:rPr lang="vi-VN" sz="1700" b="0" i="0" dirty="0">
                    <a:solidFill>
                      <a:srgbClr val="232323"/>
                    </a:solidFill>
                    <a:latin typeface="Arial"/>
                  </a:rPr>
                  <a:t>•  Các công cụ chính sách cốt lõi: </a:t>
                </a:r>
                <a14:m>
                  <m:oMath xmlns:m="http://schemas.openxmlformats.org/officeDocument/2006/math">
                    <m:sSub>
                      <m:sSubPr>
                        <m:ctrlPr>
                          <a:rPr lang="en-US" sz="1700" b="0" i="1" smtClean="0">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𝜙</m:t>
                        </m:r>
                      </m:e>
                      <m:sub>
                        <m:r>
                          <a:rPr lang="en-US" sz="1700" b="0" i="1" smtClean="0">
                            <a:solidFill>
                              <a:srgbClr val="232323"/>
                            </a:solidFill>
                            <a:latin typeface="Cambria Math" panose="02040503050406030204" pitchFamily="18" charset="0"/>
                          </a:rPr>
                          <m:t>𝑅</m:t>
                        </m:r>
                      </m:sub>
                    </m:sSub>
                  </m:oMath>
                </a14:m>
                <a:r>
                  <a:rPr lang="vi-VN" sz="1700" b="0" i="0" dirty="0">
                    <a:solidFill>
                      <a:srgbClr val="232323"/>
                    </a:solidFill>
                    <a:latin typeface="Arial"/>
                  </a:rPr>
                  <a:t> (mức độ phản ứng xả quỹ dự trữ), </a:t>
                </a:r>
                <a14:m>
                  <m:oMath xmlns:m="http://schemas.openxmlformats.org/officeDocument/2006/math">
                    <m:sSub>
                      <m:sSubPr>
                        <m:ctrlPr>
                          <a:rPr lang="en-US" sz="1700" i="1">
                            <a:solidFill>
                              <a:srgbClr val="232323"/>
                            </a:solidFill>
                            <a:latin typeface="Cambria Math" panose="02040503050406030204" pitchFamily="18" charset="0"/>
                          </a:rPr>
                        </m:ctrlPr>
                      </m:sSubPr>
                      <m:e>
                        <m:r>
                          <a:rPr lang="en-US" sz="1700" i="1">
                            <a:solidFill>
                              <a:srgbClr val="232323"/>
                            </a:solidFill>
                            <a:latin typeface="Cambria Math" panose="02040503050406030204" pitchFamily="18" charset="0"/>
                          </a:rPr>
                          <m:t>𝜙</m:t>
                        </m:r>
                      </m:e>
                      <m:sub>
                        <m:r>
                          <a:rPr lang="en-US" sz="1700" b="0" i="1" smtClean="0">
                            <a:solidFill>
                              <a:srgbClr val="232323"/>
                            </a:solidFill>
                            <a:latin typeface="Cambria Math" panose="02040503050406030204" pitchFamily="18" charset="0"/>
                          </a:rPr>
                          <m:t>𝐼𝑄</m:t>
                        </m:r>
                      </m:sub>
                    </m:sSub>
                    <m:r>
                      <a:rPr lang="en-US" sz="1700" i="1">
                        <a:solidFill>
                          <a:srgbClr val="232323"/>
                        </a:solidFill>
                        <a:latin typeface="Cambria Math" panose="02040503050406030204" pitchFamily="18" charset="0"/>
                      </a:rPr>
                      <m:t> </m:t>
                    </m:r>
                  </m:oMath>
                </a14:m>
                <a:r>
                  <a:rPr lang="vi-VN" sz="1700" b="0" i="0" dirty="0">
                    <a:solidFill>
                      <a:srgbClr val="232323"/>
                    </a:solidFill>
                    <a:latin typeface="Arial"/>
                  </a:rPr>
                  <a:t>(chính sách đầu tư / công suất), </a:t>
                </a:r>
                <a:r>
                  <a:rPr lang="en-US" sz="1700" b="0" i="0" dirty="0" err="1">
                    <a:solidFill>
                      <a:srgbClr val="232323"/>
                    </a:solidFill>
                    <a:latin typeface="Arial"/>
                  </a:rPr>
                  <a:t>và</a:t>
                </a:r>
                <a:r>
                  <a:rPr lang="vi-VN" sz="1700" b="0" i="0" dirty="0">
                    <a:solidFill>
                      <a:srgbClr val="232323"/>
                    </a:solidFill>
                    <a:latin typeface="Arial"/>
                  </a:rPr>
                  <a:t> </a:t>
                </a:r>
                <a14:m>
                  <m:oMath xmlns:m="http://schemas.openxmlformats.org/officeDocument/2006/math">
                    <m:r>
                      <a:rPr lang="en-US" sz="1700" b="0" i="1" smtClean="0">
                        <a:solidFill>
                          <a:srgbClr val="232323"/>
                        </a:solidFill>
                        <a:latin typeface="Cambria Math" panose="02040503050406030204" pitchFamily="18" charset="0"/>
                      </a:rPr>
                      <m:t>𝑑</m:t>
                    </m:r>
                  </m:oMath>
                </a14:m>
                <a:r>
                  <a:rPr lang="en-US" sz="1700" b="0" i="0" dirty="0">
                    <a:solidFill>
                      <a:srgbClr val="232323"/>
                    </a:solidFill>
                    <a:latin typeface="Arial"/>
                  </a:rPr>
                  <a:t> </a:t>
                </a:r>
                <a:r>
                  <a:rPr lang="vi-VN" sz="1700" b="0" i="0" dirty="0">
                    <a:solidFill>
                      <a:srgbClr val="232323"/>
                    </a:solidFill>
                    <a:latin typeface="Arial"/>
                  </a:rPr>
                  <a:t>(quy mô / mức độ bảo đảm dự trữ)</a:t>
                </a:r>
              </a:p>
              <a:p>
                <a:pPr>
                  <a:spcAft>
                    <a:spcPts val="1000"/>
                  </a:spcAft>
                </a:pPr>
                <a14:m>
                  <m:oMathPara xmlns:m="http://schemas.openxmlformats.org/officeDocument/2006/math">
                    <m:oMathParaPr>
                      <m:jc m:val="centerGroup"/>
                    </m:oMathParaPr>
                    <m:oMath xmlns:m="http://schemas.openxmlformats.org/officeDocument/2006/math">
                      <m:sSub>
                        <m:sSubPr>
                          <m:ctrlPr>
                            <a:rPr lang="en-US" sz="1700" b="0" i="1" smtClean="0">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𝑅</m:t>
                          </m:r>
                        </m:e>
                        <m:sub>
                          <m:r>
                            <a:rPr lang="en-US" sz="1700" b="0" i="1" smtClean="0">
                              <a:solidFill>
                                <a:srgbClr val="232323"/>
                              </a:solidFill>
                              <a:latin typeface="Cambria Math" panose="02040503050406030204" pitchFamily="18" charset="0"/>
                            </a:rPr>
                            <m:t>𝑐</m:t>
                          </m:r>
                          <m:r>
                            <a:rPr lang="en-US" sz="1700" b="0" i="1" smtClean="0">
                              <a:solidFill>
                                <a:srgbClr val="232323"/>
                              </a:solidFill>
                              <a:latin typeface="Cambria Math" panose="02040503050406030204" pitchFamily="18" charset="0"/>
                            </a:rPr>
                            <m:t>,</m:t>
                          </m:r>
                          <m:r>
                            <a:rPr lang="en-US" sz="1700" b="0" i="1" smtClean="0">
                              <a:solidFill>
                                <a:srgbClr val="232323"/>
                              </a:solidFill>
                              <a:latin typeface="Cambria Math" panose="02040503050406030204" pitchFamily="18" charset="0"/>
                            </a:rPr>
                            <m:t>𝑡</m:t>
                          </m:r>
                        </m:sub>
                      </m:sSub>
                      <m:r>
                        <a:rPr lang="en-US" sz="1700" b="0" i="1" smtClean="0">
                          <a:solidFill>
                            <a:srgbClr val="232323"/>
                          </a:solidFill>
                          <a:latin typeface="Cambria Math" panose="02040503050406030204" pitchFamily="18" charset="0"/>
                        </a:rPr>
                        <m:t>=</m:t>
                      </m:r>
                      <m:d>
                        <m:dPr>
                          <m:ctrlPr>
                            <a:rPr lang="en-US" sz="1700" b="0" i="1" smtClean="0">
                              <a:solidFill>
                                <a:srgbClr val="232323"/>
                              </a:solidFill>
                              <a:latin typeface="Cambria Math" panose="02040503050406030204" pitchFamily="18" charset="0"/>
                            </a:rPr>
                          </m:ctrlPr>
                        </m:dPr>
                        <m:e>
                          <m:r>
                            <a:rPr lang="en-US" sz="1700" b="0" i="1" smtClean="0">
                              <a:solidFill>
                                <a:srgbClr val="232323"/>
                              </a:solidFill>
                              <a:latin typeface="Cambria Math" panose="02040503050406030204" pitchFamily="18" charset="0"/>
                            </a:rPr>
                            <m:t>1−</m:t>
                          </m:r>
                          <m:sSub>
                            <m:sSubPr>
                              <m:ctrlPr>
                                <a:rPr lang="en-US" sz="1700" b="0" i="1" smtClean="0">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𝛿</m:t>
                              </m:r>
                            </m:e>
                            <m:sub>
                              <m:r>
                                <a:rPr lang="en-US" sz="1700" b="0" i="1" smtClean="0">
                                  <a:solidFill>
                                    <a:srgbClr val="232323"/>
                                  </a:solidFill>
                                  <a:latin typeface="Cambria Math" panose="02040503050406030204" pitchFamily="18" charset="0"/>
                                </a:rPr>
                                <m:t>𝑅</m:t>
                              </m:r>
                            </m:sub>
                          </m:sSub>
                        </m:e>
                      </m:d>
                      <m:sSub>
                        <m:sSubPr>
                          <m:ctrlPr>
                            <a:rPr lang="en-US" sz="1700" b="0" i="1" smtClean="0">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𝑅</m:t>
                          </m:r>
                        </m:e>
                        <m:sub>
                          <m:r>
                            <a:rPr lang="en-US" sz="1700" b="0" i="1" smtClean="0">
                              <a:solidFill>
                                <a:srgbClr val="232323"/>
                              </a:solidFill>
                              <a:latin typeface="Cambria Math" panose="02040503050406030204" pitchFamily="18" charset="0"/>
                            </a:rPr>
                            <m:t>𝑐</m:t>
                          </m:r>
                          <m:r>
                            <a:rPr lang="en-US" sz="1700" b="0" i="1" smtClean="0">
                              <a:solidFill>
                                <a:srgbClr val="232323"/>
                              </a:solidFill>
                              <a:latin typeface="Cambria Math" panose="02040503050406030204" pitchFamily="18" charset="0"/>
                            </a:rPr>
                            <m:t>,</m:t>
                          </m:r>
                          <m:r>
                            <a:rPr lang="en-US" sz="1700" b="0" i="1" smtClean="0">
                              <a:solidFill>
                                <a:srgbClr val="232323"/>
                              </a:solidFill>
                              <a:latin typeface="Cambria Math" panose="02040503050406030204" pitchFamily="18" charset="0"/>
                            </a:rPr>
                            <m:t>𝑡</m:t>
                          </m:r>
                          <m:r>
                            <a:rPr lang="en-US" sz="1700" b="0" i="1" smtClean="0">
                              <a:solidFill>
                                <a:srgbClr val="232323"/>
                              </a:solidFill>
                              <a:latin typeface="Cambria Math" panose="02040503050406030204" pitchFamily="18" charset="0"/>
                            </a:rPr>
                            <m:t>−1</m:t>
                          </m:r>
                        </m:sub>
                      </m:sSub>
                      <m:r>
                        <a:rPr lang="en-US" sz="1700" b="0" i="1" smtClean="0">
                          <a:solidFill>
                            <a:srgbClr val="232323"/>
                          </a:solidFill>
                          <a:latin typeface="Cambria Math" panose="02040503050406030204" pitchFamily="18" charset="0"/>
                        </a:rPr>
                        <m:t>−</m:t>
                      </m:r>
                      <m:sSub>
                        <m:sSubPr>
                          <m:ctrlPr>
                            <a:rPr lang="en-US" sz="1700" b="0" i="1" smtClean="0">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𝑅</m:t>
                          </m:r>
                        </m:e>
                        <m:sub>
                          <m:r>
                            <a:rPr lang="en-US" sz="1700" b="0" i="1" smtClean="0">
                              <a:solidFill>
                                <a:srgbClr val="232323"/>
                              </a:solidFill>
                              <a:latin typeface="Cambria Math" panose="02040503050406030204" pitchFamily="18" charset="0"/>
                            </a:rPr>
                            <m:t>𝑐</m:t>
                          </m:r>
                          <m:r>
                            <a:rPr lang="en-US" sz="1700" b="0" i="1" smtClean="0">
                              <a:solidFill>
                                <a:srgbClr val="232323"/>
                              </a:solidFill>
                              <a:latin typeface="Cambria Math" panose="02040503050406030204" pitchFamily="18" charset="0"/>
                            </a:rPr>
                            <m:t>,</m:t>
                          </m:r>
                          <m:r>
                            <a:rPr lang="en-US" sz="1700" b="0" i="1" smtClean="0">
                              <a:solidFill>
                                <a:srgbClr val="232323"/>
                              </a:solidFill>
                              <a:latin typeface="Cambria Math" panose="02040503050406030204" pitchFamily="18" charset="0"/>
                            </a:rPr>
                            <m:t>𝑑𝑟𝑎𝑤</m:t>
                          </m:r>
                          <m:r>
                            <a:rPr lang="en-US" sz="1700" b="0" i="1" smtClean="0">
                              <a:solidFill>
                                <a:srgbClr val="232323"/>
                              </a:solidFill>
                              <a:latin typeface="Cambria Math" panose="02040503050406030204" pitchFamily="18" charset="0"/>
                            </a:rPr>
                            <m:t>,</m:t>
                          </m:r>
                          <m:r>
                            <a:rPr lang="en-US" sz="1700" b="0" i="1" smtClean="0">
                              <a:solidFill>
                                <a:srgbClr val="232323"/>
                              </a:solidFill>
                              <a:latin typeface="Cambria Math" panose="02040503050406030204" pitchFamily="18" charset="0"/>
                            </a:rPr>
                            <m:t>𝑡</m:t>
                          </m:r>
                        </m:sub>
                      </m:sSub>
                      <m:r>
                        <a:rPr lang="en-US" sz="1700" b="0" i="1" smtClean="0">
                          <a:solidFill>
                            <a:srgbClr val="232323"/>
                          </a:solidFill>
                          <a:latin typeface="Cambria Math" panose="02040503050406030204" pitchFamily="18" charset="0"/>
                        </a:rPr>
                        <m:t>+</m:t>
                      </m:r>
                      <m:sSub>
                        <m:sSubPr>
                          <m:ctrlPr>
                            <a:rPr lang="en-US" sz="1700" i="1">
                              <a:solidFill>
                                <a:srgbClr val="232323"/>
                              </a:solidFill>
                              <a:latin typeface="Cambria Math" panose="02040503050406030204" pitchFamily="18" charset="0"/>
                            </a:rPr>
                          </m:ctrlPr>
                        </m:sSubPr>
                        <m:e>
                          <m:r>
                            <a:rPr lang="en-US" sz="1700" i="1">
                              <a:solidFill>
                                <a:srgbClr val="232323"/>
                              </a:solidFill>
                              <a:latin typeface="Cambria Math" panose="02040503050406030204" pitchFamily="18" charset="0"/>
                            </a:rPr>
                            <m:t>𝛿</m:t>
                          </m:r>
                        </m:e>
                        <m:sub>
                          <m:r>
                            <a:rPr lang="en-US" sz="1700" i="1">
                              <a:solidFill>
                                <a:srgbClr val="232323"/>
                              </a:solidFill>
                              <a:latin typeface="Cambria Math" panose="02040503050406030204" pitchFamily="18" charset="0"/>
                            </a:rPr>
                            <m:t>𝑅</m:t>
                          </m:r>
                        </m:sub>
                      </m:sSub>
                      <m:r>
                        <a:rPr lang="en-US" sz="1700" b="0" i="1" smtClean="0">
                          <a:solidFill>
                            <a:srgbClr val="232323"/>
                          </a:solidFill>
                          <a:latin typeface="Cambria Math" panose="02040503050406030204" pitchFamily="18" charset="0"/>
                        </a:rPr>
                        <m:t> </m:t>
                      </m:r>
                      <m:sSub>
                        <m:sSubPr>
                          <m:ctrlPr>
                            <a:rPr lang="en-US" sz="1700" b="0" i="1" smtClean="0">
                              <a:solidFill>
                                <a:srgbClr val="232323"/>
                              </a:solidFill>
                              <a:latin typeface="Cambria Math" panose="02040503050406030204" pitchFamily="18" charset="0"/>
                            </a:rPr>
                          </m:ctrlPr>
                        </m:sSubPr>
                        <m:e>
                          <m:acc>
                            <m:accPr>
                              <m:chr m:val="̅"/>
                              <m:ctrlPr>
                                <a:rPr lang="en-US" sz="1700" b="0" i="1" dirty="0" smtClean="0">
                                  <a:solidFill>
                                    <a:srgbClr val="232323"/>
                                  </a:solidFill>
                                  <a:latin typeface="Cambria Math" panose="02040503050406030204" pitchFamily="18" charset="0"/>
                                </a:rPr>
                              </m:ctrlPr>
                            </m:accPr>
                            <m:e>
                              <m:r>
                                <a:rPr lang="en-US" sz="1700" i="1">
                                  <a:solidFill>
                                    <a:srgbClr val="232323"/>
                                  </a:solidFill>
                                  <a:latin typeface="Cambria Math" panose="02040503050406030204" pitchFamily="18" charset="0"/>
                                </a:rPr>
                                <m:t>𝑅</m:t>
                              </m:r>
                            </m:e>
                          </m:acc>
                        </m:e>
                        <m:sub>
                          <m:r>
                            <a:rPr lang="en-US" sz="1700" b="0" i="1" smtClean="0">
                              <a:solidFill>
                                <a:srgbClr val="232323"/>
                              </a:solidFill>
                              <a:latin typeface="Cambria Math" panose="02040503050406030204" pitchFamily="18" charset="0"/>
                            </a:rPr>
                            <m:t>𝑐</m:t>
                          </m:r>
                          <m:r>
                            <a:rPr lang="en-US" sz="1700" b="0" i="1" smtClean="0">
                              <a:solidFill>
                                <a:srgbClr val="232323"/>
                              </a:solidFill>
                              <a:latin typeface="Cambria Math" panose="02040503050406030204" pitchFamily="18" charset="0"/>
                            </a:rPr>
                            <m:t>,</m:t>
                          </m:r>
                          <m:r>
                            <a:rPr lang="en-US" sz="1700" b="0" i="1" smtClean="0">
                              <a:solidFill>
                                <a:srgbClr val="232323"/>
                              </a:solidFill>
                              <a:latin typeface="Cambria Math" panose="02040503050406030204" pitchFamily="18" charset="0"/>
                            </a:rPr>
                            <m:t>𝑡</m:t>
                          </m:r>
                        </m:sub>
                      </m:sSub>
                      <m:r>
                        <a:rPr lang="en-US" sz="1700" b="0" i="1" smtClean="0">
                          <a:solidFill>
                            <a:srgbClr val="232323"/>
                          </a:solidFill>
                          <a:latin typeface="Cambria Math" panose="02040503050406030204" pitchFamily="18" charset="0"/>
                        </a:rPr>
                        <m:t>+</m:t>
                      </m:r>
                      <m:sSub>
                        <m:sSubPr>
                          <m:ctrlPr>
                            <a:rPr lang="en-US" sz="1700" b="0" i="1" smtClean="0">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𝛾</m:t>
                          </m:r>
                        </m:e>
                        <m:sub>
                          <m:r>
                            <a:rPr lang="en-US" sz="1700" b="0" i="1" smtClean="0">
                              <a:solidFill>
                                <a:srgbClr val="232323"/>
                              </a:solidFill>
                              <a:latin typeface="Cambria Math" panose="02040503050406030204" pitchFamily="18" charset="0"/>
                            </a:rPr>
                            <m:t>𝑅</m:t>
                          </m:r>
                        </m:sub>
                      </m:sSub>
                      <m:r>
                        <m:rPr>
                          <m:sty m:val="p"/>
                        </m:rPr>
                        <a:rPr lang="en-US" sz="1700" b="0" i="1" smtClean="0">
                          <a:solidFill>
                            <a:srgbClr val="232323"/>
                          </a:solidFill>
                          <a:latin typeface="Cambria Math" panose="02040503050406030204" pitchFamily="18" charset="0"/>
                        </a:rPr>
                        <m:t>max</m:t>
                      </m:r>
                      <m:r>
                        <a:rPr lang="en-US" sz="1700" b="0" i="1" smtClean="0">
                          <a:solidFill>
                            <a:srgbClr val="232323"/>
                          </a:solidFill>
                          <a:latin typeface="Cambria Math" panose="02040503050406030204" pitchFamily="18" charset="0"/>
                        </a:rPr>
                        <m:t> (0,</m:t>
                      </m:r>
                      <m:sSub>
                        <m:sSubPr>
                          <m:ctrlPr>
                            <a:rPr lang="en-US" sz="1700" i="1">
                              <a:solidFill>
                                <a:srgbClr val="232323"/>
                              </a:solidFill>
                              <a:latin typeface="Cambria Math" panose="02040503050406030204" pitchFamily="18" charset="0"/>
                            </a:rPr>
                          </m:ctrlPr>
                        </m:sSubPr>
                        <m:e>
                          <m:acc>
                            <m:accPr>
                              <m:chr m:val="̅"/>
                              <m:ctrlPr>
                                <a:rPr lang="en-US" sz="1700" i="1" dirty="0">
                                  <a:solidFill>
                                    <a:srgbClr val="232323"/>
                                  </a:solidFill>
                                  <a:latin typeface="Cambria Math" panose="02040503050406030204" pitchFamily="18" charset="0"/>
                                </a:rPr>
                              </m:ctrlPr>
                            </m:accPr>
                            <m:e>
                              <m:r>
                                <a:rPr lang="en-US" sz="1700" i="1">
                                  <a:solidFill>
                                    <a:srgbClr val="232323"/>
                                  </a:solidFill>
                                  <a:latin typeface="Cambria Math" panose="02040503050406030204" pitchFamily="18" charset="0"/>
                                </a:rPr>
                                <m:t>𝑅</m:t>
                              </m:r>
                            </m:e>
                          </m:acc>
                        </m:e>
                        <m:sub>
                          <m:r>
                            <a:rPr lang="en-US" sz="1700" i="1">
                              <a:solidFill>
                                <a:srgbClr val="232323"/>
                              </a:solidFill>
                              <a:latin typeface="Cambria Math" panose="02040503050406030204" pitchFamily="18" charset="0"/>
                            </a:rPr>
                            <m:t>𝑐</m:t>
                          </m:r>
                          <m:r>
                            <a:rPr lang="en-US" sz="1700" i="1">
                              <a:solidFill>
                                <a:srgbClr val="232323"/>
                              </a:solidFill>
                              <a:latin typeface="Cambria Math" panose="02040503050406030204" pitchFamily="18" charset="0"/>
                            </a:rPr>
                            <m:t>,</m:t>
                          </m:r>
                          <m:r>
                            <a:rPr lang="en-US" sz="1700" i="1">
                              <a:solidFill>
                                <a:srgbClr val="232323"/>
                              </a:solidFill>
                              <a:latin typeface="Cambria Math" panose="02040503050406030204" pitchFamily="18" charset="0"/>
                            </a:rPr>
                            <m:t>𝑡</m:t>
                          </m:r>
                        </m:sub>
                      </m:sSub>
                      <m:r>
                        <a:rPr lang="en-US" sz="1700" b="0" i="1" smtClean="0">
                          <a:solidFill>
                            <a:srgbClr val="232323"/>
                          </a:solidFill>
                          <a:latin typeface="Cambria Math" panose="02040503050406030204" pitchFamily="18" charset="0"/>
                        </a:rPr>
                        <m:t>−</m:t>
                      </m:r>
                      <m:sSub>
                        <m:sSubPr>
                          <m:ctrlPr>
                            <a:rPr lang="en-US" sz="1700" i="1">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𝑅</m:t>
                          </m:r>
                        </m:e>
                        <m:sub>
                          <m:r>
                            <a:rPr lang="en-US" sz="1700" i="1">
                              <a:solidFill>
                                <a:srgbClr val="232323"/>
                              </a:solidFill>
                              <a:latin typeface="Cambria Math" panose="02040503050406030204" pitchFamily="18" charset="0"/>
                            </a:rPr>
                            <m:t>𝑐</m:t>
                          </m:r>
                          <m:r>
                            <a:rPr lang="en-US" sz="1700" i="1">
                              <a:solidFill>
                                <a:srgbClr val="232323"/>
                              </a:solidFill>
                              <a:latin typeface="Cambria Math" panose="02040503050406030204" pitchFamily="18" charset="0"/>
                            </a:rPr>
                            <m:t>,</m:t>
                          </m:r>
                          <m:r>
                            <a:rPr lang="en-US" sz="1700" i="1">
                              <a:solidFill>
                                <a:srgbClr val="232323"/>
                              </a:solidFill>
                              <a:latin typeface="Cambria Math" panose="02040503050406030204" pitchFamily="18" charset="0"/>
                            </a:rPr>
                            <m:t>𝑡</m:t>
                          </m:r>
                          <m:r>
                            <a:rPr lang="en-US" sz="1700" b="0" i="1" smtClean="0">
                              <a:solidFill>
                                <a:srgbClr val="232323"/>
                              </a:solidFill>
                              <a:latin typeface="Cambria Math" panose="02040503050406030204" pitchFamily="18" charset="0"/>
                            </a:rPr>
                            <m:t>−1</m:t>
                          </m:r>
                        </m:sub>
                      </m:sSub>
                      <m:r>
                        <a:rPr lang="en-US" sz="1700" b="0" i="1" smtClean="0">
                          <a:solidFill>
                            <a:srgbClr val="232323"/>
                          </a:solidFill>
                          <a:latin typeface="Cambria Math" panose="02040503050406030204" pitchFamily="18" charset="0"/>
                        </a:rPr>
                        <m:t>)</m:t>
                      </m:r>
                    </m:oMath>
                  </m:oMathPara>
                </a14:m>
                <a:endParaRPr lang="vi-VN" sz="1700" b="0" i="0" dirty="0">
                  <a:solidFill>
                    <a:srgbClr val="232323"/>
                  </a:solidFill>
                  <a:latin typeface="Arial"/>
                </a:endParaRPr>
              </a:p>
              <a:p>
                <a:pPr marL="0" indent="0">
                  <a:spcAft>
                    <a:spcPts val="1000"/>
                  </a:spcAft>
                </a:pPr>
                <a14:m>
                  <m:oMathPara xmlns:m="http://schemas.openxmlformats.org/officeDocument/2006/math">
                    <m:oMathParaPr>
                      <m:jc m:val="centerGroup"/>
                    </m:oMathParaPr>
                    <m:oMath xmlns:m="http://schemas.openxmlformats.org/officeDocument/2006/math">
                      <m:sSub>
                        <m:sSubPr>
                          <m:ctrlPr>
                            <a:rPr lang="en-US" sz="1700" b="1" i="1" smtClean="0">
                              <a:solidFill>
                                <a:srgbClr val="232323"/>
                              </a:solidFill>
                              <a:latin typeface="Cambria Math" panose="02040503050406030204" pitchFamily="18" charset="0"/>
                            </a:rPr>
                          </m:ctrlPr>
                        </m:sSubPr>
                        <m:e>
                          <m:r>
                            <a:rPr lang="en-US" sz="1700" b="1" i="1" smtClean="0">
                              <a:solidFill>
                                <a:srgbClr val="232323"/>
                              </a:solidFill>
                              <a:latin typeface="Cambria Math" panose="02040503050406030204" pitchFamily="18" charset="0"/>
                            </a:rPr>
                            <m:t>𝑹</m:t>
                          </m:r>
                        </m:e>
                        <m:sub>
                          <m:r>
                            <a:rPr lang="en-US" sz="1700" b="1" i="1" smtClean="0">
                              <a:solidFill>
                                <a:srgbClr val="232323"/>
                              </a:solidFill>
                              <a:latin typeface="Cambria Math" panose="02040503050406030204" pitchFamily="18" charset="0"/>
                            </a:rPr>
                            <m:t>𝒄</m:t>
                          </m:r>
                          <m:r>
                            <a:rPr lang="en-US" sz="1700" b="1" i="1" smtClean="0">
                              <a:solidFill>
                                <a:srgbClr val="232323"/>
                              </a:solidFill>
                              <a:latin typeface="Cambria Math" panose="02040503050406030204" pitchFamily="18" charset="0"/>
                            </a:rPr>
                            <m:t>,</m:t>
                          </m:r>
                          <m:r>
                            <a:rPr lang="en-US" sz="1700" b="1" i="1" smtClean="0">
                              <a:solidFill>
                                <a:srgbClr val="232323"/>
                              </a:solidFill>
                              <a:latin typeface="Cambria Math" panose="02040503050406030204" pitchFamily="18" charset="0"/>
                            </a:rPr>
                            <m:t>𝒅𝒓𝒂𝒘</m:t>
                          </m:r>
                          <m:r>
                            <a:rPr lang="en-US" sz="1700" b="1" i="1" smtClean="0">
                              <a:solidFill>
                                <a:srgbClr val="232323"/>
                              </a:solidFill>
                              <a:latin typeface="Cambria Math" panose="02040503050406030204" pitchFamily="18" charset="0"/>
                            </a:rPr>
                            <m:t>,</m:t>
                          </m:r>
                          <m:r>
                            <a:rPr lang="en-US" sz="1700" b="1" i="1" smtClean="0">
                              <a:solidFill>
                                <a:srgbClr val="232323"/>
                              </a:solidFill>
                              <a:latin typeface="Cambria Math" panose="02040503050406030204" pitchFamily="18" charset="0"/>
                            </a:rPr>
                            <m:t>𝒕</m:t>
                          </m:r>
                        </m:sub>
                      </m:sSub>
                      <m:r>
                        <a:rPr lang="en-US" sz="1700" b="1" i="1" smtClean="0">
                          <a:solidFill>
                            <a:srgbClr val="232323"/>
                          </a:solidFill>
                          <a:latin typeface="Cambria Math" panose="02040503050406030204" pitchFamily="18" charset="0"/>
                        </a:rPr>
                        <m:t> =</m:t>
                      </m:r>
                      <m:r>
                        <a:rPr lang="en-US" sz="1700" b="1" i="1" smtClean="0">
                          <a:solidFill>
                            <a:srgbClr val="232323"/>
                          </a:solidFill>
                          <a:latin typeface="Cambria Math" panose="02040503050406030204" pitchFamily="18" charset="0"/>
                        </a:rPr>
                        <m:t>𝒎𝒊𝒏</m:t>
                      </m:r>
                      <m:r>
                        <a:rPr lang="en-US" sz="1700" b="1" i="1" smtClean="0">
                          <a:solidFill>
                            <a:srgbClr val="232323"/>
                          </a:solidFill>
                          <a:latin typeface="Cambria Math" panose="02040503050406030204" pitchFamily="18" charset="0"/>
                        </a:rPr>
                        <m:t>(</m:t>
                      </m:r>
                      <m:sSub>
                        <m:sSubPr>
                          <m:ctrlPr>
                            <a:rPr lang="en-US" sz="1700" b="1" i="1" smtClean="0">
                              <a:solidFill>
                                <a:srgbClr val="232323"/>
                              </a:solidFill>
                              <a:latin typeface="Cambria Math" panose="02040503050406030204" pitchFamily="18" charset="0"/>
                            </a:rPr>
                          </m:ctrlPr>
                        </m:sSubPr>
                        <m:e>
                          <m:r>
                            <a:rPr lang="en-US" sz="1700" b="1" i="1" smtClean="0">
                              <a:solidFill>
                                <a:srgbClr val="232323"/>
                              </a:solidFill>
                              <a:latin typeface="Cambria Math" panose="02040503050406030204" pitchFamily="18" charset="0"/>
                            </a:rPr>
                            <m:t>𝝓</m:t>
                          </m:r>
                        </m:e>
                        <m:sub>
                          <m:r>
                            <a:rPr lang="en-US" sz="1700" b="1" i="1" smtClean="0">
                              <a:solidFill>
                                <a:srgbClr val="232323"/>
                              </a:solidFill>
                              <a:latin typeface="Cambria Math" panose="02040503050406030204" pitchFamily="18" charset="0"/>
                            </a:rPr>
                            <m:t>𝑹</m:t>
                          </m:r>
                        </m:sub>
                      </m:sSub>
                      <m:r>
                        <a:rPr lang="en-US" sz="1700" b="1" i="1" smtClean="0">
                          <a:solidFill>
                            <a:srgbClr val="232323"/>
                          </a:solidFill>
                          <a:latin typeface="Cambria Math" panose="02040503050406030204" pitchFamily="18" charset="0"/>
                        </a:rPr>
                        <m:t> </m:t>
                      </m:r>
                      <m:r>
                        <a:rPr lang="en-US" sz="1700" b="1" i="1" smtClean="0">
                          <a:solidFill>
                            <a:srgbClr val="232323"/>
                          </a:solidFill>
                          <a:latin typeface="Cambria Math" panose="02040503050406030204" pitchFamily="18" charset="0"/>
                        </a:rPr>
                        <m:t>𝒎𝒂𝒙</m:t>
                      </m:r>
                      <m:d>
                        <m:dPr>
                          <m:ctrlPr>
                            <a:rPr lang="en-US" sz="1700" b="1" i="1" smtClean="0">
                              <a:solidFill>
                                <a:srgbClr val="232323"/>
                              </a:solidFill>
                              <a:latin typeface="Cambria Math" panose="02040503050406030204" pitchFamily="18" charset="0"/>
                            </a:rPr>
                          </m:ctrlPr>
                        </m:dPr>
                        <m:e>
                          <m:r>
                            <a:rPr lang="en-US" sz="1700" b="1" i="1" smtClean="0">
                              <a:solidFill>
                                <a:srgbClr val="232323"/>
                              </a:solidFill>
                              <a:latin typeface="Cambria Math" panose="02040503050406030204" pitchFamily="18" charset="0"/>
                            </a:rPr>
                            <m:t>𝟎</m:t>
                          </m:r>
                          <m:r>
                            <a:rPr lang="en-US" sz="1700" b="1" i="1" smtClean="0">
                              <a:solidFill>
                                <a:srgbClr val="232323"/>
                              </a:solidFill>
                              <a:latin typeface="Cambria Math" panose="02040503050406030204" pitchFamily="18" charset="0"/>
                            </a:rPr>
                            <m:t>, −</m:t>
                          </m:r>
                          <m:sSub>
                            <m:sSubPr>
                              <m:ctrlPr>
                                <a:rPr lang="en-US" sz="1700" b="1" i="1" smtClean="0">
                                  <a:solidFill>
                                    <a:srgbClr val="232323"/>
                                  </a:solidFill>
                                  <a:latin typeface="Cambria Math" panose="02040503050406030204" pitchFamily="18" charset="0"/>
                                </a:rPr>
                              </m:ctrlPr>
                            </m:sSubPr>
                            <m:e>
                              <m:r>
                                <a:rPr lang="en-US" sz="1700" b="1" i="1" smtClean="0">
                                  <a:solidFill>
                                    <a:srgbClr val="232323"/>
                                  </a:solidFill>
                                  <a:latin typeface="Cambria Math" panose="02040503050406030204" pitchFamily="18" charset="0"/>
                                </a:rPr>
                                <m:t>𝒆</m:t>
                              </m:r>
                            </m:e>
                            <m:sub>
                              <m:r>
                                <a:rPr lang="en-US" sz="1700" b="1" i="1" smtClean="0">
                                  <a:solidFill>
                                    <a:srgbClr val="232323"/>
                                  </a:solidFill>
                                  <a:latin typeface="Cambria Math" panose="02040503050406030204" pitchFamily="18" charset="0"/>
                                </a:rPr>
                                <m:t>𝒄</m:t>
                              </m:r>
                              <m:r>
                                <a:rPr lang="en-US" sz="1700" b="1" i="1" smtClean="0">
                                  <a:solidFill>
                                    <a:srgbClr val="232323"/>
                                  </a:solidFill>
                                  <a:latin typeface="Cambria Math" panose="02040503050406030204" pitchFamily="18" charset="0"/>
                                </a:rPr>
                                <m:t>,</m:t>
                              </m:r>
                              <m:r>
                                <a:rPr lang="en-US" sz="1700" b="1" i="1" smtClean="0">
                                  <a:solidFill>
                                    <a:srgbClr val="232323"/>
                                  </a:solidFill>
                                  <a:latin typeface="Cambria Math" panose="02040503050406030204" pitchFamily="18" charset="0"/>
                                </a:rPr>
                                <m:t>𝒕</m:t>
                              </m:r>
                            </m:sub>
                          </m:sSub>
                        </m:e>
                      </m:d>
                      <m:r>
                        <a:rPr lang="en-US" sz="1700" b="1" i="1" smtClean="0">
                          <a:solidFill>
                            <a:srgbClr val="232323"/>
                          </a:solidFill>
                          <a:latin typeface="Cambria Math" panose="02040503050406030204" pitchFamily="18" charset="0"/>
                        </a:rPr>
                        <m:t>, </m:t>
                      </m:r>
                      <m:sSub>
                        <m:sSubPr>
                          <m:ctrlPr>
                            <a:rPr lang="en-US" sz="1700" b="1" i="1" smtClean="0">
                              <a:solidFill>
                                <a:srgbClr val="232323"/>
                              </a:solidFill>
                              <a:latin typeface="Cambria Math" panose="02040503050406030204" pitchFamily="18" charset="0"/>
                            </a:rPr>
                          </m:ctrlPr>
                        </m:sSubPr>
                        <m:e>
                          <m:r>
                            <a:rPr lang="en-US" sz="1700" b="1" i="1" smtClean="0">
                              <a:solidFill>
                                <a:srgbClr val="232323"/>
                              </a:solidFill>
                              <a:latin typeface="Cambria Math" panose="02040503050406030204" pitchFamily="18" charset="0"/>
                            </a:rPr>
                            <m:t>𝑹</m:t>
                          </m:r>
                        </m:e>
                        <m:sub>
                          <m:r>
                            <a:rPr lang="en-US" sz="1700" b="1" i="1" smtClean="0">
                              <a:solidFill>
                                <a:srgbClr val="232323"/>
                              </a:solidFill>
                              <a:latin typeface="Cambria Math" panose="02040503050406030204" pitchFamily="18" charset="0"/>
                            </a:rPr>
                            <m:t>𝒄</m:t>
                          </m:r>
                          <m:r>
                            <a:rPr lang="en-US" sz="1700" b="1" i="1" smtClean="0">
                              <a:solidFill>
                                <a:srgbClr val="232323"/>
                              </a:solidFill>
                              <a:latin typeface="Cambria Math" panose="02040503050406030204" pitchFamily="18" charset="0"/>
                            </a:rPr>
                            <m:t>,</m:t>
                          </m:r>
                          <m:r>
                            <a:rPr lang="en-US" sz="1700" b="1" i="1" smtClean="0">
                              <a:solidFill>
                                <a:srgbClr val="232323"/>
                              </a:solidFill>
                              <a:latin typeface="Cambria Math" panose="02040503050406030204" pitchFamily="18" charset="0"/>
                            </a:rPr>
                            <m:t>𝒕</m:t>
                          </m:r>
                          <m:r>
                            <a:rPr lang="en-US" sz="1700" b="1" i="1" smtClean="0">
                              <a:solidFill>
                                <a:srgbClr val="232323"/>
                              </a:solidFill>
                              <a:latin typeface="Cambria Math" panose="02040503050406030204" pitchFamily="18" charset="0"/>
                            </a:rPr>
                            <m:t>−</m:t>
                          </m:r>
                          <m:r>
                            <a:rPr lang="en-US" sz="1700" b="1" i="1" smtClean="0">
                              <a:solidFill>
                                <a:srgbClr val="232323"/>
                              </a:solidFill>
                              <a:latin typeface="Cambria Math" panose="02040503050406030204" pitchFamily="18" charset="0"/>
                            </a:rPr>
                            <m:t>𝟏</m:t>
                          </m:r>
                        </m:sub>
                      </m:sSub>
                      <m:r>
                        <a:rPr lang="en-US" sz="1700" b="1" i="1" smtClean="0">
                          <a:solidFill>
                            <a:srgbClr val="232323"/>
                          </a:solidFill>
                          <a:latin typeface="Cambria Math" panose="02040503050406030204" pitchFamily="18" charset="0"/>
                        </a:rPr>
                        <m:t> )</m:t>
                      </m:r>
                    </m:oMath>
                  </m:oMathPara>
                </a14:m>
                <a:endParaRPr lang="vi-VN" sz="1700" b="0" i="0" dirty="0">
                  <a:solidFill>
                    <a:srgbClr val="232323"/>
                  </a:solidFill>
                  <a:latin typeface="Arial"/>
                </a:endParaRPr>
              </a:p>
              <a:p>
                <a:pPr marL="0" indent="0" algn="just">
                  <a:spcAft>
                    <a:spcPts val="1000"/>
                  </a:spcAft>
                </a:pPr>
                <a:r>
                  <a:rPr lang="vi-VN" sz="1700" b="1" i="0" dirty="0">
                    <a:solidFill>
                      <a:srgbClr val="232323"/>
                    </a:solidFill>
                    <a:latin typeface="Arial"/>
                  </a:rPr>
                  <a:t>•  Chi phí lưu trữ/dự trữ đưa vào ràng buộc nguồn lực có dạng </a:t>
                </a:r>
                <a14:m>
                  <m:oMath xmlns:m="http://schemas.openxmlformats.org/officeDocument/2006/math">
                    <m:sSub>
                      <m:sSubPr>
                        <m:ctrlPr>
                          <a:rPr lang="en-US" sz="1700" b="1" i="1" smtClean="0">
                            <a:solidFill>
                              <a:srgbClr val="232323"/>
                            </a:solidFill>
                            <a:latin typeface="Cambria Math" panose="02040503050406030204" pitchFamily="18" charset="0"/>
                          </a:rPr>
                        </m:ctrlPr>
                      </m:sSubPr>
                      <m:e>
                        <m:r>
                          <a:rPr lang="en-US" sz="1700" b="1" i="1" smtClean="0">
                            <a:solidFill>
                              <a:srgbClr val="232323"/>
                            </a:solidFill>
                            <a:latin typeface="Cambria Math" panose="02040503050406030204" pitchFamily="18" charset="0"/>
                          </a:rPr>
                          <m:t>𝜿</m:t>
                        </m:r>
                      </m:e>
                      <m:sub>
                        <m:r>
                          <a:rPr lang="en-US" sz="1700" b="1" i="1" smtClean="0">
                            <a:solidFill>
                              <a:srgbClr val="232323"/>
                            </a:solidFill>
                            <a:latin typeface="Cambria Math" panose="02040503050406030204" pitchFamily="18" charset="0"/>
                          </a:rPr>
                          <m:t>𝟏</m:t>
                        </m:r>
                      </m:sub>
                    </m:sSub>
                    <m:r>
                      <a:rPr lang="en-US" sz="1700" b="1" i="1" smtClean="0">
                        <a:solidFill>
                          <a:srgbClr val="232323"/>
                        </a:solidFill>
                        <a:latin typeface="Cambria Math" panose="02040503050406030204" pitchFamily="18" charset="0"/>
                      </a:rPr>
                      <m:t>∗</m:t>
                    </m:r>
                    <m:r>
                      <a:rPr lang="en-US" sz="1700" b="1" i="1" smtClean="0">
                        <a:solidFill>
                          <a:srgbClr val="232323"/>
                        </a:solidFill>
                        <a:latin typeface="Cambria Math" panose="02040503050406030204" pitchFamily="18" charset="0"/>
                      </a:rPr>
                      <m:t>𝑹</m:t>
                    </m:r>
                    <m:r>
                      <a:rPr lang="en-US" sz="1700" b="1" i="1" smtClean="0">
                        <a:solidFill>
                          <a:srgbClr val="232323"/>
                        </a:solidFill>
                        <a:latin typeface="Cambria Math" panose="02040503050406030204" pitchFamily="18" charset="0"/>
                      </a:rPr>
                      <m:t> +</m:t>
                    </m:r>
                    <m:sSub>
                      <m:sSubPr>
                        <m:ctrlPr>
                          <a:rPr lang="en-US" sz="1700" b="1" i="1" smtClean="0">
                            <a:solidFill>
                              <a:srgbClr val="232323"/>
                            </a:solidFill>
                            <a:latin typeface="Cambria Math" panose="02040503050406030204" pitchFamily="18" charset="0"/>
                          </a:rPr>
                        </m:ctrlPr>
                      </m:sSubPr>
                      <m:e>
                        <m:r>
                          <a:rPr lang="en-US" sz="1700" b="1" i="1" smtClean="0">
                            <a:solidFill>
                              <a:srgbClr val="232323"/>
                            </a:solidFill>
                            <a:latin typeface="Cambria Math" panose="02040503050406030204" pitchFamily="18" charset="0"/>
                          </a:rPr>
                          <m:t>𝜿</m:t>
                        </m:r>
                      </m:e>
                      <m:sub>
                        <m:r>
                          <a:rPr lang="en-US" sz="1700" b="1" i="1" smtClean="0">
                            <a:solidFill>
                              <a:srgbClr val="232323"/>
                            </a:solidFill>
                            <a:latin typeface="Cambria Math" panose="02040503050406030204" pitchFamily="18" charset="0"/>
                          </a:rPr>
                          <m:t>𝟐</m:t>
                        </m:r>
                      </m:sub>
                    </m:sSub>
                    <m:r>
                      <a:rPr lang="en-US" sz="1700" b="1" i="1" smtClean="0">
                        <a:solidFill>
                          <a:srgbClr val="232323"/>
                        </a:solidFill>
                        <a:latin typeface="Cambria Math" panose="02040503050406030204" pitchFamily="18" charset="0"/>
                      </a:rPr>
                      <m:t>∗</m:t>
                    </m:r>
                    <m:sSup>
                      <m:sSupPr>
                        <m:ctrlPr>
                          <a:rPr lang="en-US" sz="1700" b="1" i="1" smtClean="0">
                            <a:solidFill>
                              <a:srgbClr val="232323"/>
                            </a:solidFill>
                            <a:latin typeface="Cambria Math" panose="02040503050406030204" pitchFamily="18" charset="0"/>
                          </a:rPr>
                        </m:ctrlPr>
                      </m:sSupPr>
                      <m:e>
                        <m:r>
                          <a:rPr lang="en-US" sz="1700" b="1" i="1" smtClean="0">
                            <a:solidFill>
                              <a:srgbClr val="232323"/>
                            </a:solidFill>
                            <a:latin typeface="Cambria Math" panose="02040503050406030204" pitchFamily="18" charset="0"/>
                          </a:rPr>
                          <m:t>𝑹</m:t>
                        </m:r>
                      </m:e>
                      <m:sup>
                        <m:r>
                          <a:rPr lang="en-US" sz="1700" b="1" i="1" smtClean="0">
                            <a:solidFill>
                              <a:srgbClr val="232323"/>
                            </a:solidFill>
                            <a:latin typeface="Cambria Math" panose="02040503050406030204" pitchFamily="18" charset="0"/>
                          </a:rPr>
                          <m:t>𝟐</m:t>
                        </m:r>
                      </m:sup>
                    </m:sSup>
                  </m:oMath>
                </a14:m>
                <a:r>
                  <a:rPr lang="vi-VN" sz="1700" b="1" i="0" dirty="0">
                    <a:solidFill>
                      <a:srgbClr val="232323"/>
                    </a:solidFill>
                    <a:latin typeface="Arial"/>
                  </a:rPr>
                  <a:t>, do đó phúc lợi xã hội thu được đã tự động trừ đi chi phí cơ hội của việc nắm giữ dự trữ.</a:t>
                </a:r>
              </a:p>
              <a:p>
                <a:pPr algn="just">
                  <a:spcAft>
                    <a:spcPts val="1000"/>
                  </a:spcAft>
                </a:pPr>
                <a:r>
                  <a:rPr lang="vi-VN" sz="1700" b="1" i="0" dirty="0">
                    <a:solidFill>
                      <a:srgbClr val="232323"/>
                    </a:solidFill>
                    <a:latin typeface="Arial"/>
                  </a:rPr>
                  <a:t>•  Bài toán chính sách phối hợp: Lựa chọn đồng thời các tham số </a:t>
                </a:r>
                <a14:m>
                  <m:oMath xmlns:m="http://schemas.openxmlformats.org/officeDocument/2006/math">
                    <m:sSub>
                      <m:sSubPr>
                        <m:ctrlPr>
                          <a:rPr lang="en-US" sz="1700" b="1" i="1" smtClean="0">
                            <a:solidFill>
                              <a:srgbClr val="232323"/>
                            </a:solidFill>
                            <a:latin typeface="Cambria Math" panose="02040503050406030204" pitchFamily="18" charset="0"/>
                          </a:rPr>
                        </m:ctrlPr>
                      </m:sSubPr>
                      <m:e>
                        <m:r>
                          <a:rPr lang="en-US" sz="1700" b="1" i="1">
                            <a:solidFill>
                              <a:srgbClr val="232323"/>
                            </a:solidFill>
                            <a:latin typeface="Cambria Math" panose="02040503050406030204" pitchFamily="18" charset="0"/>
                          </a:rPr>
                          <m:t>𝝓</m:t>
                        </m:r>
                      </m:e>
                      <m:sub>
                        <m:r>
                          <a:rPr lang="en-US" sz="1700" b="1" i="1">
                            <a:solidFill>
                              <a:srgbClr val="232323"/>
                            </a:solidFill>
                            <a:latin typeface="Cambria Math" panose="02040503050406030204" pitchFamily="18" charset="0"/>
                          </a:rPr>
                          <m:t>𝑹</m:t>
                        </m:r>
                      </m:sub>
                    </m:sSub>
                  </m:oMath>
                </a14:m>
                <a:r>
                  <a:rPr lang="vi-VN" sz="1700" b="1" i="0" dirty="0">
                    <a:solidFill>
                      <a:srgbClr val="232323"/>
                    </a:solidFill>
                    <a:latin typeface="Arial"/>
                  </a:rPr>
                  <a:t>, </a:t>
                </a:r>
                <a14:m>
                  <m:oMath xmlns:m="http://schemas.openxmlformats.org/officeDocument/2006/math">
                    <m:sSub>
                      <m:sSubPr>
                        <m:ctrlPr>
                          <a:rPr lang="en-US" sz="1700" b="1" i="1">
                            <a:solidFill>
                              <a:srgbClr val="232323"/>
                            </a:solidFill>
                            <a:latin typeface="Cambria Math" panose="02040503050406030204" pitchFamily="18" charset="0"/>
                          </a:rPr>
                        </m:ctrlPr>
                      </m:sSubPr>
                      <m:e>
                        <m:r>
                          <a:rPr lang="en-US" sz="1700" b="1" i="1">
                            <a:solidFill>
                              <a:srgbClr val="232323"/>
                            </a:solidFill>
                            <a:latin typeface="Cambria Math" panose="02040503050406030204" pitchFamily="18" charset="0"/>
                          </a:rPr>
                          <m:t>𝝓</m:t>
                        </m:r>
                      </m:e>
                      <m:sub>
                        <m:r>
                          <a:rPr lang="en-US" sz="1700" b="1" i="1" smtClean="0">
                            <a:solidFill>
                              <a:srgbClr val="232323"/>
                            </a:solidFill>
                            <a:latin typeface="Cambria Math" panose="02040503050406030204" pitchFamily="18" charset="0"/>
                          </a:rPr>
                          <m:t>𝑰𝑸</m:t>
                        </m:r>
                      </m:sub>
                    </m:sSub>
                  </m:oMath>
                </a14:m>
                <a:r>
                  <a:rPr lang="vi-VN" sz="1700" b="1" i="0" dirty="0">
                    <a:solidFill>
                      <a:srgbClr val="232323"/>
                    </a:solidFill>
                    <a:latin typeface="Arial"/>
                  </a:rPr>
                  <a:t> và d thay vì xác định từng tham số riêng lẻ theo thứ tự.</a:t>
                </a:r>
              </a:p>
              <a:p>
                <a:r>
                  <a:rPr lang="vi-VN" sz="1700" b="0" i="0" dirty="0">
                    <a:solidFill>
                      <a:srgbClr val="232323"/>
                    </a:solidFill>
                    <a:latin typeface="Arial"/>
                  </a:rPr>
                  <a:t>•  Tại sao phải phối hợp đồng thời các công cụ chính sách? Các công cụ chính sách có tính bổ trợ chiến lược cho nhau — quy tắc xả dự trữ tối ưu phụ thuộc vào quy mô dự trữ, và quy mô dự trữ lại phụ thuộc vào quy tắc</a:t>
                </a:r>
                <a:endParaRPr lang="en-US" sz="1700" b="0" i="0" dirty="0">
                  <a:solidFill>
                    <a:srgbClr val="232323"/>
                  </a:solidFill>
                  <a:latin typeface="Arial"/>
                </a:endParaRPr>
              </a:p>
              <a:p>
                <a:r>
                  <a:rPr lang="vi-VN" sz="1700" b="0" i="0" dirty="0">
                    <a:solidFill>
                      <a:srgbClr val="232323"/>
                    </a:solidFill>
                    <a:latin typeface="Arial"/>
                  </a:rPr>
                  <a:t>vận hành chính sách.</a:t>
                </a:r>
                <a:br>
                  <a:rPr lang="vi-VN" dirty="0"/>
                </a:br>
                <a:endParaRPr lang="vi-VN" dirty="0"/>
              </a:p>
              <a:p>
                <a:pPr marL="0" indent="0">
                  <a:spcAft>
                    <a:spcPts val="1000"/>
                  </a:spcAft>
                </a:pPr>
                <a:endParaRPr sz="1700" b="0" i="0" dirty="0">
                  <a:solidFill>
                    <a:srgbClr val="232323"/>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502921" y="1554480"/>
                <a:ext cx="10769918" cy="4633961"/>
              </a:xfrm>
              <a:prstGeom prst="rect">
                <a:avLst/>
              </a:prstGeom>
              <a:blipFill>
                <a:blip r:embed="rId3"/>
                <a:stretch>
                  <a:fillRect l="-396" t="-395" r="-396"/>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2 · 40 PHÚT</a:t>
            </a:r>
          </a:p>
          <a:p>
            <a:r>
              <a:rPr lang="vi-VN" sz="2400" b="1" i="0">
                <a:solidFill>
                  <a:srgbClr val="FFFFFF"/>
                </a:solidFill>
                <a:latin typeface="Arial"/>
              </a:rPr>
              <a:t>Demo khủng hoảng định tính</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12</a:t>
            </a:r>
          </a:p>
        </p:txBody>
      </p:sp>
      <mc:AlternateContent xmlns:mc="http://schemas.openxmlformats.org/markup-compatibility/2006" xmlns:a14="http://schemas.microsoft.com/office/drawing/2010/main">
        <mc:Choice Requires="a14">
          <p:sp>
            <p:nvSpPr>
              <p:cNvPr id="9" name="TextBox 8"/>
              <p:cNvSpPr txBox="1"/>
              <p:nvPr/>
            </p:nvSpPr>
            <p:spPr>
              <a:xfrm>
                <a:off x="502920" y="1554480"/>
                <a:ext cx="11185855" cy="1937453"/>
              </a:xfrm>
              <a:prstGeom prst="rect">
                <a:avLst/>
              </a:prstGeom>
              <a:noFill/>
            </p:spPr>
            <p:txBody>
              <a:bodyPr wrap="square">
                <a:spAutoFit/>
              </a:bodyPr>
              <a:lstStyle/>
              <a:p>
                <a:pPr marL="0" indent="0">
                  <a:spcAft>
                    <a:spcPts val="1000"/>
                  </a:spcAft>
                </a:pPr>
                <a:r>
                  <a:rPr lang="vi-VN" sz="1700" b="0" i="0">
                    <a:solidFill>
                      <a:srgbClr val="232323"/>
                    </a:solidFill>
                    <a:latin typeface="Arial"/>
                  </a:rPr>
                  <a:t>•  Mô phỏng gián đoạn nguồn cung: Gián đoạn 30% áp dụng cho cả hai sản phẩm.</a:t>
                </a:r>
              </a:p>
              <a:p>
                <a:pPr marL="0" indent="0">
                  <a:spcAft>
                    <a:spcPts val="1000"/>
                  </a:spcAft>
                </a:pPr>
                <a:r>
                  <a:rPr lang="vi-VN" sz="1700" b="0" i="0">
                    <a:solidFill>
                      <a:srgbClr val="232323"/>
                    </a:solidFill>
                    <a:latin typeface="Arial"/>
                  </a:rPr>
                  <a:t>•  So sánh giữa kịch bản không xả dự trữ và xả toàn bộ dự trữ — hoặc so sánh kịch bản cơ sở </a:t>
                </a:r>
                <a14:m>
                  <m:oMath xmlns:m="http://schemas.openxmlformats.org/officeDocument/2006/math">
                    <m:sSub>
                      <m:sSubPr>
                        <m:ctrlPr>
                          <a:rPr lang="en-US" sz="1700" b="0" i="1" smtClean="0">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𝜙</m:t>
                        </m:r>
                      </m:e>
                      <m:sub>
                        <m:r>
                          <a:rPr lang="en-US" sz="1700" b="0" i="1" smtClean="0">
                            <a:solidFill>
                              <a:srgbClr val="232323"/>
                            </a:solidFill>
                            <a:latin typeface="Cambria Math" panose="02040503050406030204" pitchFamily="18" charset="0"/>
                          </a:rPr>
                          <m:t>𝑅</m:t>
                        </m:r>
                      </m:sub>
                    </m:sSub>
                    <m:r>
                      <a:rPr lang="en-US" sz="1700" b="0" i="1" smtClean="0">
                        <a:solidFill>
                          <a:srgbClr val="232323"/>
                        </a:solidFill>
                        <a:latin typeface="Cambria Math" panose="02040503050406030204" pitchFamily="18" charset="0"/>
                      </a:rPr>
                      <m:t>=0.5 </m:t>
                    </m:r>
                  </m:oMath>
                </a14:m>
                <a:r>
                  <a:rPr lang="vi-VN"/>
                  <a:t>ở chế độ tối thiểu.</a:t>
                </a:r>
              </a:p>
              <a:p>
                <a:pPr>
                  <a:spcAft>
                    <a:spcPts val="1000"/>
                  </a:spcAft>
                </a:pPr>
                <a:r>
                  <a:rPr lang="vi-VN" sz="1700" b="0" i="0">
                    <a:solidFill>
                      <a:srgbClr val="232323"/>
                    </a:solidFill>
                    <a:latin typeface="Arial"/>
                  </a:rPr>
                  <a:t>•  Đọc và phân tích quỹ đạo biến động của tiêu dùng C, dịch vụ năng lượng </a:t>
                </a:r>
                <a14:m>
                  <m:oMath xmlns:m="http://schemas.openxmlformats.org/officeDocument/2006/math">
                    <m:sSub>
                      <m:sSubPr>
                        <m:ctrlPr>
                          <a:rPr lang="en-US" sz="1700" i="1">
                            <a:solidFill>
                              <a:srgbClr val="232323"/>
                            </a:solidFill>
                            <a:latin typeface="Cambria Math" panose="02040503050406030204" pitchFamily="18" charset="0"/>
                          </a:rPr>
                        </m:ctrlPr>
                      </m:sSubPr>
                      <m:e>
                        <m:r>
                          <a:rPr lang="en-US" sz="1700" i="1">
                            <a:solidFill>
                              <a:srgbClr val="232323"/>
                            </a:solidFill>
                            <a:latin typeface="Cambria Math" panose="02040503050406030204" pitchFamily="18" charset="0"/>
                          </a:rPr>
                          <m:t>𝐸</m:t>
                        </m:r>
                      </m:e>
                      <m:sub>
                        <m:r>
                          <a:rPr lang="en-US" sz="1700" i="1">
                            <a:solidFill>
                              <a:srgbClr val="232323"/>
                            </a:solidFill>
                            <a:latin typeface="Cambria Math" panose="02040503050406030204" pitchFamily="18" charset="0"/>
                          </a:rPr>
                          <m:t>𝐷</m:t>
                        </m:r>
                      </m:sub>
                    </m:sSub>
                  </m:oMath>
                </a14:m>
                <a:r>
                  <a:rPr lang="vi-VN" sz="1700" b="0" i="0">
                    <a:solidFill>
                      <a:srgbClr val="232323"/>
                    </a:solidFill>
                    <a:latin typeface="Arial"/>
                  </a:rPr>
                  <a:t>, quỹ dự trữ, và phúc lợi W</a:t>
                </a:r>
              </a:p>
              <a:p>
                <a:pPr marL="0" indent="0">
                  <a:spcAft>
                    <a:spcPts val="1000"/>
                  </a:spcAft>
                </a:pPr>
                <a:r>
                  <a:rPr lang="vi-VN" sz="1700" b="0" i="0">
                    <a:solidFill>
                      <a:srgbClr val="232323"/>
                    </a:solidFill>
                    <a:latin typeface="Arial"/>
                  </a:rPr>
                  <a:t>•  Câu hỏi thảo luận: Quy tắc giải phóng nguồn dự trữ giúp giảm nhẹ đà suy giảm của tiêu dùng và dịch vụ năng lượng đến mức nào trong suốt giai đoạn khủng hoảng?</a:t>
                </a:r>
              </a:p>
              <a:p>
                <a:pPr marL="0" indent="0">
                  <a:spcAft>
                    <a:spcPts val="1000"/>
                  </a:spcAft>
                </a:pPr>
                <a:r>
                  <a:rPr lang="vi-VN" sz="1700" b="1" i="0">
                    <a:solidFill>
                      <a:srgbClr val="232323"/>
                    </a:solidFill>
                    <a:latin typeface="Arial"/>
                  </a:rPr>
                  <a:t>•  Diễn giải: Phần demo này tập trung vào quỹ đạo phản ứng của chính sách, không phải bài tập sàng lọc quy tắc quản lý dự trữ.</a:t>
                </a:r>
              </a:p>
            </p:txBody>
          </p:sp>
        </mc:Choice>
        <mc:Fallback xmlns="">
          <p:sp>
            <p:nvSpPr>
              <p:cNvPr id="9" name="TextBox 8"/>
              <p:cNvSpPr txBox="1">
                <a:spLocks noRot="1" noChangeAspect="1" noMove="1" noResize="1" noEditPoints="1" noAdjustHandles="1" noChangeArrowheads="1" noChangeShapeType="1" noTextEdit="1"/>
              </p:cNvSpPr>
              <p:nvPr/>
            </p:nvSpPr>
            <p:spPr>
              <a:xfrm>
                <a:off x="502920" y="1554480"/>
                <a:ext cx="11185855" cy="1937453"/>
              </a:xfrm>
              <a:prstGeom prst="rect">
                <a:avLst/>
              </a:prstGeom>
              <a:blipFill>
                <a:blip r:embed="rId3"/>
                <a:stretch>
                  <a:fillRect l="-382" t="-943" b="-1887"/>
                </a:stretch>
              </a:blipFill>
            </p:spPr>
            <p:txBody>
              <a:bodyPr/>
              <a:lstStyle/>
              <a:p>
                <a:r>
                  <a:rPr lang="en-DE">
                    <a:noFill/>
                  </a:rPr>
                  <a:t> </a:t>
                </a:r>
              </a:p>
            </p:txBody>
          </p:sp>
        </mc:Fallback>
      </mc:AlternateContent>
      <p:sp>
        <p:nvSpPr>
          <p:cNvPr id="10" name="Rounded Rectangle 9"/>
          <p:cNvSpPr/>
          <p:nvPr/>
        </p:nvSpPr>
        <p:spPr>
          <a:xfrm>
            <a:off x="502919" y="5843016"/>
            <a:ext cx="11185855" cy="566928"/>
          </a:xfrm>
          <a:prstGeom prst="roundRect">
            <a:avLst/>
          </a:prstGeom>
          <a:solidFill>
            <a:srgbClr val="F5F5F5"/>
          </a:solidFill>
          <a:ln w="12700">
            <a:solidFill>
              <a:srgbClr val="CC071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ctr"/>
            <a:r>
              <a:rPr lang="vi-VN" sz="1300" b="0" i="1">
                <a:solidFill>
                  <a:srgbClr val="232323"/>
                </a:solidFill>
                <a:latin typeface="Arial"/>
              </a:rPr>
              <a:t>Đây là quỹ đạo định tính chính xác trong mô hình thu gọn, không phải phân tích dự trữ từ mô hình DGE-METRIC.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4841"/>
            <a:ext cx="9804316" cy="810478"/>
          </a:xfrm>
          <a:prstGeom prst="rect">
            <a:avLst/>
          </a:prstGeom>
          <a:noFill/>
        </p:spPr>
        <p:txBody>
          <a:bodyPr wrap="square" anchor="ctr">
            <a:spAutoFit/>
          </a:bodyPr>
          <a:lstStyle/>
          <a:p>
            <a:pPr>
              <a:spcAft>
                <a:spcPts val="1400"/>
              </a:spcAft>
            </a:pPr>
            <a:r>
              <a:rPr lang="vi-VN" sz="1100" b="1" i="0">
                <a:solidFill>
                  <a:srgbClr val="FFD2D2"/>
                </a:solidFill>
                <a:latin typeface="Arial"/>
              </a:rPr>
              <a:t>PHẦN 3 · 55 PHÚT</a:t>
            </a:r>
          </a:p>
          <a:p>
            <a:r>
              <a:rPr lang="vi-VN" sz="2400" b="1" i="0">
                <a:solidFill>
                  <a:srgbClr val="FFFFFF"/>
                </a:solidFill>
                <a:latin typeface="Arial"/>
              </a:rPr>
              <a:t>Mức độ bảo đảm dự trữ cho mục tiêu tăng trưởng của Việt Nam</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13</a:t>
            </a:r>
          </a:p>
        </p:txBody>
      </p:sp>
      <mc:AlternateContent xmlns:mc="http://schemas.openxmlformats.org/markup-compatibility/2006" xmlns:a14="http://schemas.microsoft.com/office/drawing/2010/main">
        <mc:Choice Requires="a14">
          <p:sp>
            <p:nvSpPr>
              <p:cNvPr id="9" name="TextBox 8"/>
              <p:cNvSpPr txBox="1"/>
              <p:nvPr/>
            </p:nvSpPr>
            <p:spPr>
              <a:xfrm>
                <a:off x="502920" y="1554480"/>
                <a:ext cx="11185855" cy="1913344"/>
              </a:xfrm>
              <a:prstGeom prst="rect">
                <a:avLst/>
              </a:prstGeom>
              <a:noFill/>
            </p:spPr>
            <p:txBody>
              <a:bodyPr wrap="square">
                <a:spAutoFit/>
              </a:bodyPr>
              <a:lstStyle/>
              <a:p>
                <a:pPr>
                  <a:spcAft>
                    <a:spcPts val="1000"/>
                  </a:spcAft>
                </a:pPr>
                <a:r>
                  <a:rPr lang="vi-VN" sz="1700" b="0" i="0">
                    <a:solidFill>
                      <a:srgbClr val="232323"/>
                    </a:solidFill>
                    <a:latin typeface="Arial"/>
                  </a:rPr>
                  <a:t>•  Mục tiêu tăng trưởng của Việt Nam: </a:t>
                </a:r>
                <a14:m>
                  <m:oMath xmlns:m="http://schemas.openxmlformats.org/officeDocument/2006/math">
                    <m:sSub>
                      <m:sSubPr>
                        <m:ctrlPr>
                          <a:rPr lang="ar-AE" sz="1700" i="1">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𝑔</m:t>
                        </m:r>
                      </m:e>
                      <m:sub>
                        <m:r>
                          <a:rPr lang="en-US" sz="1700" b="0" i="1" smtClean="0">
                            <a:solidFill>
                              <a:srgbClr val="232323"/>
                            </a:solidFill>
                            <a:latin typeface="Cambria Math" panose="02040503050406030204" pitchFamily="18" charset="0"/>
                          </a:rPr>
                          <m:t>𝑌</m:t>
                        </m:r>
                      </m:sub>
                    </m:sSub>
                    <m:r>
                      <a:rPr lang="ar-AE" sz="1700" i="1">
                        <a:solidFill>
                          <a:srgbClr val="232323"/>
                        </a:solidFill>
                        <a:latin typeface="Cambria Math" panose="02040503050406030204" pitchFamily="18" charset="0"/>
                      </a:rPr>
                      <m:t> </m:t>
                    </m:r>
                  </m:oMath>
                </a14:m>
                <a:r>
                  <a:rPr lang="vi-VN" sz="1700" b="0" i="0">
                    <a:solidFill>
                      <a:srgbClr val="232323"/>
                    </a:solidFill>
                    <a:latin typeface="Arial"/>
                  </a:rPr>
                  <a:t>= 10%/năm cho đến năm 2030.</a:t>
                </a:r>
              </a:p>
              <a:p>
                <a:pPr marL="0" indent="0">
                  <a:spcAft>
                    <a:spcPts val="1000"/>
                  </a:spcAft>
                </a:pPr>
                <a:r>
                  <a:rPr lang="vi-VN" sz="1700" b="0" i="0">
                    <a:solidFill>
                      <a:srgbClr val="232323"/>
                    </a:solidFill>
                    <a:latin typeface="Arial"/>
                  </a:rPr>
                  <a:t>•  Nếu quy mô quỹ dự trữ được giữ cố định trong khi GDP và nhu cầu năng lượng tiếp tục tăng, mức độ bảo đảm dự trữ sẽ giảm dần theo thời gian.</a:t>
                </a:r>
              </a:p>
              <a:p>
                <a:pPr marL="0" indent="0">
                  <a:spcAft>
                    <a:spcPts val="1000"/>
                  </a:spcAft>
                </a:pPr>
                <a:r>
                  <a:rPr lang="vi-VN" sz="1700" b="1" i="0">
                    <a:solidFill>
                      <a:srgbClr val="232323"/>
                    </a:solidFill>
                    <a:latin typeface="Arial"/>
                  </a:rPr>
                  <a:t>•  Mức bảo đảm dự trữ dầu chiến lược (SPR) hiện tại: Đạt khoảng 30 ngày cung cấp trong lượt hiệu chỉnh mô hình; nếu không nâng quy mô dự trữ tương ứng với đà tăng trưởng, thời gian bảo đảm sẽ giảm xuống còn khoảng một nửa sau chừng 11 năm.</a:t>
                </a:r>
              </a:p>
              <a:p>
                <a:pPr marL="0" indent="0">
                  <a:spcAft>
                    <a:spcPts val="1000"/>
                  </a:spcAft>
                </a:pPr>
                <a:r>
                  <a:rPr lang="vi-VN" sz="1700" b="0" i="0">
                    <a:solidFill>
                      <a:srgbClr val="232323"/>
                    </a:solidFill>
                    <a:latin typeface="Arial"/>
                  </a:rPr>
                  <a:t>•  Dự trữ than cũng tuân theo quy luật tương tự: Nhu cầu tiêu thụ than tăng cùng chiều với GDP, trừ khi quy mô kho dự trữ được mở rộng tương ứng.</a:t>
                </a:r>
              </a:p>
              <a:p>
                <a:pPr marL="0" indent="0">
                  <a:spcAft>
                    <a:spcPts val="1000"/>
                  </a:spcAft>
                </a:pPr>
                <a:r>
                  <a:rPr lang="vi-VN" sz="1700" b="1" i="0">
                    <a:solidFill>
                      <a:srgbClr val="232323"/>
                    </a:solidFill>
                    <a:latin typeface="Arial"/>
                  </a:rPr>
                  <a:t>•  Bài học chính sách: Mức độ bảo đảm dự trữ là một mục tiêu biến đổi liên tục, không phải là một con số khối lượng cố định thiết lập một lần.</a:t>
                </a:r>
              </a:p>
            </p:txBody>
          </p:sp>
        </mc:Choice>
        <mc:Fallback xmlns="">
          <p:sp>
            <p:nvSpPr>
              <p:cNvPr id="9" name="TextBox 8"/>
              <p:cNvSpPr txBox="1">
                <a:spLocks noRot="1" noChangeAspect="1" noMove="1" noResize="1" noEditPoints="1" noAdjustHandles="1" noChangeArrowheads="1" noChangeShapeType="1" noTextEdit="1"/>
              </p:cNvSpPr>
              <p:nvPr/>
            </p:nvSpPr>
            <p:spPr>
              <a:xfrm>
                <a:off x="502920" y="1554480"/>
                <a:ext cx="11185855" cy="1913344"/>
              </a:xfrm>
              <a:prstGeom prst="rect">
                <a:avLst/>
              </a:prstGeom>
              <a:blipFill>
                <a:blip r:embed="rId3"/>
                <a:stretch>
                  <a:fillRect l="-382" t="-955" b="-3185"/>
                </a:stretch>
              </a:blipFill>
            </p:spPr>
            <p:txBody>
              <a:bodyPr/>
              <a:lstStyle/>
              <a:p>
                <a:r>
                  <a:rPr lang="en-DE">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3 · 55 PHÚT</a:t>
            </a:r>
          </a:p>
          <a:p>
            <a:r>
              <a:rPr lang="vi-VN" sz="2400" b="1" i="0">
                <a:solidFill>
                  <a:srgbClr val="FFFFFF"/>
                </a:solidFill>
                <a:latin typeface="Arial"/>
              </a:rPr>
              <a:t>QHĐ VIII — Lộ trình giảm dần điện than</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14</a:t>
            </a:r>
          </a:p>
        </p:txBody>
      </p:sp>
      <mc:AlternateContent xmlns:mc="http://schemas.openxmlformats.org/markup-compatibility/2006" xmlns:a14="http://schemas.microsoft.com/office/drawing/2010/main">
        <mc:Choice Requires="a14">
          <p:sp>
            <p:nvSpPr>
              <p:cNvPr id="9" name="TextBox 8"/>
              <p:cNvSpPr txBox="1"/>
              <p:nvPr/>
            </p:nvSpPr>
            <p:spPr>
              <a:xfrm>
                <a:off x="502921" y="1554480"/>
                <a:ext cx="10955654" cy="3239861"/>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Lượng than nhập khẩu giảm khoảng 40% trong suốt khung thời gian thực hiện lộ trình cắt giảm; mô hình chạy 3 biến thể kịch bản:</a:t>
                </a:r>
              </a:p>
              <a:p>
                <a:pPr marL="0" indent="0" algn="just">
                  <a:spcAft>
                    <a:spcPts val="1000"/>
                  </a:spcAft>
                </a:pPr>
                <a:r>
                  <a:rPr lang="en-US" sz="1700" dirty="0">
                    <a:solidFill>
                      <a:srgbClr val="232323"/>
                    </a:solidFill>
                    <a:latin typeface="Arial"/>
                  </a:rPr>
                  <a:t>   </a:t>
                </a:r>
                <a:r>
                  <a:rPr lang="vi-VN" sz="1700" b="0" i="0" dirty="0">
                    <a:solidFill>
                      <a:srgbClr val="232323"/>
                    </a:solidFill>
                    <a:latin typeface="Arial"/>
                  </a:rPr>
                  <a:t>A. Chỉ giảm dần điện than (không có chính sách hỗ trợ): Dịch vụ năng lượng sụt giảm và GDP chịu tổn thất lớn hơn.</a:t>
                </a:r>
              </a:p>
              <a:p>
                <a:pPr marL="0" indent="0" algn="just">
                  <a:spcAft>
                    <a:spcPts val="1000"/>
                  </a:spcAft>
                </a:pPr>
                <a:r>
                  <a:rPr lang="en-US" sz="1700" dirty="0">
                    <a:solidFill>
                      <a:srgbClr val="232323"/>
                    </a:solidFill>
                    <a:latin typeface="Arial"/>
                  </a:rPr>
                  <a:t>   </a:t>
                </a:r>
                <a:r>
                  <a:rPr lang="vi-VN" sz="1700" b="0" i="0" dirty="0">
                    <a:solidFill>
                      <a:srgbClr val="232323"/>
                    </a:solidFill>
                    <a:latin typeface="Arial"/>
                  </a:rPr>
                  <a:t>B. Giảm dần điện than + Đẩy mạnh đầu t</a:t>
                </a:r>
                <a:r>
                  <a:rPr lang="en-US" sz="1700" dirty="0">
                    <a:solidFill>
                      <a:srgbClr val="232323"/>
                    </a:solidFill>
                    <a:latin typeface="Arial"/>
                  </a:rPr>
                  <a:t>ư</a:t>
                </a:r>
                <a:r>
                  <a:rPr lang="vi-VN" sz="1700" b="0" i="0" dirty="0">
                    <a:solidFill>
                      <a:srgbClr val="232323"/>
                    </a:solidFill>
                    <a:latin typeface="Arial"/>
                  </a:rPr>
                  <a:t> (</a:t>
                </a:r>
                <a14:m>
                  <m:oMath xmlns:m="http://schemas.openxmlformats.org/officeDocument/2006/math">
                    <m:sSub>
                      <m:sSubPr>
                        <m:ctrlPr>
                          <a:rPr lang="en-US" sz="1700" b="0" i="1" smtClean="0">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𝜙</m:t>
                        </m:r>
                      </m:e>
                      <m:sub>
                        <m:r>
                          <a:rPr lang="en-US" sz="1700" b="0" i="1" smtClean="0">
                            <a:solidFill>
                              <a:srgbClr val="232323"/>
                            </a:solidFill>
                            <a:latin typeface="Cambria Math" panose="02040503050406030204" pitchFamily="18" charset="0"/>
                          </a:rPr>
                          <m:t>𝐼𝑄</m:t>
                        </m:r>
                      </m:sub>
                    </m:sSub>
                  </m:oMath>
                </a14:m>
                <a:r>
                  <a:rPr lang="vi-VN" sz="1700" b="0" i="0" dirty="0">
                    <a:solidFill>
                      <a:srgbClr val="232323"/>
                    </a:solidFill>
                    <a:latin typeface="Arial"/>
                  </a:rPr>
                  <a:t> = 0,08): Mở rộng công suất năng lượng sạch giúp bù đắp một phần tổn thất.</a:t>
                </a:r>
              </a:p>
              <a:p>
                <a:pPr algn="just">
                  <a:spcAft>
                    <a:spcPts val="1000"/>
                  </a:spcAft>
                </a:pPr>
                <a:r>
                  <a:rPr lang="en-US" sz="1700" dirty="0">
                    <a:solidFill>
                      <a:srgbClr val="232323"/>
                    </a:solidFill>
                    <a:latin typeface="Arial"/>
                  </a:rPr>
                  <a:t>   </a:t>
                </a:r>
                <a:r>
                  <a:rPr lang="vi-VN" sz="1700" b="0" i="0" dirty="0">
                    <a:solidFill>
                      <a:srgbClr val="232323"/>
                    </a:solidFill>
                    <a:latin typeface="Arial"/>
                  </a:rPr>
                  <a:t>C. Giảm dần điện than + Vùng đệm dự trữ (</a:t>
                </a:r>
                <a14:m>
                  <m:oMath xmlns:m="http://schemas.openxmlformats.org/officeDocument/2006/math">
                    <m:sSub>
                      <m:sSubPr>
                        <m:ctrlPr>
                          <a:rPr lang="en-US" sz="1700" i="1">
                            <a:solidFill>
                              <a:srgbClr val="232323"/>
                            </a:solidFill>
                            <a:latin typeface="Cambria Math" panose="02040503050406030204" pitchFamily="18" charset="0"/>
                          </a:rPr>
                        </m:ctrlPr>
                      </m:sSubPr>
                      <m:e>
                        <m:r>
                          <a:rPr lang="en-US" sz="1700" i="1">
                            <a:solidFill>
                              <a:srgbClr val="232323"/>
                            </a:solidFill>
                            <a:latin typeface="Cambria Math" panose="02040503050406030204" pitchFamily="18" charset="0"/>
                          </a:rPr>
                          <m:t>𝜙</m:t>
                        </m:r>
                      </m:e>
                      <m:sub>
                        <m:r>
                          <a:rPr lang="en-US" sz="1700" b="0" i="1" smtClean="0">
                            <a:solidFill>
                              <a:srgbClr val="232323"/>
                            </a:solidFill>
                            <a:latin typeface="Cambria Math" panose="02040503050406030204" pitchFamily="18" charset="0"/>
                          </a:rPr>
                          <m:t>𝑅</m:t>
                        </m:r>
                      </m:sub>
                    </m:sSub>
                    <m:r>
                      <a:rPr lang="en-US" sz="1700" i="1">
                        <a:solidFill>
                          <a:srgbClr val="232323"/>
                        </a:solidFill>
                        <a:latin typeface="Cambria Math" panose="02040503050406030204" pitchFamily="18" charset="0"/>
                      </a:rPr>
                      <m:t> </m:t>
                    </m:r>
                  </m:oMath>
                </a14:m>
                <a:r>
                  <a:rPr lang="vi-VN" sz="1700" b="0" i="0" dirty="0">
                    <a:solidFill>
                      <a:srgbClr val="232323"/>
                    </a:solidFill>
                    <a:latin typeface="Arial"/>
                  </a:rPr>
                  <a:t>= 1,0): Quỹ dự trữ than đóng vai trò</a:t>
                </a:r>
                <a:r>
                  <a:rPr lang="en-US" sz="1700" b="0" i="0" dirty="0">
                    <a:solidFill>
                      <a:srgbClr val="232323"/>
                    </a:solidFill>
                    <a:latin typeface="Arial"/>
                  </a:rPr>
                  <a:t> </a:t>
                </a:r>
                <a:r>
                  <a:rPr lang="en-US" sz="1700" b="0" i="0" dirty="0" err="1">
                    <a:solidFill>
                      <a:srgbClr val="232323"/>
                    </a:solidFill>
                    <a:latin typeface="Arial"/>
                  </a:rPr>
                  <a:t>như</a:t>
                </a:r>
                <a:r>
                  <a:rPr lang="en-US" sz="1700" b="0" i="0" dirty="0">
                    <a:solidFill>
                      <a:srgbClr val="232323"/>
                    </a:solidFill>
                    <a:latin typeface="Arial"/>
                  </a:rPr>
                  <a:t> </a:t>
                </a:r>
                <a:r>
                  <a:rPr lang="en-US" sz="1700" b="0" i="0" dirty="0" err="1">
                    <a:solidFill>
                      <a:srgbClr val="232323"/>
                    </a:solidFill>
                    <a:latin typeface="Arial"/>
                  </a:rPr>
                  <a:t>một</a:t>
                </a:r>
                <a:r>
                  <a:rPr lang="vi-VN" sz="1700" b="0" i="0" dirty="0">
                    <a:solidFill>
                      <a:srgbClr val="232323"/>
                    </a:solidFill>
                    <a:latin typeface="Arial"/>
                  </a:rPr>
                  <a:t> vùng đệm</a:t>
                </a:r>
                <a:r>
                  <a:rPr lang="vi-VN" sz="1700" dirty="0">
                    <a:solidFill>
                      <a:srgbClr val="232323"/>
                    </a:solidFill>
                  </a:rPr>
                  <a:t>, giúp bù đắp và giảm thiểu cú sốc thiếu hụt nguồn cung</a:t>
                </a:r>
                <a:r>
                  <a:rPr lang="vi-VN" sz="1700" b="0" i="0" dirty="0">
                    <a:solidFill>
                      <a:srgbClr val="232323"/>
                    </a:solidFill>
                    <a:latin typeface="Arial"/>
                  </a:rPr>
                  <a:t>.</a:t>
                </a:r>
              </a:p>
              <a:p>
                <a:pPr marL="0" indent="0" algn="just">
                  <a:spcAft>
                    <a:spcPts val="1000"/>
                  </a:spcAft>
                </a:pPr>
                <a:r>
                  <a:rPr lang="vi-VN" sz="1700" b="1" i="0" dirty="0">
                    <a:solidFill>
                      <a:srgbClr val="232323"/>
                    </a:solidFill>
                    <a:latin typeface="Arial"/>
                  </a:rPr>
                  <a:t>•  Diễn giải kết quả: Nguồn dự trữ, đầu tư công suất mới và lộ trình chuyển dịch năng lượng đều là các thành tố không thể tách rời trong một gói giải pháp </a:t>
                </a:r>
                <a:r>
                  <a:rPr lang="en-US" sz="1700" b="1" i="0" dirty="0" err="1">
                    <a:solidFill>
                      <a:srgbClr val="232323"/>
                    </a:solidFill>
                    <a:latin typeface="Arial"/>
                  </a:rPr>
                  <a:t>chính</a:t>
                </a:r>
                <a:r>
                  <a:rPr lang="en-US" sz="1700" b="1" i="0" dirty="0">
                    <a:solidFill>
                      <a:srgbClr val="232323"/>
                    </a:solidFill>
                    <a:latin typeface="Arial"/>
                  </a:rPr>
                  <a:t> </a:t>
                </a:r>
                <a:r>
                  <a:rPr lang="en-US" sz="1700" b="1" i="0" dirty="0" err="1">
                    <a:solidFill>
                      <a:srgbClr val="232323"/>
                    </a:solidFill>
                    <a:latin typeface="Arial"/>
                  </a:rPr>
                  <a:t>sách</a:t>
                </a:r>
                <a:r>
                  <a:rPr lang="en-US" sz="1700" b="1" i="0" dirty="0">
                    <a:solidFill>
                      <a:srgbClr val="232323"/>
                    </a:solidFill>
                    <a:latin typeface="Arial"/>
                  </a:rPr>
                  <a:t> </a:t>
                </a:r>
                <a:r>
                  <a:rPr lang="vi-VN" sz="1700" b="1" i="0" dirty="0">
                    <a:solidFill>
                      <a:srgbClr val="232323"/>
                    </a:solidFill>
                    <a:latin typeface="Arial"/>
                  </a:rPr>
                  <a:t>tổng thể.</a:t>
                </a:r>
              </a:p>
            </p:txBody>
          </p:sp>
        </mc:Choice>
        <mc:Fallback xmlns="">
          <p:sp>
            <p:nvSpPr>
              <p:cNvPr id="9" name="TextBox 8"/>
              <p:cNvSpPr txBox="1">
                <a:spLocks noRot="1" noChangeAspect="1" noMove="1" noResize="1" noEditPoints="1" noAdjustHandles="1" noChangeArrowheads="1" noChangeShapeType="1" noTextEdit="1"/>
              </p:cNvSpPr>
              <p:nvPr/>
            </p:nvSpPr>
            <p:spPr>
              <a:xfrm>
                <a:off x="502921" y="1554480"/>
                <a:ext cx="10955654" cy="3239861"/>
              </a:xfrm>
              <a:prstGeom prst="rect">
                <a:avLst/>
              </a:prstGeom>
              <a:blipFill>
                <a:blip r:embed="rId3"/>
                <a:stretch>
                  <a:fillRect l="-390" t="-565" r="-334" b="-1695"/>
                </a:stretch>
              </a:blipFill>
            </p:spPr>
            <p:txBody>
              <a:bodyPr/>
              <a:lstStyle/>
              <a:p>
                <a:r>
                  <a:rPr 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GIZ_Logo.png"/>
          <p:cNvPicPr>
            <a:picLocks noChangeAspect="1"/>
          </p:cNvPicPr>
          <p:nvPr/>
        </p:nvPicPr>
        <p:blipFill>
          <a:blip r:embed="rId2"/>
          <a:stretch>
            <a:fillRect/>
          </a:stretch>
        </p:blipFill>
        <p:spPr>
          <a:xfrm>
            <a:off x="10088575" y="457200"/>
            <a:ext cx="1656522" cy="457200"/>
          </a:xfrm>
          <a:prstGeom prst="rect">
            <a:avLst/>
          </a:prstGeom>
        </p:spPr>
      </p:pic>
      <p:sp>
        <p:nvSpPr>
          <p:cNvPr id="4" name="TextBox 3"/>
          <p:cNvSpPr txBox="1"/>
          <p:nvPr/>
        </p:nvSpPr>
        <p:spPr>
          <a:xfrm>
            <a:off x="822960" y="2651760"/>
            <a:ext cx="10058400" cy="2011680"/>
          </a:xfrm>
          <a:prstGeom prst="rect">
            <a:avLst/>
          </a:prstGeom>
          <a:noFill/>
        </p:spPr>
        <p:txBody>
          <a:bodyPr wrap="square">
            <a:spAutoFit/>
          </a:bodyPr>
          <a:lstStyle/>
          <a:p>
            <a:pPr>
              <a:spcAft>
                <a:spcPts val="1000"/>
              </a:spcAft>
            </a:pPr>
            <a:r>
              <a:rPr lang="vi-VN" sz="1500" b="1" i="0">
                <a:solidFill>
                  <a:srgbClr val="FFD2D2"/>
                </a:solidFill>
                <a:latin typeface="Arial"/>
              </a:rPr>
              <a:t>NGHỈ GIẢI LAO</a:t>
            </a:r>
          </a:p>
          <a:p>
            <a:r>
              <a:rPr lang="vi-VN" sz="3400" b="1" i="0">
                <a:solidFill>
                  <a:srgbClr val="FFFFFF"/>
                </a:solidFill>
                <a:latin typeface="Arial"/>
              </a:rPr>
              <a:t>15 phút</a:t>
            </a:r>
          </a:p>
          <a:p>
            <a:pPr>
              <a:spcBef>
                <a:spcPts val="1400"/>
              </a:spcBef>
            </a:pPr>
            <a:r>
              <a:rPr lang="vi-VN" sz="1700" b="0" i="0">
                <a:solidFill>
                  <a:srgbClr val="FFFFFF"/>
                </a:solidFill>
                <a:latin typeface="Arial"/>
              </a:rPr>
              <a:t>Nội dung tiếp theo: Cấu trúc triển khai mô hình và kế hoạch thực hiện của nhóm anh/chị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4 · 70 PHÚT</a:t>
            </a:r>
          </a:p>
          <a:p>
            <a:r>
              <a:rPr lang="vi-VN" sz="2400" b="1" i="0">
                <a:solidFill>
                  <a:srgbClr val="FFFFFF"/>
                </a:solidFill>
                <a:latin typeface="Arial"/>
              </a:rPr>
              <a:t>Tìm kiếm phương án phối hợp chính sách tối ưu</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15</a:t>
            </a:r>
          </a:p>
        </p:txBody>
      </p:sp>
      <mc:AlternateContent xmlns:mc="http://schemas.openxmlformats.org/markup-compatibility/2006" xmlns:a14="http://schemas.microsoft.com/office/drawing/2010/main">
        <mc:Choice Requires="a14">
          <p:sp>
            <p:nvSpPr>
              <p:cNvPr id="9" name="TextBox 8"/>
              <p:cNvSpPr txBox="1"/>
              <p:nvPr/>
            </p:nvSpPr>
            <p:spPr>
              <a:xfrm>
                <a:off x="502920" y="1554480"/>
                <a:ext cx="11185855" cy="2496902"/>
              </a:xfrm>
              <a:prstGeom prst="rect">
                <a:avLst/>
              </a:prstGeom>
              <a:noFill/>
            </p:spPr>
            <p:txBody>
              <a:bodyPr wrap="square">
                <a:spAutoFit/>
              </a:bodyPr>
              <a:lstStyle/>
              <a:p>
                <a:pPr algn="just">
                  <a:spcAft>
                    <a:spcPts val="1000"/>
                  </a:spcAft>
                </a:pPr>
                <a:r>
                  <a:rPr lang="vi-VN" sz="1700" b="0" i="0" dirty="0">
                    <a:solidFill>
                      <a:srgbClr val="232323"/>
                    </a:solidFill>
                    <a:latin typeface="Arial"/>
                  </a:rPr>
                  <a:t>•  Thao tác tính toán cốt lõi: Lưới mô phỏng Monte Carlo 3 chiều trên không gian 3 tham số </a:t>
                </a:r>
                <a14:m>
                  <m:oMath xmlns:m="http://schemas.openxmlformats.org/officeDocument/2006/math">
                    <m:sSub>
                      <m:sSubPr>
                        <m:ctrlPr>
                          <a:rPr lang="en-US" sz="1700" b="0" i="1" smtClean="0">
                            <a:solidFill>
                              <a:srgbClr val="232323"/>
                            </a:solidFill>
                            <a:latin typeface="Cambria Math" panose="02040503050406030204" pitchFamily="18" charset="0"/>
                          </a:rPr>
                        </m:ctrlPr>
                      </m:sSubPr>
                      <m:e>
                        <m:r>
                          <a:rPr lang="en-US" sz="1700" b="0" i="1" smtClean="0">
                            <a:solidFill>
                              <a:srgbClr val="232323"/>
                            </a:solidFill>
                            <a:latin typeface="Cambria Math" panose="02040503050406030204" pitchFamily="18" charset="0"/>
                          </a:rPr>
                          <m:t>𝜙</m:t>
                        </m:r>
                      </m:e>
                      <m:sub>
                        <m:r>
                          <a:rPr lang="en-US" sz="1700" b="0" i="1" smtClean="0">
                            <a:solidFill>
                              <a:srgbClr val="232323"/>
                            </a:solidFill>
                            <a:latin typeface="Cambria Math" panose="02040503050406030204" pitchFamily="18" charset="0"/>
                          </a:rPr>
                          <m:t>𝑅</m:t>
                        </m:r>
                      </m:sub>
                    </m:sSub>
                    <m:r>
                      <a:rPr lang="en-US" sz="1700" b="0" i="1" smtClean="0">
                        <a:solidFill>
                          <a:srgbClr val="232323"/>
                        </a:solidFill>
                        <a:latin typeface="Cambria Math" panose="02040503050406030204" pitchFamily="18" charset="0"/>
                      </a:rPr>
                      <m:t> </m:t>
                    </m:r>
                  </m:oMath>
                </a14:m>
                <a:r>
                  <a:rPr lang="vi-VN" sz="1700" b="0" i="0" dirty="0">
                    <a:solidFill>
                      <a:srgbClr val="232323"/>
                    </a:solidFill>
                    <a:latin typeface="Arial"/>
                  </a:rPr>
                  <a:t>× </a:t>
                </a:r>
                <a14:m>
                  <m:oMath xmlns:m="http://schemas.openxmlformats.org/officeDocument/2006/math">
                    <m:sSub>
                      <m:sSubPr>
                        <m:ctrlPr>
                          <a:rPr lang="en-US" sz="1700" i="1">
                            <a:solidFill>
                              <a:srgbClr val="232323"/>
                            </a:solidFill>
                            <a:latin typeface="Cambria Math" panose="02040503050406030204" pitchFamily="18" charset="0"/>
                          </a:rPr>
                        </m:ctrlPr>
                      </m:sSubPr>
                      <m:e>
                        <m:r>
                          <a:rPr lang="en-US" sz="1700" i="1">
                            <a:solidFill>
                              <a:srgbClr val="232323"/>
                            </a:solidFill>
                            <a:latin typeface="Cambria Math" panose="02040503050406030204" pitchFamily="18" charset="0"/>
                          </a:rPr>
                          <m:t>𝜙</m:t>
                        </m:r>
                      </m:e>
                      <m:sub>
                        <m:r>
                          <a:rPr lang="en-US" sz="1700" b="0" i="1" smtClean="0">
                            <a:solidFill>
                              <a:srgbClr val="232323"/>
                            </a:solidFill>
                            <a:latin typeface="Cambria Math" panose="02040503050406030204" pitchFamily="18" charset="0"/>
                          </a:rPr>
                          <m:t>𝐼𝑄</m:t>
                        </m:r>
                      </m:sub>
                    </m:sSub>
                    <m:r>
                      <a:rPr lang="en-US" sz="1700" i="1">
                        <a:solidFill>
                          <a:srgbClr val="232323"/>
                        </a:solidFill>
                        <a:latin typeface="Cambria Math" panose="02040503050406030204" pitchFamily="18" charset="0"/>
                      </a:rPr>
                      <m:t> </m:t>
                    </m:r>
                  </m:oMath>
                </a14:m>
                <a:r>
                  <a:rPr lang="vi-VN" sz="1700" b="0" i="0" dirty="0">
                    <a:solidFill>
                      <a:srgbClr val="232323"/>
                    </a:solidFill>
                    <a:latin typeface="Arial"/>
                  </a:rPr>
                  <a:t> × </a:t>
                </a:r>
                <a14:m>
                  <m:oMath xmlns:m="http://schemas.openxmlformats.org/officeDocument/2006/math">
                    <m:r>
                      <m:rPr>
                        <m:sty m:val="p"/>
                      </m:rPr>
                      <a:rPr lang="en-US" sz="1700" b="0" i="0" smtClean="0">
                        <a:solidFill>
                          <a:srgbClr val="232323"/>
                        </a:solidFill>
                        <a:latin typeface="Cambria Math" panose="02040503050406030204" pitchFamily="18" charset="0"/>
                      </a:rPr>
                      <m:t>d</m:t>
                    </m:r>
                  </m:oMath>
                </a14:m>
                <a:endParaRPr lang="vi-VN" sz="1700" b="0" i="0" dirty="0">
                  <a:solidFill>
                    <a:srgbClr val="232323"/>
                  </a:solidFill>
                  <a:latin typeface="Arial"/>
                </a:endParaRPr>
              </a:p>
              <a:p>
                <a:pPr algn="just">
                  <a:spcAft>
                    <a:spcPts val="1000"/>
                  </a:spcAft>
                </a:pPr>
                <a:r>
                  <a:rPr lang="vi-VN" sz="1700" b="0" i="0" dirty="0">
                    <a:solidFill>
                      <a:srgbClr val="232323"/>
                    </a:solidFill>
                    <a:latin typeface="Arial"/>
                  </a:rPr>
                  <a:t>•  Mã chương trình (script) tiến hành tìm kiếm đồng thời bộ giải pháp tối ưu (</a:t>
                </a:r>
                <a14:m>
                  <m:oMath xmlns:m="http://schemas.openxmlformats.org/officeDocument/2006/math">
                    <m:sSubSup>
                      <m:sSubSupPr>
                        <m:ctrlPr>
                          <a:rPr lang="en-US" sz="1700" b="0" i="1" smtClean="0">
                            <a:solidFill>
                              <a:srgbClr val="232323"/>
                            </a:solidFill>
                            <a:latin typeface="Cambria Math" panose="02040503050406030204" pitchFamily="18" charset="0"/>
                          </a:rPr>
                        </m:ctrlPr>
                      </m:sSubSupPr>
                      <m:e>
                        <m:r>
                          <a:rPr lang="ar-AE" sz="1700" i="1">
                            <a:solidFill>
                              <a:srgbClr val="232323"/>
                            </a:solidFill>
                            <a:latin typeface="Cambria Math" panose="02040503050406030204" pitchFamily="18" charset="0"/>
                          </a:rPr>
                          <m:t>𝜙</m:t>
                        </m:r>
                      </m:e>
                      <m:sub>
                        <m:r>
                          <a:rPr lang="ar-AE" sz="1700" i="1">
                            <a:solidFill>
                              <a:srgbClr val="232323"/>
                            </a:solidFill>
                            <a:latin typeface="Cambria Math" panose="02040503050406030204" pitchFamily="18" charset="0"/>
                          </a:rPr>
                          <m:t>𝑅</m:t>
                        </m:r>
                      </m:sub>
                      <m:sup>
                        <m:r>
                          <a:rPr lang="en-US" sz="1700" b="0" i="1" smtClean="0">
                            <a:solidFill>
                              <a:srgbClr val="232323"/>
                            </a:solidFill>
                            <a:latin typeface="Cambria Math" panose="02040503050406030204" pitchFamily="18" charset="0"/>
                          </a:rPr>
                          <m:t>∗</m:t>
                        </m:r>
                      </m:sup>
                    </m:sSubSup>
                    <m:r>
                      <a:rPr lang="ar-AE" sz="1700" i="1">
                        <a:solidFill>
                          <a:srgbClr val="232323"/>
                        </a:solidFill>
                        <a:latin typeface="Cambria Math" panose="02040503050406030204" pitchFamily="18" charset="0"/>
                      </a:rPr>
                      <m:t> </m:t>
                    </m:r>
                  </m:oMath>
                </a14:m>
                <a:r>
                  <a:rPr lang="vi-VN" sz="1700" b="0" i="0" dirty="0">
                    <a:solidFill>
                      <a:srgbClr val="232323"/>
                    </a:solidFill>
                    <a:latin typeface="Arial"/>
                  </a:rPr>
                  <a:t>, </a:t>
                </a:r>
                <a14:m>
                  <m:oMath xmlns:m="http://schemas.openxmlformats.org/officeDocument/2006/math">
                    <m:sSubSup>
                      <m:sSubSupPr>
                        <m:ctrlPr>
                          <a:rPr lang="en-US" sz="1700" i="1">
                            <a:solidFill>
                              <a:srgbClr val="232323"/>
                            </a:solidFill>
                            <a:latin typeface="Cambria Math" panose="02040503050406030204" pitchFamily="18" charset="0"/>
                          </a:rPr>
                        </m:ctrlPr>
                      </m:sSubSupPr>
                      <m:e>
                        <m:r>
                          <a:rPr lang="ar-AE" sz="1700" i="1">
                            <a:solidFill>
                              <a:srgbClr val="232323"/>
                            </a:solidFill>
                            <a:latin typeface="Cambria Math" panose="02040503050406030204" pitchFamily="18" charset="0"/>
                          </a:rPr>
                          <m:t>𝜙</m:t>
                        </m:r>
                      </m:e>
                      <m:sub>
                        <m:r>
                          <a:rPr lang="en-US" sz="1700" b="0" i="1" smtClean="0">
                            <a:solidFill>
                              <a:srgbClr val="232323"/>
                            </a:solidFill>
                            <a:latin typeface="Cambria Math" panose="02040503050406030204" pitchFamily="18" charset="0"/>
                          </a:rPr>
                          <m:t>𝐼𝑄</m:t>
                        </m:r>
                      </m:sub>
                      <m:sup>
                        <m:r>
                          <a:rPr lang="en-US" sz="1700" i="1">
                            <a:solidFill>
                              <a:srgbClr val="232323"/>
                            </a:solidFill>
                            <a:latin typeface="Cambria Math" panose="02040503050406030204" pitchFamily="18" charset="0"/>
                          </a:rPr>
                          <m:t>∗</m:t>
                        </m:r>
                      </m:sup>
                    </m:sSubSup>
                  </m:oMath>
                </a14:m>
                <a:r>
                  <a:rPr lang="vi-VN" sz="1700" b="0" i="0" dirty="0">
                    <a:solidFill>
                      <a:srgbClr val="232323"/>
                    </a:solidFill>
                    <a:latin typeface="Arial"/>
                  </a:rPr>
                  <a:t>, </a:t>
                </a:r>
                <a14:m>
                  <m:oMath xmlns:m="http://schemas.openxmlformats.org/officeDocument/2006/math">
                    <m:sSup>
                      <m:sSupPr>
                        <m:ctrlPr>
                          <a:rPr lang="en-US" sz="1700" b="0" i="1" smtClean="0">
                            <a:solidFill>
                              <a:srgbClr val="232323"/>
                            </a:solidFill>
                            <a:latin typeface="Cambria Math" panose="02040503050406030204" pitchFamily="18" charset="0"/>
                          </a:rPr>
                        </m:ctrlPr>
                      </m:sSupPr>
                      <m:e>
                        <m:r>
                          <a:rPr lang="en-US" sz="1700" b="0" i="1" smtClean="0">
                            <a:solidFill>
                              <a:srgbClr val="232323"/>
                            </a:solidFill>
                            <a:latin typeface="Cambria Math" panose="02040503050406030204" pitchFamily="18" charset="0"/>
                          </a:rPr>
                          <m:t>𝑑</m:t>
                        </m:r>
                      </m:e>
                      <m:sup>
                        <m:r>
                          <a:rPr lang="en-US" sz="1700" b="0" i="1" smtClean="0">
                            <a:solidFill>
                              <a:srgbClr val="232323"/>
                            </a:solidFill>
                            <a:latin typeface="Cambria Math" panose="02040503050406030204" pitchFamily="18" charset="0"/>
                          </a:rPr>
                          <m:t>∗</m:t>
                        </m:r>
                      </m:sup>
                    </m:sSup>
                  </m:oMath>
                </a14:m>
                <a:r>
                  <a:rPr lang="vi-VN" sz="1700" b="0" i="0" dirty="0">
                    <a:solidFill>
                      <a:srgbClr val="232323"/>
                    </a:solidFill>
                    <a:latin typeface="Arial"/>
                  </a:rPr>
                  <a:t>)</a:t>
                </a:r>
              </a:p>
              <a:p>
                <a:pPr marL="0" indent="0" algn="just">
                  <a:spcAft>
                    <a:spcPts val="1000"/>
                  </a:spcAft>
                </a:pPr>
                <a:r>
                  <a:rPr lang="vi-VN" sz="1700" b="1" i="0" dirty="0">
                    <a:solidFill>
                      <a:srgbClr val="232323"/>
                    </a:solidFill>
                    <a:latin typeface="Arial"/>
                  </a:rPr>
                  <a:t>•  Việc tối ưu hóa từng chính sách riêng lẻ theo thứ tự (sequential optimisation) sẽ không nhất quán trong trường hợp này, vì quy tắc giải phóng dự trữ và quy mô dự trữ có tính chất bổ trợ chiến lược cho nhau.</a:t>
                </a:r>
              </a:p>
              <a:p>
                <a:pPr algn="just">
                  <a:spcAft>
                    <a:spcPts val="1000"/>
                  </a:spcAft>
                </a:pPr>
                <a:r>
                  <a:rPr lang="vi-VN" sz="1700" b="0" i="0" dirty="0">
                    <a:solidFill>
                      <a:srgbClr val="232323"/>
                    </a:solidFill>
                    <a:latin typeface="Arial"/>
                  </a:rPr>
                  <a:t>•  Hàm mục tiêu: Tối ưu hóa </a:t>
                </a:r>
                <a14:m>
                  <m:oMath xmlns:m="http://schemas.openxmlformats.org/officeDocument/2006/math">
                    <m:r>
                      <a:rPr lang="en-US" sz="1700" b="1" i="1" smtClean="0">
                        <a:solidFill>
                          <a:srgbClr val="232323"/>
                        </a:solidFill>
                        <a:latin typeface="Cambria Math" panose="02040503050406030204" pitchFamily="18" charset="0"/>
                      </a:rPr>
                      <m:t>𝑬</m:t>
                    </m:r>
                    <m:r>
                      <a:rPr lang="en-US" sz="1700" b="1" i="1" smtClean="0">
                        <a:solidFill>
                          <a:srgbClr val="232323"/>
                        </a:solidFill>
                        <a:latin typeface="Cambria Math" panose="02040503050406030204" pitchFamily="18" charset="0"/>
                      </a:rPr>
                      <m:t>[</m:t>
                    </m:r>
                    <m:r>
                      <a:rPr lang="en-US" sz="1700" b="1" i="1" smtClean="0">
                        <a:solidFill>
                          <a:srgbClr val="232323"/>
                        </a:solidFill>
                        <a:latin typeface="Cambria Math" panose="02040503050406030204" pitchFamily="18" charset="0"/>
                      </a:rPr>
                      <m:t>𝑾</m:t>
                    </m:r>
                  </m:oMath>
                </a14:m>
                <a:r>
                  <a:rPr lang="vi-VN" sz="1700" b="1" i="0" dirty="0">
                    <a:solidFill>
                      <a:srgbClr val="232323"/>
                    </a:solidFill>
                    <a:latin typeface="Arial"/>
                  </a:rPr>
                  <a:t>(</a:t>
                </a:r>
                <a14:m>
                  <m:oMath xmlns:m="http://schemas.openxmlformats.org/officeDocument/2006/math">
                    <m:sSub>
                      <m:sSubPr>
                        <m:ctrlPr>
                          <a:rPr lang="en-US" sz="1700" b="1" i="1">
                            <a:solidFill>
                              <a:srgbClr val="232323"/>
                            </a:solidFill>
                            <a:latin typeface="Cambria Math" panose="02040503050406030204" pitchFamily="18" charset="0"/>
                          </a:rPr>
                        </m:ctrlPr>
                      </m:sSubPr>
                      <m:e>
                        <m:r>
                          <a:rPr lang="en-US" sz="1700" b="1" i="1">
                            <a:solidFill>
                              <a:srgbClr val="232323"/>
                            </a:solidFill>
                            <a:latin typeface="Cambria Math" panose="02040503050406030204" pitchFamily="18" charset="0"/>
                          </a:rPr>
                          <m:t>𝝓</m:t>
                        </m:r>
                      </m:e>
                      <m:sub>
                        <m:r>
                          <a:rPr lang="en-US" sz="1700" b="1" i="1" smtClean="0">
                            <a:solidFill>
                              <a:srgbClr val="232323"/>
                            </a:solidFill>
                            <a:latin typeface="Cambria Math" panose="02040503050406030204" pitchFamily="18" charset="0"/>
                          </a:rPr>
                          <m:t>𝑹</m:t>
                        </m:r>
                      </m:sub>
                    </m:sSub>
                  </m:oMath>
                </a14:m>
                <a:r>
                  <a:rPr lang="vi-VN" sz="1700" b="1" dirty="0">
                    <a:solidFill>
                      <a:srgbClr val="232323"/>
                    </a:solidFill>
                  </a:rPr>
                  <a:t>, </a:t>
                </a:r>
                <a14:m>
                  <m:oMath xmlns:m="http://schemas.openxmlformats.org/officeDocument/2006/math">
                    <m:sSub>
                      <m:sSubPr>
                        <m:ctrlPr>
                          <a:rPr lang="en-US" sz="1700" b="1" i="1">
                            <a:solidFill>
                              <a:srgbClr val="232323"/>
                            </a:solidFill>
                            <a:latin typeface="Cambria Math" panose="02040503050406030204" pitchFamily="18" charset="0"/>
                          </a:rPr>
                        </m:ctrlPr>
                      </m:sSubPr>
                      <m:e>
                        <m:r>
                          <a:rPr lang="en-US" sz="1700" b="1" i="1">
                            <a:solidFill>
                              <a:srgbClr val="232323"/>
                            </a:solidFill>
                            <a:latin typeface="Cambria Math" panose="02040503050406030204" pitchFamily="18" charset="0"/>
                          </a:rPr>
                          <m:t>𝝓</m:t>
                        </m:r>
                      </m:e>
                      <m:sub>
                        <m:r>
                          <a:rPr lang="en-US" sz="1700" b="1" i="1">
                            <a:solidFill>
                              <a:srgbClr val="232323"/>
                            </a:solidFill>
                            <a:latin typeface="Cambria Math" panose="02040503050406030204" pitchFamily="18" charset="0"/>
                          </a:rPr>
                          <m:t>𝑰𝑸</m:t>
                        </m:r>
                      </m:sub>
                    </m:sSub>
                  </m:oMath>
                </a14:m>
                <a:r>
                  <a:rPr lang="vi-VN" sz="1700" b="1" dirty="0">
                    <a:solidFill>
                      <a:srgbClr val="232323"/>
                    </a:solidFill>
                  </a:rPr>
                  <a:t>,</a:t>
                </a:r>
                <a14:m>
                  <m:oMath xmlns:m="http://schemas.openxmlformats.org/officeDocument/2006/math">
                    <m:r>
                      <a:rPr lang="en-US" sz="1700" b="1" i="0" smtClean="0">
                        <a:solidFill>
                          <a:srgbClr val="232323"/>
                        </a:solidFill>
                        <a:latin typeface="Cambria Math" panose="02040503050406030204" pitchFamily="18" charset="0"/>
                      </a:rPr>
                      <m:t>𝐝</m:t>
                    </m:r>
                    <m:r>
                      <a:rPr lang="en-US" sz="1700" b="1" i="1" smtClean="0">
                        <a:solidFill>
                          <a:srgbClr val="232323"/>
                        </a:solidFill>
                        <a:latin typeface="Cambria Math" panose="02040503050406030204" pitchFamily="18" charset="0"/>
                      </a:rPr>
                      <m:t>)</m:t>
                    </m:r>
                  </m:oMath>
                </a14:m>
                <a:r>
                  <a:rPr lang="vi-VN" sz="1700" b="1" i="0" dirty="0">
                    <a:solidFill>
                      <a:srgbClr val="232323"/>
                    </a:solidFill>
                    <a:latin typeface="Arial"/>
                  </a:rPr>
                  <a:t>] </a:t>
                </a:r>
                <a:r>
                  <a:rPr lang="vi-VN" sz="1700" b="0" i="0" dirty="0">
                    <a:solidFill>
                      <a:srgbClr val="232323"/>
                    </a:solidFill>
                    <a:latin typeface="Arial"/>
                  </a:rPr>
                  <a:t>— trong đó chi phí lưu trữ/dự trữ đã được khấu trừ trực tiếp bên trong phương trình ràng buộc nguồn lực.</a:t>
                </a:r>
              </a:p>
              <a:p>
                <a:pPr marL="0" indent="0" algn="just">
                  <a:spcAft>
                    <a:spcPts val="1000"/>
                  </a:spcAft>
                </a:pPr>
                <a:r>
                  <a:rPr lang="vi-VN" sz="1700" b="0" i="0" dirty="0">
                    <a:solidFill>
                      <a:srgbClr val="232323"/>
                    </a:solidFill>
                    <a:latin typeface="Arial"/>
                  </a:rPr>
                  <a:t>•  Mô hình sẽ tự động ghi lại các tham số chính sách và mức dự trữ tối ưu thu được vào biến cấu trúc M_.params</a:t>
                </a:r>
              </a:p>
            </p:txBody>
          </p:sp>
        </mc:Choice>
        <mc:Fallback xmlns="">
          <p:sp>
            <p:nvSpPr>
              <p:cNvPr id="9" name="TextBox 8"/>
              <p:cNvSpPr txBox="1">
                <a:spLocks noRot="1" noChangeAspect="1" noMove="1" noResize="1" noEditPoints="1" noAdjustHandles="1" noChangeArrowheads="1" noChangeShapeType="1" noTextEdit="1"/>
              </p:cNvSpPr>
              <p:nvPr/>
            </p:nvSpPr>
            <p:spPr>
              <a:xfrm>
                <a:off x="502920" y="1554480"/>
                <a:ext cx="11185855" cy="2496902"/>
              </a:xfrm>
              <a:prstGeom prst="rect">
                <a:avLst/>
              </a:prstGeom>
              <a:blipFill>
                <a:blip r:embed="rId3"/>
                <a:stretch>
                  <a:fillRect l="-382" t="-732" r="-382" b="-2439"/>
                </a:stretch>
              </a:blipFill>
            </p:spPr>
            <p:txBody>
              <a:bodyPr/>
              <a:lstStyle/>
              <a:p>
                <a:r>
                  <a:rPr 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5 · 50 PHÚT</a:t>
            </a:r>
          </a:p>
          <a:p>
            <a:r>
              <a:rPr lang="vi-VN" sz="2400" b="1" i="0">
                <a:solidFill>
                  <a:srgbClr val="FFFFFF"/>
                </a:solidFill>
                <a:latin typeface="Arial"/>
              </a:rPr>
              <a:t>Bài học rút ra từ Mô hình thu gọn</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16</a:t>
            </a:r>
          </a:p>
        </p:txBody>
      </p:sp>
      <p:sp>
        <p:nvSpPr>
          <p:cNvPr id="9" name="TextBox 8"/>
          <p:cNvSpPr txBox="1"/>
          <p:nvPr/>
        </p:nvSpPr>
        <p:spPr>
          <a:xfrm>
            <a:off x="502920" y="1554480"/>
            <a:ext cx="11185855" cy="4892040"/>
          </a:xfrm>
          <a:prstGeom prst="rect">
            <a:avLst/>
          </a:prstGeom>
          <a:noFill/>
        </p:spPr>
        <p:txBody>
          <a:bodyPr wrap="square">
            <a:spAutoFit/>
          </a:bodyPr>
          <a:lstStyle/>
          <a:p>
            <a:pPr marL="0" indent="0">
              <a:spcAft>
                <a:spcPts val="1000"/>
              </a:spcAft>
            </a:pPr>
            <a:r>
              <a:rPr lang="vi-VN" sz="1700" b="0" i="0">
                <a:solidFill>
                  <a:srgbClr val="232323"/>
                </a:solidFill>
                <a:latin typeface="Arial"/>
              </a:rPr>
              <a:t>•  Quy tắc ứng phó bằng dự trữ, chính sách đầu tư và quy mô dự trữ cần được lựa chọn đồng thời.</a:t>
            </a:r>
          </a:p>
          <a:p>
            <a:pPr marL="0" indent="0">
              <a:spcAft>
                <a:spcPts val="1000"/>
              </a:spcAft>
            </a:pPr>
            <a:r>
              <a:rPr lang="vi-VN" sz="1700" b="0" i="0">
                <a:solidFill>
                  <a:srgbClr val="232323"/>
                </a:solidFill>
                <a:latin typeface="Arial"/>
              </a:rPr>
              <a:t>•  Các quy tắc giải phóng dự trữ phát huy tác dụng rõ rệt nhất khi khủng hoảng diễn ra ngắn hạn và nghiêm trọng.</a:t>
            </a:r>
          </a:p>
          <a:p>
            <a:pPr marL="0" indent="0">
              <a:spcAft>
                <a:spcPts val="1000"/>
              </a:spcAft>
            </a:pPr>
            <a:r>
              <a:rPr lang="vi-VN" sz="1700" b="0" i="0">
                <a:solidFill>
                  <a:srgbClr val="232323"/>
                </a:solidFill>
                <a:latin typeface="Arial"/>
              </a:rPr>
              <a:t>•  Tăng trưởng kinh tế có thể làm suy giảm nhanh chóng mức độ bảo đảm dự trữ, trừ khi quy mô kho dự trữ được mở rộng tương ứng với quy mô nền kinh tế.</a:t>
            </a:r>
          </a:p>
          <a:p>
            <a:pPr marL="0" indent="0">
              <a:spcAft>
                <a:spcPts val="1000"/>
              </a:spcAft>
            </a:pPr>
            <a:r>
              <a:rPr lang="vi-VN" sz="1700" b="0" i="0">
                <a:solidFill>
                  <a:srgbClr val="232323"/>
                </a:solidFill>
                <a:latin typeface="Arial"/>
              </a:rPr>
              <a:t>•  Chính sách chuyển dịch năng lượng cần kết hợp cả đầu tư mở rộng công suất lẫn duy trì nguồn dự trữ đệm để tối thiểu hóa tổn thất GDP.</a:t>
            </a:r>
          </a:p>
          <a:p>
            <a:pPr marL="0" indent="0">
              <a:spcAft>
                <a:spcPts val="1000"/>
              </a:spcAft>
            </a:pPr>
            <a:r>
              <a:rPr lang="vi-VN" sz="1700" b="1" i="0">
                <a:solidFill>
                  <a:srgbClr val="232323"/>
                </a:solidFill>
                <a:latin typeface="Arial"/>
              </a:rPr>
              <a:t>•  Mặc dù đây chỉ là một mô hình thu gọn mang tính minh họa, nó cung cấp tư duy luận giải đúng đắn khi xem xét các đánh đổi chính sách.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5 · 25 PHÚT</a:t>
            </a:r>
          </a:p>
          <a:p>
            <a:r>
              <a:rPr lang="vi-VN" sz="2400" b="1" i="0">
                <a:solidFill>
                  <a:srgbClr val="FFFFFF"/>
                </a:solidFill>
                <a:latin typeface="Arial"/>
              </a:rPr>
              <a:t>Tổng kết và giới thiệu buổi học tiếp theo</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2 — Thứ 5, ngày 23/7/2026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17</a:t>
            </a:r>
          </a:p>
        </p:txBody>
      </p:sp>
      <mc:AlternateContent xmlns:mc="http://schemas.openxmlformats.org/markup-compatibility/2006" xmlns:a14="http://schemas.microsoft.com/office/drawing/2010/main">
        <mc:Choice Requires="a14">
          <p:sp>
            <p:nvSpPr>
              <p:cNvPr id="9" name="TextBox 8"/>
              <p:cNvSpPr txBox="1"/>
              <p:nvPr/>
            </p:nvSpPr>
            <p:spPr>
              <a:xfrm>
                <a:off x="502920" y="1554480"/>
                <a:ext cx="10669905" cy="1675330"/>
              </a:xfrm>
              <a:prstGeom prst="rect">
                <a:avLst/>
              </a:prstGeom>
              <a:noFill/>
            </p:spPr>
            <p:txBody>
              <a:bodyPr wrap="square">
                <a:spAutoFit/>
              </a:bodyPr>
              <a:lstStyle/>
              <a:p>
                <a:pPr algn="just">
                  <a:spcAft>
                    <a:spcPts val="1000"/>
                  </a:spcAft>
                </a:pPr>
                <a:r>
                  <a:rPr lang="vi-VN" sz="1700" b="0" i="0" dirty="0">
                    <a:solidFill>
                      <a:srgbClr val="232323"/>
                    </a:solidFill>
                    <a:latin typeface="Arial"/>
                  </a:rPr>
                  <a:t>•  Kết quả thu được: </a:t>
                </a:r>
                <a:r>
                  <a:rPr lang="en-US" sz="1700" dirty="0">
                    <a:solidFill>
                      <a:srgbClr val="232323"/>
                    </a:solidFill>
                    <a:latin typeface="Arial"/>
                  </a:rPr>
                  <a:t>Anh/</a:t>
                </a:r>
                <a:r>
                  <a:rPr lang="en-US" sz="1700" dirty="0" err="1">
                    <a:solidFill>
                      <a:srgbClr val="232323"/>
                    </a:solidFill>
                    <a:latin typeface="Arial"/>
                  </a:rPr>
                  <a:t>Chị</a:t>
                </a:r>
                <a:r>
                  <a:rPr lang="vi-VN" sz="1700" b="0" i="0" dirty="0">
                    <a:solidFill>
                      <a:srgbClr val="232323"/>
                    </a:solidFill>
                    <a:latin typeface="Arial"/>
                  </a:rPr>
                  <a:t> đã hiểu rõ hơn về cơ chế tương tác qua lại giữa </a:t>
                </a:r>
                <a14:m>
                  <m:oMath xmlns:m="http://schemas.openxmlformats.org/officeDocument/2006/math">
                    <m:sSub>
                      <m:sSubPr>
                        <m:ctrlPr>
                          <a:rPr lang="ar-AE" sz="1700" i="1">
                            <a:solidFill>
                              <a:srgbClr val="232323"/>
                            </a:solidFill>
                            <a:latin typeface="Cambria Math" panose="02040503050406030204" pitchFamily="18" charset="0"/>
                          </a:rPr>
                        </m:ctrlPr>
                      </m:sSubPr>
                      <m:e>
                        <m:r>
                          <a:rPr lang="ar-AE" sz="1700" i="1">
                            <a:solidFill>
                              <a:srgbClr val="232323"/>
                            </a:solidFill>
                            <a:latin typeface="Cambria Math" panose="02040503050406030204" pitchFamily="18" charset="0"/>
                          </a:rPr>
                          <m:t>𝜙</m:t>
                        </m:r>
                      </m:e>
                      <m:sub>
                        <m:r>
                          <a:rPr lang="ar-AE" sz="1700" b="0" i="1" smtClean="0">
                            <a:solidFill>
                              <a:srgbClr val="232323"/>
                            </a:solidFill>
                            <a:latin typeface="Cambria Math" panose="02040503050406030204" pitchFamily="18" charset="0"/>
                          </a:rPr>
                          <m:t>𝑅</m:t>
                        </m:r>
                      </m:sub>
                    </m:sSub>
                    <m:r>
                      <a:rPr lang="ar-AE" sz="1700" i="1">
                        <a:solidFill>
                          <a:srgbClr val="232323"/>
                        </a:solidFill>
                        <a:latin typeface="Cambria Math" panose="02040503050406030204" pitchFamily="18" charset="0"/>
                      </a:rPr>
                      <m:t> </m:t>
                    </m:r>
                  </m:oMath>
                </a14:m>
                <a:r>
                  <a:rPr lang="vi-VN" sz="1700" b="0" i="0" dirty="0">
                    <a:solidFill>
                      <a:srgbClr val="232323"/>
                    </a:solidFill>
                    <a:latin typeface="Arial"/>
                  </a:rPr>
                  <a:t>, </a:t>
                </a:r>
                <a14:m>
                  <m:oMath xmlns:m="http://schemas.openxmlformats.org/officeDocument/2006/math">
                    <m:sSub>
                      <m:sSubPr>
                        <m:ctrlPr>
                          <a:rPr lang="en-US" sz="1700" i="1">
                            <a:solidFill>
                              <a:srgbClr val="232323"/>
                            </a:solidFill>
                            <a:latin typeface="Cambria Math" panose="02040503050406030204" pitchFamily="18" charset="0"/>
                          </a:rPr>
                        </m:ctrlPr>
                      </m:sSubPr>
                      <m:e>
                        <m:r>
                          <a:rPr lang="en-US" sz="1700" i="1">
                            <a:solidFill>
                              <a:srgbClr val="232323"/>
                            </a:solidFill>
                            <a:latin typeface="Cambria Math" panose="02040503050406030204" pitchFamily="18" charset="0"/>
                          </a:rPr>
                          <m:t>𝜙</m:t>
                        </m:r>
                      </m:e>
                      <m:sub>
                        <m:r>
                          <a:rPr lang="en-US" sz="1700" i="1">
                            <a:solidFill>
                              <a:srgbClr val="232323"/>
                            </a:solidFill>
                            <a:latin typeface="Cambria Math" panose="02040503050406030204" pitchFamily="18" charset="0"/>
                          </a:rPr>
                          <m:t>𝐼𝑄</m:t>
                        </m:r>
                      </m:sub>
                    </m:sSub>
                    <m:r>
                      <a:rPr lang="en-US" sz="1700" i="1">
                        <a:solidFill>
                          <a:srgbClr val="232323"/>
                        </a:solidFill>
                        <a:latin typeface="Cambria Math" panose="02040503050406030204" pitchFamily="18" charset="0"/>
                      </a:rPr>
                      <m:t> </m:t>
                    </m:r>
                  </m:oMath>
                </a14:m>
                <a:r>
                  <a:rPr lang="vi-VN" sz="1700" b="0" i="0" dirty="0">
                    <a:solidFill>
                      <a:srgbClr val="232323"/>
                    </a:solidFill>
                    <a:latin typeface="Arial"/>
                  </a:rPr>
                  <a:t> và </a:t>
                </a:r>
                <a14:m>
                  <m:oMath xmlns:m="http://schemas.openxmlformats.org/officeDocument/2006/math">
                    <m:r>
                      <m:rPr>
                        <m:sty m:val="p"/>
                      </m:rPr>
                      <a:rPr lang="en-US" sz="1700" b="0" i="0" smtClean="0">
                        <a:solidFill>
                          <a:srgbClr val="232323"/>
                        </a:solidFill>
                        <a:latin typeface="Cambria Math" panose="02040503050406030204" pitchFamily="18" charset="0"/>
                      </a:rPr>
                      <m:t>d</m:t>
                    </m:r>
                  </m:oMath>
                </a14:m>
                <a:r>
                  <a:rPr lang="en-US" sz="1700" b="0" i="0" dirty="0">
                    <a:solidFill>
                      <a:srgbClr val="232323"/>
                    </a:solidFill>
                    <a:latin typeface="Arial"/>
                  </a:rPr>
                  <a:t>.</a:t>
                </a:r>
                <a:endParaRPr lang="vi-VN" sz="1700" b="0" i="0" dirty="0">
                  <a:solidFill>
                    <a:srgbClr val="232323"/>
                  </a:solidFill>
                  <a:latin typeface="Arial"/>
                </a:endParaRPr>
              </a:p>
              <a:p>
                <a:pPr marL="0" indent="0" algn="just">
                  <a:spcAft>
                    <a:spcPts val="1000"/>
                  </a:spcAft>
                </a:pPr>
                <a:r>
                  <a:rPr lang="vi-VN" sz="1700" b="0" i="0" dirty="0">
                    <a:solidFill>
                      <a:srgbClr val="232323"/>
                    </a:solidFill>
                    <a:latin typeface="Arial"/>
                  </a:rPr>
                  <a:t>•  </a:t>
                </a:r>
                <a:r>
                  <a:rPr lang="vi-VN" sz="1700" b="1" i="0" dirty="0">
                    <a:solidFill>
                      <a:srgbClr val="232323"/>
                    </a:solidFill>
                    <a:latin typeface="Arial"/>
                  </a:rPr>
                  <a:t>Lưu ý</a:t>
                </a:r>
                <a:r>
                  <a:rPr lang="en-US" sz="1700" b="1" i="0" dirty="0">
                    <a:solidFill>
                      <a:srgbClr val="232323"/>
                    </a:solidFill>
                    <a:latin typeface="Arial"/>
                  </a:rPr>
                  <a:t> </a:t>
                </a:r>
                <a:r>
                  <a:rPr lang="en-US" sz="1700" b="1" i="0" dirty="0" err="1">
                    <a:solidFill>
                      <a:srgbClr val="232323"/>
                    </a:solidFill>
                    <a:latin typeface="Arial"/>
                  </a:rPr>
                  <a:t>quan</a:t>
                </a:r>
                <a:r>
                  <a:rPr lang="en-US" sz="1700" b="1" i="0" dirty="0">
                    <a:solidFill>
                      <a:srgbClr val="232323"/>
                    </a:solidFill>
                    <a:latin typeface="Arial"/>
                  </a:rPr>
                  <a:t> </a:t>
                </a:r>
                <a:r>
                  <a:rPr lang="en-US" sz="1700" b="1" i="0" dirty="0" err="1">
                    <a:solidFill>
                      <a:srgbClr val="232323"/>
                    </a:solidFill>
                    <a:latin typeface="Arial"/>
                  </a:rPr>
                  <a:t>trọng</a:t>
                </a:r>
                <a:r>
                  <a:rPr lang="vi-VN" sz="1700" b="1" i="0" dirty="0">
                    <a:solidFill>
                      <a:srgbClr val="232323"/>
                    </a:solidFill>
                    <a:latin typeface="Arial"/>
                  </a:rPr>
                  <a:t>: </a:t>
                </a:r>
                <a:r>
                  <a:rPr lang="vi-VN" sz="1700" b="0" i="0" dirty="0">
                    <a:solidFill>
                      <a:srgbClr val="232323"/>
                    </a:solidFill>
                    <a:latin typeface="Arial"/>
                  </a:rPr>
                  <a:t>Toàn bộ kết quả này xuất phát từ quá trình hiệu chỉnh của mô hình thu gọn, không phải từ mô hình DGE-METRIC chính thức.</a:t>
                </a:r>
              </a:p>
              <a:p>
                <a:pPr marL="0" indent="0" algn="just">
                  <a:spcAft>
                    <a:spcPts val="1000"/>
                  </a:spcAft>
                </a:pPr>
                <a:r>
                  <a:rPr lang="vi-VN" sz="1700" b="0" i="0" dirty="0">
                    <a:solidFill>
                      <a:srgbClr val="232323"/>
                    </a:solidFill>
                    <a:latin typeface="Arial"/>
                  </a:rPr>
                  <a:t>•  Giới thiệu buổi thực hành có hướng dẫn sáng mai: Tính toán mức tổn thất GDP cho các kịch bản thiếu hụt năng lượng bằng cách sử dụng dữ liệu đầu ra từ mô hình DGE-METRIC.</a:t>
                </a:r>
              </a:p>
            </p:txBody>
          </p:sp>
        </mc:Choice>
        <mc:Fallback xmlns="">
          <p:sp>
            <p:nvSpPr>
              <p:cNvPr id="9" name="TextBox 8"/>
              <p:cNvSpPr txBox="1">
                <a:spLocks noRot="1" noChangeAspect="1" noMove="1" noResize="1" noEditPoints="1" noAdjustHandles="1" noChangeArrowheads="1" noChangeShapeType="1" noTextEdit="1"/>
              </p:cNvSpPr>
              <p:nvPr/>
            </p:nvSpPr>
            <p:spPr>
              <a:xfrm>
                <a:off x="502920" y="1554480"/>
                <a:ext cx="10669905" cy="1675330"/>
              </a:xfrm>
              <a:prstGeom prst="rect">
                <a:avLst/>
              </a:prstGeom>
              <a:blipFill>
                <a:blip r:embed="rId3"/>
                <a:stretch>
                  <a:fillRect l="-400" t="-1091" r="-343" b="-4000"/>
                </a:stretch>
              </a:blipFill>
            </p:spPr>
            <p:txBody>
              <a:bodyPr/>
              <a:lstStyle/>
              <a:p>
                <a:r>
                  <a:rPr lang="en-US">
                    <a:noFill/>
                  </a:rPr>
                  <a:t> </a:t>
                </a:r>
              </a:p>
            </p:txBody>
          </p:sp>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1f43c89-4e08-475e-90dc-8d81c2a76942">
      <Terms xmlns="http://schemas.microsoft.com/office/infopath/2007/PartnerControls"/>
    </lcf76f155ced4ddcb4097134ff3c332f>
    <TaxCatchAll xmlns="388d0403-69f5-4686-a95b-cac9ff01ae6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700E73D352567448BBEE4D014CD02A8" ma:contentTypeVersion="12" ma:contentTypeDescription="Create a new document." ma:contentTypeScope="" ma:versionID="403e437f1347c5afed4908d2a8515fe8">
  <xsd:schema xmlns:xsd="http://www.w3.org/2001/XMLSchema" xmlns:xs="http://www.w3.org/2001/XMLSchema" xmlns:p="http://schemas.microsoft.com/office/2006/metadata/properties" xmlns:ns2="f1f43c89-4e08-475e-90dc-8d81c2a76942" xmlns:ns3="388d0403-69f5-4686-a95b-cac9ff01ae61" targetNamespace="http://schemas.microsoft.com/office/2006/metadata/properties" ma:root="true" ma:fieldsID="42eb5f7a503c3612ee98993fcd9dc6cb" ns2:_="" ns3:_="">
    <xsd:import namespace="f1f43c89-4e08-475e-90dc-8d81c2a76942"/>
    <xsd:import namespace="388d0403-69f5-4686-a95b-cac9ff01ae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f43c89-4e08-475e-90dc-8d81c2a769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aed264e-563a-469a-8ebe-271e849ec10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88d0403-69f5-4686-a95b-cac9ff01ae6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a7f6972-f309-49f4-8d2e-1c432e90d65b}" ma:internalName="TaxCatchAll" ma:showField="CatchAllData" ma:web="388d0403-69f5-4686-a95b-cac9ff01ae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2B45EDA-AD10-4A74-8AB3-6F44F1574B8B}">
  <ds:schemaRefs>
    <ds:schemaRef ds:uri="http://schemas.microsoft.com/office/2006/metadata/properties"/>
    <ds:schemaRef ds:uri="http://schemas.microsoft.com/office/infopath/2007/PartnerControls"/>
    <ds:schemaRef ds:uri="f1f43c89-4e08-475e-90dc-8d81c2a76942"/>
    <ds:schemaRef ds:uri="388d0403-69f5-4686-a95b-cac9ff01ae61"/>
    <ds:schemaRef ds:uri="04ac4ecf-9708-45f7-9d64-eaef3bff4f59"/>
    <ds:schemaRef ds:uri="47d30a7d-b41a-4785-a964-e05815a9f29f"/>
  </ds:schemaRefs>
</ds:datastoreItem>
</file>

<file path=customXml/itemProps2.xml><?xml version="1.0" encoding="utf-8"?>
<ds:datastoreItem xmlns:ds="http://schemas.openxmlformats.org/officeDocument/2006/customXml" ds:itemID="{36A2032B-96F0-4C32-A3D8-07C3E0336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f43c89-4e08-475e-90dc-8d81c2a76942"/>
    <ds:schemaRef ds:uri="388d0403-69f5-4686-a95b-cac9ff01ae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90C50D9-D537-48FC-8DF1-76E33888606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TotalTime>
  <Words>3621</Words>
  <Application>Microsoft Office PowerPoint</Application>
  <PresentationFormat>Widescreen</PresentationFormat>
  <Paragraphs>198</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Nguyễn Hoàng Lan</cp:lastModifiedBy>
  <cp:revision>13</cp:revision>
  <dcterms:created xsi:type="dcterms:W3CDTF">2013-01-27T09:14:16Z</dcterms:created>
  <dcterms:modified xsi:type="dcterms:W3CDTF">2026-07-21T13:58:40Z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0x0101009700E73D352567448BBEE4D014CD02A8</vt:lpwstr>
  </property>
  <property fmtid="{D5CDD505-2E9C-101B-9397-08002B2CF9AE}" pid="3" name="MediaServiceImageTags">
    <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ies>
</file>