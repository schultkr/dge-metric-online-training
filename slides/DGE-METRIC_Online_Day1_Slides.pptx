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5408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 i="0">
                <a:solidFill>
                  <a:srgbClr val="232323"/>
                </a:solidFill>
                <a:latin typeface="Calibri"/>
              </a:rPr>
              <a:t>DGE-METRIC Online Training</a:t>
            </a:r>
          </a:p>
          <a:p>
            <a:r>
              <a:rPr sz="2200" b="0" i="0">
                <a:solidFill>
                  <a:srgbClr val="CC071E"/>
                </a:solidFill>
                <a:latin typeface="Calibri"/>
              </a:rPr>
              <a:t>Online Day 1 — Finance &amp; Energy-Efficiency Scenarios: Detailed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81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Wednesday 22 July 2026 · Afternoon · 180 minutes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GIZ Vietnam | DGE-METRIC Program | Online Module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Continues numbering from the on-site training — this is Training Day 3, delivered online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Today's Agenda — 8 Blocks, 180 Minutes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0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Setup check-in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Confirm VS Code, GitHub, and an AI coding assistant are installed/enabled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Welcome &amp; where things live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Recap on-site outcomes; point to where financing and efficiency assumptions live in the repository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Why financing design matters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Three reasons financing design is a first-order determinant of transition speed and cost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The finance matrix, in full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Three financing structures across PDP8 and Net Zero, mechanism by mechanism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Draft finance-scenario metadata sheet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Groups document their assigned scenario in 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The energy-efficiency scenario, in full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Narrative, core channels, 2030 savings potential, investment need, rebound effect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Draft efficiency-scenario metadata sheet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Groups document the efficiency scenario using the same rigor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8. Wrap and preview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Confirm both metadata sheets recorded; preview tomorrow's hands-on run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10 MIN · [INTERACTIVE]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Setup Check-In — VS Code, GitHub, AI Coding Assistant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Quick poll — show of hands for each: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VS Code installed and opens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GitHub account exists (GitHub Desktop installed too, if you got to it)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An AI coding assistant is enabled in VS Code — Claude Code, GitHub Copilot, or another LLM coding assistant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Not ready yet? Pair with a neighbor who is, grab the quick-install links, and flag the facilitator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We fix gaps in the first break, not live in front of the group — full Git/GitHub Desktop/VS Code instruction is still tomorrow morning, from scratch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HANDOUT / REFERENCE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Setup Quick Reference (Full Steps: setup-guide.md)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VS Code: download from code.visualstudio.com, open once to confirm it launches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GitHub: create a free account at github.com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AI coding assistant — pick one: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GitHub Copilot: Extensions view (Ctrl/Cmd+Shift+X) → search "GitHub Copilot" → install → sign in with GitHub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Claude Code: install Node.js, then run npm install -g @anthropic-ai/claude-code, then run claude in VS Code's terminal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Or another LLM coding assistant you're already comfortable with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MATLAB: should already be installed from on-site training — open it directly and confirm it runs a command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Optional: add the "MATLAB" extension (by MathWorks) in VS Code for .m file syntax highlighting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This course continues directly from your on-site training (Training Days 1–2, and Day 3 if already completed)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Today and tomorrow go deep on two scenario families: finance and energy efficiency — fully defined today, run and interpreted tomorrow morning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Where the assumptions live: docs/financing_pathway.md, docs/energy_efficiency_pathway.md, ExcelFiles/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Full codebase navigation and Git/GitHub Desktop are taught tomorrow morning, right before you need them hands-on — not repeated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Why Financing Design Matters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Affordability of public investment — lower borrowing rates reduce the debt-service burden of transition investment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Investment crowd-in — recycling emission-tax revenue into renewable capital can fund additional capacity without new borrowing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Policy credibility — transparent, pre-announced financing rules improve implementation certainty for investors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 dirty="0">
                <a:solidFill>
                  <a:srgbClr val="FFD2D2"/>
                </a:solidFill>
                <a:latin typeface="Calibri"/>
              </a:rPr>
              <a:t>BLOCK 4 · 35 MIN</a:t>
            </a:r>
          </a:p>
          <a:p>
            <a:r>
              <a:rPr sz="2400" b="1" i="0" dirty="0">
                <a:solidFill>
                  <a:srgbClr val="FFFFFF"/>
                </a:solidFill>
                <a:latin typeface="Calibri"/>
              </a:rPr>
              <a:t>The Finance Matrix: Three Structures x Two Pathways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686353"/>
              </p:ext>
            </p:extLst>
          </p:nvPr>
        </p:nvGraphicFramePr>
        <p:xfrm>
          <a:off x="502920" y="1554480"/>
          <a:ext cx="111858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19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Scenario ID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Pathway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r_G / r_FDI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K_G / K_FDI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232323"/>
                          </a:solidFill>
                          <a:latin typeface="Calibri"/>
                        </a:rPr>
                        <a:t>PDP8_GF_A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A Balanced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6.43% / 6.36%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19.0% / 14.0%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232323"/>
                          </a:solidFill>
                          <a:latin typeface="Calibri"/>
                        </a:rPr>
                        <a:t>NZ_GF_A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Net Zero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A Balanced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6.43% / 6.36%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19.0% / 14.0%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232323"/>
                          </a:solidFill>
                          <a:latin typeface="Calibri"/>
                        </a:rPr>
                        <a:t>PDP8_GF_B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B Market-led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7.37% / 6.90%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9.6% / 12.4%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232323"/>
                          </a:solidFill>
                          <a:latin typeface="Calibri"/>
                        </a:rPr>
                        <a:t>NZ_GF_B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Net Zero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B Market-led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7.37% / 6.90%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9.6% / 12.4%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232323"/>
                          </a:solidFill>
                          <a:latin typeface="Calibri"/>
                        </a:rPr>
                        <a:t>PDP8_GF_C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PDP8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C Public-led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5.07% / 6.00%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36.5% / 19.0%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232323"/>
                          </a:solidFill>
                          <a:latin typeface="Calibri"/>
                        </a:rPr>
                        <a:t>NZ_GF_C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Net Zero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C Public-led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5.07% / 6.00%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32323"/>
                          </a:solidFill>
                          <a:latin typeface="Calibri"/>
                        </a:rPr>
                        <a:t>36.5% / 19.0%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943600"/>
            <a:ext cx="11185855" cy="5669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Compare financing structures within the SAME emissions pathway only; the pathway itself is a separate source of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Finance-Scenario Metadata Sheet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Your group is assigned one financing structure (A, B, or C) and documents both pathway variants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Document in full: label, mechanism, exact file edits, exact variables changed, time path, start/end year, transition profile, expected effects, key output indicators, caveats, owner, date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Also state: which same-pathway structure to compare against, and which of r_G, r_FDI, K_G share, K_FDI share differ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Record your sheet in the finance scenario log before the break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the energy-efficiency scenario, in the same depth as the finance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6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EE And RTS Families, in Full Detail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Three named EE or RTS families are in scope: EE_PDP8, EE_Directive10, and EE_PDP8_PV_BESS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Core channels: 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exo_AI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 lowers energy intensity in industry and services; 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exo_PVEff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 and GA_3 capture rooftop PV and BESS-related channels where applicable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2030 savings potential: ≈7.4% manufacturing, ≈5.1% services/commercial, ≈11.6% households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Quantified investment need: ≈USD 361 million/year (≈0.076% of 2024 GDP)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Rebound effect: higher efficiency raises productivity and GDP, and the resulting extra activity partly offsets direct energy savings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Group 1's EE_PDP8 Full and 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NoBESS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 variants are numerically identical because the BESS channel is zero throughout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Energy-Efficiency Scenario Metadata Sheet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Same rigor as the finance sheet: mechanism, sector-specific assumptions (with source), affected sectors, time path, expected effects — including the rebound effect — key output indicators, caveats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Each group documents both BESS variants for its assigned family, not only one variant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Affected sectors: manufacturing, services/commercial, households</a:t>
            </a:r>
            <a:endParaRPr lang="en-US" sz="1700" b="0" i="0" dirty="0">
              <a:solidFill>
                <a:srgbClr val="232323"/>
              </a:solidFill>
              <a:latin typeface="Calibri"/>
            </a:endParaRP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Record your sheet in the energy-efficiency scenario log before the session 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WRAP-UP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Debrief &amp; Common Errors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for your finance scenario, which of r_G, r_FDI, K_G share, and K_FDI share differ vs. the structure you compare against?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what does the rebound effect do to the efficiency scenario's net savings?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Watch out for: confusing the calibrated baseline with PDP8_GF_B — Group B is still a financing structure, not the no-shock reference case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Watch out for: comparing across emissions pathways by mistake — same-pathway comparison only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Watch out for: leaving the rebound effect out of the efficiency scenario's expected-effects field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8 · 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Today's Output &amp; What's Next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1 — Wed 22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You leave today with: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A completed finance-scenario metadata sheet for your assigned scenario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A completed energy-efficiency scenario metadata sheet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Tomorrow morning: codebase navigation, Git/GitHub Desktop, baseline calibration, and running both scenarios hands-on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1511</Words>
  <Application>Microsoft Office PowerPoint</Application>
  <PresentationFormat>Widescreen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Schult, Christoph</cp:lastModifiedBy>
  <cp:revision>3</cp:revision>
  <dcterms:created xsi:type="dcterms:W3CDTF">2013-01-27T09:14:16Z</dcterms:created>
  <dcterms:modified xsi:type="dcterms:W3CDTF">2026-07-19T17:36:45Z</dcterms:modified>
  <cp:category/>
</cp:coreProperties>
</file>