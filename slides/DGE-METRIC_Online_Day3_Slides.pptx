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5408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 i="0">
                <a:solidFill>
                  <a:srgbClr val="232323"/>
                </a:solidFill>
                <a:latin typeface="Calibri"/>
              </a:rPr>
              <a:t>DGE-METRIC Online Training</a:t>
            </a:r>
          </a:p>
          <a:p>
            <a:r>
              <a:rPr sz="2200" b="0" i="0">
                <a:solidFill>
                  <a:srgbClr val="CC071E"/>
                </a:solidFill>
                <a:latin typeface="Calibri"/>
              </a:rPr>
              <a:t>Online Day 3 — Guided Open Lab, then Calibration Internals: Modification &amp; Sensitivity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709160"/>
            <a:ext cx="3840480" cy="381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Friday 24 July 2026 · Morning 9:00-11:30 + Afternoon 13:00-17:00 (ICT, UTC+7)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GIZ Vietnam | DGE-METRIC Program | Online Module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This is Training Day 5, delivered online — the final day of the 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3 — MORNING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Guided Open Lab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Computing GDP losses under shortage scenarios · 180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Morning's Agenda — 4 Blocks, 150 Minutes (+1 break)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5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Recap and discussion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Restate today's outputs; discuss the shortage scenarios and GDP-loss metrics each group will use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Guided open lab, part 1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Work the scenario definition and GDP-loss extraction for the chosen shortage cases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Guided open lab, part 2 — write it up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Finish your shortage-scenario analysis note: inputs, GDP-loss estimates, comparison, open items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Report-out and debrief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Fast report-out across groups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Before We Start: Restate the Scope Note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85855" cy="105156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900" b="1" i="1">
                <a:solidFill>
                  <a:srgbClr val="B26A00"/>
                </a:solidFill>
                <a:latin typeface="Calibri"/>
              </a:rPr>
              <a:t>Today's results should come from DGE-METRIC outputs or prepared stress-shock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Any toy-model number is only a mechanism check, not the final DGE-METRIC answer</a:t>
            </a:r>
          </a:p>
          <a:p>
            <a:pPr marL="0" indent="0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If asked for a single GDP-loss ranking across all shortages: restate that the answer depends on the scenario definition, metric, and time window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Toy Model Check — Transition Energy Losses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Open Day 2/Toy Model/Exercise3_ScenarioTemplate.mod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Activate Scenario 4 (offset case): dirty-energy loss is only partially offset by clean-energy gains, so total E falls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Compare Scenario 4 against Scenario 1 (balanced transition) for E, Y, and I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Write one-sentence mechanism check: E = E_D + E_C, so lower total E changes macro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60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Recap and Discussion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Yesterday afternoon: the implementation plan for one or two shortage scenarios and the DGE-METRIC outputs needed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Today's focus: compute GDP losses for each scenario and compare the results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Your group's scenario choices: fossil-input shortage, renewable-production shortfall, or another shortage case approved by the facilitator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Discuss open issues and questions before hands-on work starts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Today: no new theory — apply DGE-METRIC outputs or prepared settings to the scenarios you chose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Guided Open Lab — Compute GDP Losses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620" y="1554480"/>
            <a:ext cx="11185855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Define the shortage scenario: what is short, how large is the shock, and over what time window?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Identify the GDP-loss metric you will report: level change, cumulative loss, percentage loss, or another metric used by the model outputs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Use DGE-METRIC stress-shock settings or prepared outputs to compute the GDP loss for each scenario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If you have a Day 2 AM efficiency-scenario comparison: does it dampen or amplify the shortage shock's GDP loss?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Compare the scenarios: which one gives the largest GDP loss, and what mechanism explains the difference?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Sensitivity: what change in shock size, timing, or affected carrier would materially change the ranking?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write up the full analysis note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Write Up Your Shortage-Scenario Analysis Note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Combine: yesterday's scenario definition and DGE-METRIC outputs needed + today's GDP-loss estimates and comparison</a:t>
            </a:r>
          </a:p>
          <a:p>
            <a:pPr marL="0" indent="0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Every specific number must be labeled as a DGE-METRIC output or, if used, as an illustrative proxy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4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This Morning's Output &amp; Debrief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 leave with: one completed shortage-scenario analysis note per group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And one short DGE-METRIC application note with GDP-loss estimates for the shortage cases you compared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And one toy-model transition-loss implementation note (Scenario 4 vs Scenario 1 on E, Y, I)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which shortage scenario produced the largest GDP loss, and why?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what caveat matters most when comparing GDP-loss estimates across scenarios?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3 — AFTERNOON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Calibration Internals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Modification &amp; sensitivity analysis, + course close · 180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Afternoon's Agenda — 7 Blocks, 240 Minutes (+1 break)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0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Recap calibration workflow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Brief course-arc recap; why accounting coherence is the precondition for everything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Calibration internals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Data inputs vs. structural parameters; workbook structure; the IO calibration pipeline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How to modify calibration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Data-input change (ExcelFiles/) vs. structural-parameter change (Functions/); re-validate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Sensitivity analysis method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One-at-a-time parameter perturbation; why isolating one parameter matters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Draft sensitivity-analysis plan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Groups pick one structural parameter and draft a plan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6. Report-out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Fast report-out across groups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7. Course close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Independent-use checklist; exit ticket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Course Arc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5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produced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1 PM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Finance &amp; efficiency scenario definition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Two completed scenario metadata sheets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2 AM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Codebase nav, Git, calibration &amp; scenario hands-on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Calibration diagnostic; finance + efficiency comparison charts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2 PM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Reserve requirements — method &amp; implementation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Implementation plan for a self-chosen carrier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3 AM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Guided open lab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Completed reserve-requirement analysis note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943600"/>
            <a:ext cx="11185855" cy="5669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/>
            <a:r>
              <a:rPr sz="1300" b="0" i="1">
                <a:solidFill>
                  <a:srgbClr val="232323"/>
                </a:solidFill>
                <a:latin typeface="Calibri"/>
              </a:rPr>
              <a:t>Today closes the loop back to calibration — the foundation everything else this week depended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40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Calibration Internals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Data inputs pinning down the steady state: sectoral employment, value-added, labour cost, export, import, emission shares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Structural parameters: discount factor, depreciation, elasticities of substitution, tax rates, adjustment costs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Calibration credibility rests on accounting coherence — value-added shares, intermediate-input shares, and import decomposition must sum consistently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The IO calibration pipeline: run_pipeline.m → split_utilities_sector.m → aggregate_for_dge.m, with validation/audit CSV outputs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Quality checks: output conservation, import conservation, value-added consistency, non-negativity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How to Modify Calibration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Changing a data input (e.g. a sectoral value-added share): edit the calibration workbook in ExcelFiles/, then re-run the pipeline and re-check validation/audit outputs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Changing a structural parameter (e.g. an elasticity of substitution): typically set via a Functions/ helper or a named range in the workbook — confirm the exact location before editing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Either change requires re-running the full calibration-to-baseline chain and re-validating accounting coherence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sensitivity analysis method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4 · 40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Sensitivity Analysis Method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One-at-a-time (OAT) parameter perturbation: pick one structural parameter, perturb it by a defined amount, re-run, compare against the unperturbed baseline</a:t>
            </a:r>
          </a:p>
          <a:p>
            <a:pPr marL="0" indent="0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Why isolate one parameter at a time: perturbing two at once means you can't attribute the output change to either individually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What to check: the same accounting-coherence diagnostics, plus the output indicators most likely to respond to your chosen parameter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Keep a sensitivity log: parameter, baseline value, perturbed value, diagnostic result, output difference</a:t>
            </a:r>
          </a:p>
          <a:p>
            <a:pPr marL="0" indent="0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General good-practice methodology — not itself a DGE-METRIC-specific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BLOCKS 5–6 · 55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Draft Your Sensitivity-Analysis Plan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Pick one structural parameter from docs/</a:t>
            </a:r>
            <a:r>
              <a:rPr sz="1700" b="0" i="0" dirty="0" err="1">
                <a:solidFill>
                  <a:srgbClr val="232323"/>
                </a:solidFill>
                <a:latin typeface="Calibri"/>
              </a:rPr>
              <a:t>calibration.md's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 list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Document: parameter and </a:t>
            </a:r>
            <a:r>
              <a:rPr sz="1700" b="0" i="0">
                <a:solidFill>
                  <a:srgbClr val="232323"/>
                </a:solidFill>
                <a:latin typeface="Calibri"/>
              </a:rPr>
              <a:t>baseline value; </a:t>
            </a:r>
            <a:r>
              <a:rPr sz="1700" b="0" i="0" dirty="0">
                <a:solidFill>
                  <a:srgbClr val="232323"/>
                </a:solidFill>
                <a:latin typeface="Calibri"/>
              </a:rPr>
              <a:t>the perturbation and why it's reasonable; expected effect with a mechanism, not just "it will change"; accounting-coherence checks you'd re-run</a:t>
            </a:r>
          </a:p>
          <a:p>
            <a:pPr marL="0" indent="0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Only one parameter perturbed — not a combination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Fast report-out across groups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7 · 40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Course Close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Independent-use checklist — a single combined self-assessment covering calibration/codebase, scenario design, reserve requirements, and reproducibility</a:t>
            </a:r>
          </a:p>
          <a:p>
            <a:pPr marL="0" indent="0">
              <a:spcAft>
                <a:spcPts val="1000"/>
              </a:spcAft>
            </a:pPr>
            <a:r>
              <a:rPr sz="1700" b="1" i="0" dirty="0">
                <a:solidFill>
                  <a:srgbClr val="232323"/>
                </a:solidFill>
                <a:latin typeface="Calibri"/>
              </a:rPr>
              <a:t>•  Exit ticket — submit in writing:</a:t>
            </a:r>
          </a:p>
          <a:p>
            <a:pPr marL="320040" indent="0">
              <a:spcAft>
                <a:spcPts val="600"/>
              </a:spcAft>
            </a:pPr>
            <a:r>
              <a:rPr sz="1500" b="0" i="0" dirty="0">
                <a:solidFill>
                  <a:srgbClr val="232323"/>
                </a:solidFill>
                <a:latin typeface="Calibri"/>
              </a:rPr>
              <a:t>–  One calibration insight you'll use going forward</a:t>
            </a:r>
          </a:p>
          <a:p>
            <a:pPr marL="320040" indent="0">
              <a:spcAft>
                <a:spcPts val="600"/>
              </a:spcAft>
            </a:pPr>
            <a:r>
              <a:rPr sz="1500" b="0" i="0" dirty="0">
                <a:solidFill>
                  <a:srgbClr val="232323"/>
                </a:solidFill>
                <a:latin typeface="Calibri"/>
              </a:rPr>
              <a:t>–  One scenario-design practice you'll keep</a:t>
            </a:r>
          </a:p>
          <a:p>
            <a:pPr marL="320040" indent="0">
              <a:spcAft>
                <a:spcPts val="600"/>
              </a:spcAft>
            </a:pPr>
            <a:r>
              <a:rPr sz="1500" b="0" i="0" dirty="0">
                <a:solidFill>
                  <a:srgbClr val="232323"/>
                </a:solidFill>
                <a:latin typeface="Calibri"/>
              </a:rPr>
              <a:t>–  One reserve-requirement or policy-analysis habit you'll apply</a:t>
            </a:r>
          </a:p>
          <a:p>
            <a:pPr marL="320040" indent="0">
              <a:spcAft>
                <a:spcPts val="600"/>
              </a:spcAft>
            </a:pPr>
            <a:r>
              <a:rPr sz="1500" b="0" i="0" dirty="0">
                <a:solidFill>
                  <a:srgbClr val="232323"/>
                </a:solidFill>
                <a:latin typeface="Calibri"/>
              </a:rPr>
              <a:t>–  One remaining question for future support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THANK YOU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Congratulations on completing DGE-METRIC Online Training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Questions and independent-use support: course contact to be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1589</Words>
  <Application>Microsoft Office PowerPoint</Application>
  <PresentationFormat>Widescreen</PresentationFormat>
  <Paragraphs>181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Schult, Christoph</cp:lastModifiedBy>
  <cp:revision>6</cp:revision>
  <dcterms:created xsi:type="dcterms:W3CDTF">2013-01-27T09:14:16Z</dcterms:created>
  <dcterms:modified xsi:type="dcterms:W3CDTF">2026-07-19T22:43:03Z</dcterms:modified>
  <cp:category/>
</cp:coreProperties>
</file>