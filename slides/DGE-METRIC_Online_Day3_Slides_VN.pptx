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257" r:id="rId6"/>
    <p:sldId id="258" r:id="rId7"/>
    <p:sldId id="259" r:id="rId8"/>
    <p:sldId id="262" r:id="rId9"/>
    <p:sldId id="260" r:id="rId10"/>
    <p:sldId id="261"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9D8789-0CD1-45FE-B6E9-909F2414D74B}" v="11" dt="2026-07-21T03:29:02.663"/>
    <p1510:client id="{CA45C237-ED4C-4EA8-A831-550F3EB52E6A}" v="1" dt="2026-07-21T04:23:16.9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71" autoAdjust="0"/>
    <p:restoredTop sz="94660"/>
  </p:normalViewPr>
  <p:slideViewPr>
    <p:cSldViewPr snapToGrid="0" snapToObjects="1">
      <p:cViewPr varScale="1">
        <p:scale>
          <a:sx n="70" d="100"/>
          <a:sy n="70" d="100"/>
        </p:scale>
        <p:origin x="604"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o Thi Thu, Ha GIZ VN" userId="cba32c91-3db0-4a1b-948f-9e687dc58334" providerId="ADAL" clId="{BDBB735E-F2D5-4E7A-863F-38FF7370659C}"/>
    <pc:docChg chg="modSld">
      <pc:chgData name="Dao Thi Thu, Ha GIZ VN" userId="cba32c91-3db0-4a1b-948f-9e687dc58334" providerId="ADAL" clId="{BDBB735E-F2D5-4E7A-863F-38FF7370659C}" dt="2026-07-21T04:27:24.361" v="129" actId="20577"/>
      <pc:docMkLst>
        <pc:docMk/>
      </pc:docMkLst>
      <pc:sldChg chg="modSp mod">
        <pc:chgData name="Dao Thi Thu, Ha GIZ VN" userId="cba32c91-3db0-4a1b-948f-9e687dc58334" providerId="ADAL" clId="{BDBB735E-F2D5-4E7A-863F-38FF7370659C}" dt="2026-07-21T03:25:22.637" v="0" actId="404"/>
        <pc:sldMkLst>
          <pc:docMk/>
          <pc:sldMk cId="0" sldId="256"/>
        </pc:sldMkLst>
        <pc:spChg chg="mod">
          <ac:chgData name="Dao Thi Thu, Ha GIZ VN" userId="cba32c91-3db0-4a1b-948f-9e687dc58334" providerId="ADAL" clId="{BDBB735E-F2D5-4E7A-863F-38FF7370659C}" dt="2026-07-21T03:25:22.637" v="0" actId="404"/>
          <ac:spMkLst>
            <pc:docMk/>
            <pc:sldMk cId="0" sldId="256"/>
            <ac:spMk id="5" creationId="{00000000-0000-0000-0000-000000000000}"/>
          </ac:spMkLst>
        </pc:spChg>
      </pc:sldChg>
      <pc:sldChg chg="modSp mod">
        <pc:chgData name="Dao Thi Thu, Ha GIZ VN" userId="cba32c91-3db0-4a1b-948f-9e687dc58334" providerId="ADAL" clId="{BDBB735E-F2D5-4E7A-863F-38FF7370659C}" dt="2026-07-21T03:26:42.218" v="26" actId="14734"/>
        <pc:sldMkLst>
          <pc:docMk/>
          <pc:sldMk cId="0" sldId="258"/>
        </pc:sldMkLst>
        <pc:graphicFrameChg chg="mod modGraphic">
          <ac:chgData name="Dao Thi Thu, Ha GIZ VN" userId="cba32c91-3db0-4a1b-948f-9e687dc58334" providerId="ADAL" clId="{BDBB735E-F2D5-4E7A-863F-38FF7370659C}" dt="2026-07-21T03:26:42.218" v="26" actId="14734"/>
          <ac:graphicFrameMkLst>
            <pc:docMk/>
            <pc:sldMk cId="0" sldId="258"/>
            <ac:graphicFrameMk id="9" creationId="{00000000-0000-0000-0000-000000000000}"/>
          </ac:graphicFrameMkLst>
        </pc:graphicFrameChg>
      </pc:sldChg>
      <pc:sldChg chg="modSp mod">
        <pc:chgData name="Dao Thi Thu, Ha GIZ VN" userId="cba32c91-3db0-4a1b-948f-9e687dc58334" providerId="ADAL" clId="{BDBB735E-F2D5-4E7A-863F-38FF7370659C}" dt="2026-07-21T03:27:06.240" v="31" actId="14100"/>
        <pc:sldMkLst>
          <pc:docMk/>
          <pc:sldMk cId="0" sldId="259"/>
        </pc:sldMkLst>
        <pc:spChg chg="mod">
          <ac:chgData name="Dao Thi Thu, Ha GIZ VN" userId="cba32c91-3db0-4a1b-948f-9e687dc58334" providerId="ADAL" clId="{BDBB735E-F2D5-4E7A-863F-38FF7370659C}" dt="2026-07-21T03:26:56.252" v="29" actId="20577"/>
          <ac:spMkLst>
            <pc:docMk/>
            <pc:sldMk cId="0" sldId="259"/>
            <ac:spMk id="9" creationId="{00000000-0000-0000-0000-000000000000}"/>
          </ac:spMkLst>
        </pc:spChg>
        <pc:spChg chg="mod">
          <ac:chgData name="Dao Thi Thu, Ha GIZ VN" userId="cba32c91-3db0-4a1b-948f-9e687dc58334" providerId="ADAL" clId="{BDBB735E-F2D5-4E7A-863F-38FF7370659C}" dt="2026-07-21T03:27:06.240" v="31" actId="14100"/>
          <ac:spMkLst>
            <pc:docMk/>
            <pc:sldMk cId="0" sldId="259"/>
            <ac:spMk id="10" creationId="{00000000-0000-0000-0000-000000000000}"/>
          </ac:spMkLst>
        </pc:spChg>
      </pc:sldChg>
      <pc:sldChg chg="modSp mod">
        <pc:chgData name="Dao Thi Thu, Ha GIZ VN" userId="cba32c91-3db0-4a1b-948f-9e687dc58334" providerId="ADAL" clId="{BDBB735E-F2D5-4E7A-863F-38FF7370659C}" dt="2026-07-21T04:27:13.006" v="119" actId="20577"/>
        <pc:sldMkLst>
          <pc:docMk/>
          <pc:sldMk cId="0" sldId="261"/>
        </pc:sldMkLst>
        <pc:spChg chg="mod">
          <ac:chgData name="Dao Thi Thu, Ha GIZ VN" userId="cba32c91-3db0-4a1b-948f-9e687dc58334" providerId="ADAL" clId="{BDBB735E-F2D5-4E7A-863F-38FF7370659C}" dt="2026-07-21T04:27:13.006" v="119" actId="20577"/>
          <ac:spMkLst>
            <pc:docMk/>
            <pc:sldMk cId="0" sldId="261"/>
            <ac:spMk id="9" creationId="{00000000-0000-0000-0000-000000000000}"/>
          </ac:spMkLst>
        </pc:spChg>
      </pc:sldChg>
      <pc:sldChg chg="modSp mod">
        <pc:chgData name="Dao Thi Thu, Ha GIZ VN" userId="cba32c91-3db0-4a1b-948f-9e687dc58334" providerId="ADAL" clId="{BDBB735E-F2D5-4E7A-863F-38FF7370659C}" dt="2026-07-21T03:27:31.412" v="33" actId="14100"/>
        <pc:sldMkLst>
          <pc:docMk/>
          <pc:sldMk cId="0" sldId="262"/>
        </pc:sldMkLst>
        <pc:spChg chg="mod">
          <ac:chgData name="Dao Thi Thu, Ha GIZ VN" userId="cba32c91-3db0-4a1b-948f-9e687dc58334" providerId="ADAL" clId="{BDBB735E-F2D5-4E7A-863F-38FF7370659C}" dt="2026-07-21T03:27:16.954" v="32" actId="14100"/>
          <ac:spMkLst>
            <pc:docMk/>
            <pc:sldMk cId="0" sldId="262"/>
            <ac:spMk id="4" creationId="{00000000-0000-0000-0000-000000000000}"/>
          </ac:spMkLst>
        </pc:spChg>
        <pc:spChg chg="mod">
          <ac:chgData name="Dao Thi Thu, Ha GIZ VN" userId="cba32c91-3db0-4a1b-948f-9e687dc58334" providerId="ADAL" clId="{BDBB735E-F2D5-4E7A-863F-38FF7370659C}" dt="2026-07-21T03:27:31.412" v="33" actId="14100"/>
          <ac:spMkLst>
            <pc:docMk/>
            <pc:sldMk cId="0" sldId="262"/>
            <ac:spMk id="9" creationId="{00000000-0000-0000-0000-000000000000}"/>
          </ac:spMkLst>
        </pc:spChg>
      </pc:sldChg>
      <pc:sldChg chg="modSp mod">
        <pc:chgData name="Dao Thi Thu, Ha GIZ VN" userId="cba32c91-3db0-4a1b-948f-9e687dc58334" providerId="ADAL" clId="{BDBB735E-F2D5-4E7A-863F-38FF7370659C}" dt="2026-07-21T03:28:19.908" v="34" actId="14100"/>
        <pc:sldMkLst>
          <pc:docMk/>
          <pc:sldMk cId="0" sldId="264"/>
        </pc:sldMkLst>
        <pc:spChg chg="mod">
          <ac:chgData name="Dao Thi Thu, Ha GIZ VN" userId="cba32c91-3db0-4a1b-948f-9e687dc58334" providerId="ADAL" clId="{BDBB735E-F2D5-4E7A-863F-38FF7370659C}" dt="2026-07-21T03:28:19.908" v="34" actId="14100"/>
          <ac:spMkLst>
            <pc:docMk/>
            <pc:sldMk cId="0" sldId="264"/>
            <ac:spMk id="9" creationId="{00000000-0000-0000-0000-000000000000}"/>
          </ac:spMkLst>
        </pc:spChg>
      </pc:sldChg>
      <pc:sldChg chg="modSp mod">
        <pc:chgData name="Dao Thi Thu, Ha GIZ VN" userId="cba32c91-3db0-4a1b-948f-9e687dc58334" providerId="ADAL" clId="{BDBB735E-F2D5-4E7A-863F-38FF7370659C}" dt="2026-07-21T03:28:26.690" v="35" actId="14100"/>
        <pc:sldMkLst>
          <pc:docMk/>
          <pc:sldMk cId="0" sldId="265"/>
        </pc:sldMkLst>
        <pc:spChg chg="mod">
          <ac:chgData name="Dao Thi Thu, Ha GIZ VN" userId="cba32c91-3db0-4a1b-948f-9e687dc58334" providerId="ADAL" clId="{BDBB735E-F2D5-4E7A-863F-38FF7370659C}" dt="2026-07-21T03:28:26.690" v="35" actId="14100"/>
          <ac:spMkLst>
            <pc:docMk/>
            <pc:sldMk cId="0" sldId="265"/>
            <ac:spMk id="9" creationId="{00000000-0000-0000-0000-000000000000}"/>
          </ac:spMkLst>
        </pc:spChg>
      </pc:sldChg>
      <pc:sldChg chg="modSp mod">
        <pc:chgData name="Dao Thi Thu, Ha GIZ VN" userId="cba32c91-3db0-4a1b-948f-9e687dc58334" providerId="ADAL" clId="{BDBB735E-F2D5-4E7A-863F-38FF7370659C}" dt="2026-07-21T03:29:02.663" v="63"/>
        <pc:sldMkLst>
          <pc:docMk/>
          <pc:sldMk cId="0" sldId="267"/>
        </pc:sldMkLst>
        <pc:spChg chg="mod">
          <ac:chgData name="Dao Thi Thu, Ha GIZ VN" userId="cba32c91-3db0-4a1b-948f-9e687dc58334" providerId="ADAL" clId="{BDBB735E-F2D5-4E7A-863F-38FF7370659C}" dt="2026-07-21T03:28:41.268" v="36" actId="14100"/>
          <ac:spMkLst>
            <pc:docMk/>
            <pc:sldMk cId="0" sldId="267"/>
            <ac:spMk id="4" creationId="{00000000-0000-0000-0000-000000000000}"/>
          </ac:spMkLst>
        </pc:spChg>
        <pc:graphicFrameChg chg="mod modGraphic">
          <ac:chgData name="Dao Thi Thu, Ha GIZ VN" userId="cba32c91-3db0-4a1b-948f-9e687dc58334" providerId="ADAL" clId="{BDBB735E-F2D5-4E7A-863F-38FF7370659C}" dt="2026-07-21T03:29:02.663" v="63"/>
          <ac:graphicFrameMkLst>
            <pc:docMk/>
            <pc:sldMk cId="0" sldId="267"/>
            <ac:graphicFrameMk id="9" creationId="{00000000-0000-0000-0000-000000000000}"/>
          </ac:graphicFrameMkLst>
        </pc:graphicFrameChg>
      </pc:sldChg>
      <pc:sldChg chg="modSp mod">
        <pc:chgData name="Dao Thi Thu, Ha GIZ VN" userId="cba32c91-3db0-4a1b-948f-9e687dc58334" providerId="ADAL" clId="{BDBB735E-F2D5-4E7A-863F-38FF7370659C}" dt="2026-07-21T04:27:24.361" v="129" actId="20577"/>
        <pc:sldMkLst>
          <pc:docMk/>
          <pc:sldMk cId="0" sldId="268"/>
        </pc:sldMkLst>
        <pc:graphicFrameChg chg="modGraphic">
          <ac:chgData name="Dao Thi Thu, Ha GIZ VN" userId="cba32c91-3db0-4a1b-948f-9e687dc58334" providerId="ADAL" clId="{BDBB735E-F2D5-4E7A-863F-38FF7370659C}" dt="2026-07-21T04:27:24.361" v="129" actId="20577"/>
          <ac:graphicFrameMkLst>
            <pc:docMk/>
            <pc:sldMk cId="0" sldId="268"/>
            <ac:graphicFrameMk id="9" creationId="{00000000-0000-0000-0000-000000000000}"/>
          </ac:graphicFrameMkLst>
        </pc:graphicFrameChg>
      </pc:sldChg>
      <pc:sldChg chg="modSp mod">
        <pc:chgData name="Dao Thi Thu, Ha GIZ VN" userId="cba32c91-3db0-4a1b-948f-9e687dc58334" providerId="ADAL" clId="{BDBB735E-F2D5-4E7A-863F-38FF7370659C}" dt="2026-07-21T03:30:04.366" v="79" actId="20577"/>
        <pc:sldMkLst>
          <pc:docMk/>
          <pc:sldMk cId="0" sldId="269"/>
        </pc:sldMkLst>
        <pc:spChg chg="mod">
          <ac:chgData name="Dao Thi Thu, Ha GIZ VN" userId="cba32c91-3db0-4a1b-948f-9e687dc58334" providerId="ADAL" clId="{BDBB735E-F2D5-4E7A-863F-38FF7370659C}" dt="2026-07-21T03:30:04.366" v="79" actId="20577"/>
          <ac:spMkLst>
            <pc:docMk/>
            <pc:sldMk cId="0" sldId="269"/>
            <ac:spMk id="9" creationId="{00000000-0000-0000-0000-000000000000}"/>
          </ac:spMkLst>
        </pc:spChg>
      </pc:sldChg>
      <pc:sldChg chg="modSp mod">
        <pc:chgData name="Dao Thi Thu, Ha GIZ VN" userId="cba32c91-3db0-4a1b-948f-9e687dc58334" providerId="ADAL" clId="{BDBB735E-F2D5-4E7A-863F-38FF7370659C}" dt="2026-07-21T03:30:17.916" v="80" actId="14100"/>
        <pc:sldMkLst>
          <pc:docMk/>
          <pc:sldMk cId="0" sldId="270"/>
        </pc:sldMkLst>
        <pc:spChg chg="mod">
          <ac:chgData name="Dao Thi Thu, Ha GIZ VN" userId="cba32c91-3db0-4a1b-948f-9e687dc58334" providerId="ADAL" clId="{BDBB735E-F2D5-4E7A-863F-38FF7370659C}" dt="2026-07-21T03:30:17.916" v="80" actId="14100"/>
          <ac:spMkLst>
            <pc:docMk/>
            <pc:sldMk cId="0" sldId="270"/>
            <ac:spMk id="9" creationId="{00000000-0000-0000-0000-000000000000}"/>
          </ac:spMkLst>
        </pc:spChg>
      </pc:sldChg>
      <pc:sldChg chg="modSp mod">
        <pc:chgData name="Dao Thi Thu, Ha GIZ VN" userId="cba32c91-3db0-4a1b-948f-9e687dc58334" providerId="ADAL" clId="{BDBB735E-F2D5-4E7A-863F-38FF7370659C}" dt="2026-07-21T03:30:45.692" v="82" actId="20577"/>
        <pc:sldMkLst>
          <pc:docMk/>
          <pc:sldMk cId="0" sldId="272"/>
        </pc:sldMkLst>
        <pc:spChg chg="mod">
          <ac:chgData name="Dao Thi Thu, Ha GIZ VN" userId="cba32c91-3db0-4a1b-948f-9e687dc58334" providerId="ADAL" clId="{BDBB735E-F2D5-4E7A-863F-38FF7370659C}" dt="2026-07-21T03:30:45.692" v="82" actId="20577"/>
          <ac:spMkLst>
            <pc:docMk/>
            <pc:sldMk cId="0" sldId="272"/>
            <ac:spMk id="9" creationId="{00000000-0000-0000-0000-000000000000}"/>
          </ac:spMkLst>
        </pc:spChg>
      </pc:sldChg>
      <pc:sldChg chg="modSp mod">
        <pc:chgData name="Dao Thi Thu, Ha GIZ VN" userId="cba32c91-3db0-4a1b-948f-9e687dc58334" providerId="ADAL" clId="{BDBB735E-F2D5-4E7A-863F-38FF7370659C}" dt="2026-07-21T03:30:55.234" v="83" actId="20577"/>
        <pc:sldMkLst>
          <pc:docMk/>
          <pc:sldMk cId="0" sldId="273"/>
        </pc:sldMkLst>
        <pc:spChg chg="mod">
          <ac:chgData name="Dao Thi Thu, Ha GIZ VN" userId="cba32c91-3db0-4a1b-948f-9e687dc58334" providerId="ADAL" clId="{BDBB735E-F2D5-4E7A-863F-38FF7370659C}" dt="2026-07-21T03:30:55.234" v="83" actId="20577"/>
          <ac:spMkLst>
            <pc:docMk/>
            <pc:sldMk cId="0" sldId="273"/>
            <ac:spMk id="9" creationId="{00000000-0000-0000-0000-000000000000}"/>
          </ac:spMkLst>
        </pc:spChg>
      </pc:sldChg>
      <pc:sldChg chg="modSp mod">
        <pc:chgData name="Dao Thi Thu, Ha GIZ VN" userId="cba32c91-3db0-4a1b-948f-9e687dc58334" providerId="ADAL" clId="{BDBB735E-F2D5-4E7A-863F-38FF7370659C}" dt="2026-07-21T03:31:09.900" v="84" actId="403"/>
        <pc:sldMkLst>
          <pc:docMk/>
          <pc:sldMk cId="0" sldId="274"/>
        </pc:sldMkLst>
        <pc:spChg chg="mod">
          <ac:chgData name="Dao Thi Thu, Ha GIZ VN" userId="cba32c91-3db0-4a1b-948f-9e687dc58334" providerId="ADAL" clId="{BDBB735E-F2D5-4E7A-863F-38FF7370659C}" dt="2026-07-21T03:31:09.900" v="84" actId="403"/>
          <ac:spMkLst>
            <pc:docMk/>
            <pc:sldMk cId="0" sldId="274"/>
            <ac:spMk id="9" creationId="{00000000-0000-0000-0000-000000000000}"/>
          </ac:spMkLst>
        </pc:spChg>
      </pc:sldChg>
      <pc:sldChg chg="modSp mod">
        <pc:chgData name="Dao Thi Thu, Ha GIZ VN" userId="cba32c91-3db0-4a1b-948f-9e687dc58334" providerId="ADAL" clId="{BDBB735E-F2D5-4E7A-863F-38FF7370659C}" dt="2026-07-21T03:31:31.898" v="90" actId="20577"/>
        <pc:sldMkLst>
          <pc:docMk/>
          <pc:sldMk cId="0" sldId="275"/>
        </pc:sldMkLst>
        <pc:spChg chg="mod">
          <ac:chgData name="Dao Thi Thu, Ha GIZ VN" userId="cba32c91-3db0-4a1b-948f-9e687dc58334" providerId="ADAL" clId="{BDBB735E-F2D5-4E7A-863F-38FF7370659C}" dt="2026-07-21T03:31:31.898" v="90" actId="20577"/>
          <ac:spMkLst>
            <pc:docMk/>
            <pc:sldMk cId="0" sldId="275"/>
            <ac:spMk id="4" creationId="{00000000-0000-0000-0000-000000000000}"/>
          </ac:spMkLst>
        </pc:spChg>
      </pc:sldChg>
    </pc:docChg>
  </pc:docChgLst>
  <pc:docChgLst>
    <pc:chgData name="Mai Thi, Xuyen GIZ VN" userId="af4fe381-f395-4043-a6db-95ca2e2248da" providerId="ADAL" clId="{BEE46BFC-B7DC-4160-9B1E-BAE908C2B53A}"/>
    <pc:docChg chg="modSld">
      <pc:chgData name="Mai Thi, Xuyen GIZ VN" userId="af4fe381-f395-4043-a6db-95ca2e2248da" providerId="ADAL" clId="{BEE46BFC-B7DC-4160-9B1E-BAE908C2B53A}" dt="2026-07-21T04:23:47.523" v="35" actId="20577"/>
      <pc:docMkLst>
        <pc:docMk/>
      </pc:docMkLst>
      <pc:sldChg chg="modSp mod">
        <pc:chgData name="Mai Thi, Xuyen GIZ VN" userId="af4fe381-f395-4043-a6db-95ca2e2248da" providerId="ADAL" clId="{BEE46BFC-B7DC-4160-9B1E-BAE908C2B53A}" dt="2026-07-21T04:17:50.409" v="0" actId="14100"/>
        <pc:sldMkLst>
          <pc:docMk/>
          <pc:sldMk cId="0" sldId="258"/>
        </pc:sldMkLst>
        <pc:spChg chg="mod">
          <ac:chgData name="Mai Thi, Xuyen GIZ VN" userId="af4fe381-f395-4043-a6db-95ca2e2248da" providerId="ADAL" clId="{BEE46BFC-B7DC-4160-9B1E-BAE908C2B53A}" dt="2026-07-21T04:17:50.409" v="0" actId="14100"/>
          <ac:spMkLst>
            <pc:docMk/>
            <pc:sldMk cId="0" sldId="258"/>
            <ac:spMk id="4" creationId="{00000000-0000-0000-0000-000000000000}"/>
          </ac:spMkLst>
        </pc:spChg>
      </pc:sldChg>
      <pc:sldChg chg="modSp mod">
        <pc:chgData name="Mai Thi, Xuyen GIZ VN" userId="af4fe381-f395-4043-a6db-95ca2e2248da" providerId="ADAL" clId="{BEE46BFC-B7DC-4160-9B1E-BAE908C2B53A}" dt="2026-07-21T04:18:09.950" v="1" actId="20577"/>
        <pc:sldMkLst>
          <pc:docMk/>
          <pc:sldMk cId="0" sldId="259"/>
        </pc:sldMkLst>
        <pc:spChg chg="mod">
          <ac:chgData name="Mai Thi, Xuyen GIZ VN" userId="af4fe381-f395-4043-a6db-95ca2e2248da" providerId="ADAL" clId="{BEE46BFC-B7DC-4160-9B1E-BAE908C2B53A}" dt="2026-07-21T04:18:09.950" v="1" actId="20577"/>
          <ac:spMkLst>
            <pc:docMk/>
            <pc:sldMk cId="0" sldId="259"/>
            <ac:spMk id="10" creationId="{00000000-0000-0000-0000-000000000000}"/>
          </ac:spMkLst>
        </pc:spChg>
      </pc:sldChg>
      <pc:sldChg chg="modSp">
        <pc:chgData name="Mai Thi, Xuyen GIZ VN" userId="af4fe381-f395-4043-a6db-95ca2e2248da" providerId="ADAL" clId="{BEE46BFC-B7DC-4160-9B1E-BAE908C2B53A}" dt="2026-07-21T04:23:16.962" v="2"/>
        <pc:sldMkLst>
          <pc:docMk/>
          <pc:sldMk cId="0" sldId="266"/>
        </pc:sldMkLst>
        <pc:spChg chg="mod">
          <ac:chgData name="Mai Thi, Xuyen GIZ VN" userId="af4fe381-f395-4043-a6db-95ca2e2248da" providerId="ADAL" clId="{BEE46BFC-B7DC-4160-9B1E-BAE908C2B53A}" dt="2026-07-21T04:23:16.962" v="2"/>
          <ac:spMkLst>
            <pc:docMk/>
            <pc:sldMk cId="0" sldId="266"/>
            <ac:spMk id="4" creationId="{00000000-0000-0000-0000-000000000000}"/>
          </ac:spMkLst>
        </pc:spChg>
      </pc:sldChg>
      <pc:sldChg chg="modSp">
        <pc:chgData name="Mai Thi, Xuyen GIZ VN" userId="af4fe381-f395-4043-a6db-95ca2e2248da" providerId="ADAL" clId="{BEE46BFC-B7DC-4160-9B1E-BAE908C2B53A}" dt="2026-07-21T04:23:16.962" v="2"/>
        <pc:sldMkLst>
          <pc:docMk/>
          <pc:sldMk cId="0" sldId="267"/>
        </pc:sldMkLst>
        <pc:graphicFrameChg chg="mod">
          <ac:chgData name="Mai Thi, Xuyen GIZ VN" userId="af4fe381-f395-4043-a6db-95ca2e2248da" providerId="ADAL" clId="{BEE46BFC-B7DC-4160-9B1E-BAE908C2B53A}" dt="2026-07-21T04:23:16.962" v="2"/>
          <ac:graphicFrameMkLst>
            <pc:docMk/>
            <pc:sldMk cId="0" sldId="267"/>
            <ac:graphicFrameMk id="9" creationId="{00000000-0000-0000-0000-000000000000}"/>
          </ac:graphicFrameMkLst>
        </pc:graphicFrameChg>
      </pc:sldChg>
      <pc:sldChg chg="modSp">
        <pc:chgData name="Mai Thi, Xuyen GIZ VN" userId="af4fe381-f395-4043-a6db-95ca2e2248da" providerId="ADAL" clId="{BEE46BFC-B7DC-4160-9B1E-BAE908C2B53A}" dt="2026-07-21T04:23:16.962" v="2"/>
        <pc:sldMkLst>
          <pc:docMk/>
          <pc:sldMk cId="0" sldId="268"/>
        </pc:sldMkLst>
        <pc:spChg chg="mod">
          <ac:chgData name="Mai Thi, Xuyen GIZ VN" userId="af4fe381-f395-4043-a6db-95ca2e2248da" providerId="ADAL" clId="{BEE46BFC-B7DC-4160-9B1E-BAE908C2B53A}" dt="2026-07-21T04:23:16.962" v="2"/>
          <ac:spMkLst>
            <pc:docMk/>
            <pc:sldMk cId="0" sldId="268"/>
            <ac:spMk id="10" creationId="{00000000-0000-0000-0000-000000000000}"/>
          </ac:spMkLst>
        </pc:spChg>
        <pc:graphicFrameChg chg="mod">
          <ac:chgData name="Mai Thi, Xuyen GIZ VN" userId="af4fe381-f395-4043-a6db-95ca2e2248da" providerId="ADAL" clId="{BEE46BFC-B7DC-4160-9B1E-BAE908C2B53A}" dt="2026-07-21T04:23:16.962" v="2"/>
          <ac:graphicFrameMkLst>
            <pc:docMk/>
            <pc:sldMk cId="0" sldId="268"/>
            <ac:graphicFrameMk id="9" creationId="{00000000-0000-0000-0000-000000000000}"/>
          </ac:graphicFrameMkLst>
        </pc:graphicFrameChg>
      </pc:sldChg>
      <pc:sldChg chg="modSp mod">
        <pc:chgData name="Mai Thi, Xuyen GIZ VN" userId="af4fe381-f395-4043-a6db-95ca2e2248da" providerId="ADAL" clId="{BEE46BFC-B7DC-4160-9B1E-BAE908C2B53A}" dt="2026-07-21T04:23:47.523" v="35" actId="20577"/>
        <pc:sldMkLst>
          <pc:docMk/>
          <pc:sldMk cId="0" sldId="269"/>
        </pc:sldMkLst>
        <pc:spChg chg="mod">
          <ac:chgData name="Mai Thi, Xuyen GIZ VN" userId="af4fe381-f395-4043-a6db-95ca2e2248da" providerId="ADAL" clId="{BEE46BFC-B7DC-4160-9B1E-BAE908C2B53A}" dt="2026-07-21T04:23:16.962" v="2"/>
          <ac:spMkLst>
            <pc:docMk/>
            <pc:sldMk cId="0" sldId="269"/>
            <ac:spMk id="4" creationId="{00000000-0000-0000-0000-000000000000}"/>
          </ac:spMkLst>
        </pc:spChg>
        <pc:spChg chg="mod">
          <ac:chgData name="Mai Thi, Xuyen GIZ VN" userId="af4fe381-f395-4043-a6db-95ca2e2248da" providerId="ADAL" clId="{BEE46BFC-B7DC-4160-9B1E-BAE908C2B53A}" dt="2026-07-21T04:23:47.523" v="35" actId="20577"/>
          <ac:spMkLst>
            <pc:docMk/>
            <pc:sldMk cId="0" sldId="269"/>
            <ac:spMk id="9" creationId="{00000000-0000-0000-0000-000000000000}"/>
          </ac:spMkLst>
        </pc:spChg>
      </pc:sldChg>
      <pc:sldChg chg="modSp">
        <pc:chgData name="Mai Thi, Xuyen GIZ VN" userId="af4fe381-f395-4043-a6db-95ca2e2248da" providerId="ADAL" clId="{BEE46BFC-B7DC-4160-9B1E-BAE908C2B53A}" dt="2026-07-21T04:23:16.962" v="2"/>
        <pc:sldMkLst>
          <pc:docMk/>
          <pc:sldMk cId="0" sldId="270"/>
        </pc:sldMkLst>
        <pc:spChg chg="mod">
          <ac:chgData name="Mai Thi, Xuyen GIZ VN" userId="af4fe381-f395-4043-a6db-95ca2e2248da" providerId="ADAL" clId="{BEE46BFC-B7DC-4160-9B1E-BAE908C2B53A}" dt="2026-07-21T04:23:16.962" v="2"/>
          <ac:spMkLst>
            <pc:docMk/>
            <pc:sldMk cId="0" sldId="270"/>
            <ac:spMk id="4" creationId="{00000000-0000-0000-0000-000000000000}"/>
          </ac:spMkLst>
        </pc:spChg>
        <pc:spChg chg="mod">
          <ac:chgData name="Mai Thi, Xuyen GIZ VN" userId="af4fe381-f395-4043-a6db-95ca2e2248da" providerId="ADAL" clId="{BEE46BFC-B7DC-4160-9B1E-BAE908C2B53A}" dt="2026-07-21T04:23:16.962" v="2"/>
          <ac:spMkLst>
            <pc:docMk/>
            <pc:sldMk cId="0" sldId="270"/>
            <ac:spMk id="9" creationId="{00000000-0000-0000-0000-000000000000}"/>
          </ac:spMkLst>
        </pc:spChg>
      </pc:sldChg>
      <pc:sldChg chg="modSp">
        <pc:chgData name="Mai Thi, Xuyen GIZ VN" userId="af4fe381-f395-4043-a6db-95ca2e2248da" providerId="ADAL" clId="{BEE46BFC-B7DC-4160-9B1E-BAE908C2B53A}" dt="2026-07-21T04:23:16.962" v="2"/>
        <pc:sldMkLst>
          <pc:docMk/>
          <pc:sldMk cId="0" sldId="274"/>
        </pc:sldMkLst>
        <pc:spChg chg="mod">
          <ac:chgData name="Mai Thi, Xuyen GIZ VN" userId="af4fe381-f395-4043-a6db-95ca2e2248da" providerId="ADAL" clId="{BEE46BFC-B7DC-4160-9B1E-BAE908C2B53A}" dt="2026-07-21T04:23:16.962" v="2"/>
          <ac:spMkLst>
            <pc:docMk/>
            <pc:sldMk cId="0" sldId="274"/>
            <ac:spMk id="9"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56032"/>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GIZ_Logo.png"/>
          <p:cNvPicPr>
            <a:picLocks noChangeAspect="1"/>
          </p:cNvPicPr>
          <p:nvPr/>
        </p:nvPicPr>
        <p:blipFill>
          <a:blip r:embed="rId2"/>
          <a:stretch>
            <a:fillRect/>
          </a:stretch>
        </p:blipFill>
        <p:spPr>
          <a:xfrm>
            <a:off x="548640" y="502920"/>
            <a:ext cx="2054087" cy="566928"/>
          </a:xfrm>
          <a:prstGeom prst="rect">
            <a:avLst/>
          </a:prstGeom>
        </p:spPr>
      </p:pic>
      <p:sp>
        <p:nvSpPr>
          <p:cNvPr id="5" name="TextBox 4"/>
          <p:cNvSpPr txBox="1"/>
          <p:nvPr/>
        </p:nvSpPr>
        <p:spPr>
          <a:xfrm>
            <a:off x="822960" y="2286000"/>
            <a:ext cx="10515600" cy="1502976"/>
          </a:xfrm>
          <a:prstGeom prst="rect">
            <a:avLst/>
          </a:prstGeom>
          <a:noFill/>
        </p:spPr>
        <p:txBody>
          <a:bodyPr wrap="square">
            <a:spAutoFit/>
          </a:bodyPr>
          <a:lstStyle/>
          <a:p>
            <a:pPr>
              <a:spcAft>
                <a:spcPts val="1400"/>
              </a:spcAft>
            </a:pPr>
            <a:r>
              <a:rPr lang="vi-VN" sz="3600" b="1" i="0">
                <a:solidFill>
                  <a:srgbClr val="232323"/>
                </a:solidFill>
                <a:latin typeface="Arial"/>
              </a:rPr>
              <a:t>Chương trình đào tạo trực tuyến DGE-METRIC</a:t>
            </a:r>
          </a:p>
          <a:p>
            <a:r>
              <a:rPr lang="vi-VN" sz="2200" b="0" i="0">
                <a:solidFill>
                  <a:srgbClr val="CC071E"/>
                </a:solidFill>
                <a:latin typeface="Arial"/>
              </a:rPr>
              <a:t>Ngày 3 — Thực hành mở có hướng dẫn, cơ chế hiệu chỉnh: Chỉnh sửa mô hình &amp; Phân tích độ nhạy</a:t>
            </a:r>
          </a:p>
        </p:txBody>
      </p:sp>
      <p:sp>
        <p:nvSpPr>
          <p:cNvPr id="6" name="Rectangle 5"/>
          <p:cNvSpPr/>
          <p:nvPr/>
        </p:nvSpPr>
        <p:spPr>
          <a:xfrm>
            <a:off x="868680" y="4709160"/>
            <a:ext cx="3840480" cy="3810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4892040"/>
            <a:ext cx="10058400" cy="1463040"/>
          </a:xfrm>
          <a:prstGeom prst="rect">
            <a:avLst/>
          </a:prstGeom>
          <a:noFill/>
        </p:spPr>
        <p:txBody>
          <a:bodyPr wrap="square">
            <a:spAutoFit/>
          </a:bodyPr>
          <a:lstStyle/>
          <a:p>
            <a:pPr>
              <a:spcAft>
                <a:spcPts val="400"/>
              </a:spcAft>
            </a:pPr>
            <a:r>
              <a:rPr lang="vi-VN" sz="1500" b="0" i="0">
                <a:solidFill>
                  <a:srgbClr val="787878"/>
                </a:solidFill>
                <a:latin typeface="Arial"/>
              </a:rPr>
              <a:t>Thứ Sáu, ngày 24 tháng 7 năm 2026 · Sáng 9:00 - 11:30 + Chiều 13:00 - 17:00 (Giờ Việt Nam, UTC+7)</a:t>
            </a:r>
          </a:p>
          <a:p>
            <a:pPr>
              <a:spcAft>
                <a:spcPts val="400"/>
              </a:spcAft>
            </a:pPr>
            <a:r>
              <a:rPr lang="vi-VN" sz="1500" b="0" i="0">
                <a:solidFill>
                  <a:srgbClr val="787878"/>
                </a:solidFill>
                <a:latin typeface="Arial"/>
              </a:rPr>
              <a:t>GIZ Việt Nam | Chương trình đào tạo DGE-METRIC | Mô-đun trực tuyến</a:t>
            </a:r>
          </a:p>
          <a:p>
            <a:pPr>
              <a:spcAft>
                <a:spcPts val="400"/>
              </a:spcAft>
            </a:pPr>
            <a:r>
              <a:rPr lang="vi-VN" sz="1500" b="0" i="0">
                <a:solidFill>
                  <a:srgbClr val="787878"/>
                </a:solidFill>
                <a:latin typeface="Arial"/>
              </a:rPr>
              <a:t>Đây là Ngày đào tạo thứ 5 — ngày cuối cùng của toàn bộ khóa học, được giảng dạy theo hình thức trực tuyến.</a:t>
            </a:r>
          </a:p>
        </p:txBody>
      </p:sp>
      <p:sp>
        <p:nvSpPr>
          <p:cNvPr id="8" name="Rectangle 7"/>
          <p:cNvSpPr/>
          <p:nvPr/>
        </p:nvSpPr>
        <p:spPr>
          <a:xfrm>
            <a:off x="0" y="6601968"/>
            <a:ext cx="12191695" cy="256032"/>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GIZ_Logo.png"/>
          <p:cNvPicPr>
            <a:picLocks noChangeAspect="1"/>
          </p:cNvPicPr>
          <p:nvPr/>
        </p:nvPicPr>
        <p:blipFill>
          <a:blip r:embed="rId2"/>
          <a:stretch>
            <a:fillRect/>
          </a:stretch>
        </p:blipFill>
        <p:spPr>
          <a:xfrm>
            <a:off x="10088575" y="457200"/>
            <a:ext cx="1656522" cy="457200"/>
          </a:xfrm>
          <a:prstGeom prst="rect">
            <a:avLst/>
          </a:prstGeom>
        </p:spPr>
      </p:pic>
      <p:sp>
        <p:nvSpPr>
          <p:cNvPr id="4" name="TextBox 3"/>
          <p:cNvSpPr txBox="1"/>
          <p:nvPr/>
        </p:nvSpPr>
        <p:spPr>
          <a:xfrm>
            <a:off x="822960" y="2651760"/>
            <a:ext cx="10058400" cy="2011680"/>
          </a:xfrm>
          <a:prstGeom prst="rect">
            <a:avLst/>
          </a:prstGeom>
          <a:noFill/>
        </p:spPr>
        <p:txBody>
          <a:bodyPr wrap="square">
            <a:spAutoFit/>
          </a:bodyPr>
          <a:lstStyle/>
          <a:p>
            <a:pPr>
              <a:spcAft>
                <a:spcPts val="1000"/>
              </a:spcAft>
            </a:pPr>
            <a:r>
              <a:rPr lang="vi-VN" sz="1500" b="1" i="0">
                <a:solidFill>
                  <a:srgbClr val="FFD2D2"/>
                </a:solidFill>
                <a:latin typeface="Arial"/>
              </a:rPr>
              <a:t>NGÀY 3 — BUỔI SÁNG</a:t>
            </a:r>
          </a:p>
          <a:p>
            <a:r>
              <a:rPr lang="vi-VN" sz="3400" b="1" i="0">
                <a:solidFill>
                  <a:srgbClr val="FFFFFF"/>
                </a:solidFill>
                <a:latin typeface="Arial"/>
              </a:rPr>
              <a:t>Thực hành mở có hướng dẫn</a:t>
            </a:r>
          </a:p>
          <a:p>
            <a:pPr>
              <a:spcBef>
                <a:spcPts val="1400"/>
              </a:spcBef>
            </a:pPr>
            <a:r>
              <a:rPr lang="vi-VN" sz="1700" b="0" i="0">
                <a:solidFill>
                  <a:srgbClr val="FFFFFF"/>
                </a:solidFill>
                <a:latin typeface="Arial"/>
              </a:rPr>
              <a:t>Tính toán tổn thất GDP trong các kịch bản thiếu hụt năng lượng · 180 phút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93859"/>
            <a:ext cx="10184130" cy="492443"/>
          </a:xfrm>
          <a:prstGeom prst="rect">
            <a:avLst/>
          </a:prstGeom>
          <a:noFill/>
        </p:spPr>
        <p:txBody>
          <a:bodyPr wrap="square" anchor="ctr">
            <a:spAutoFit/>
          </a:bodyPr>
          <a:lstStyle/>
          <a:p>
            <a:r>
              <a:rPr lang="vi-VN" sz="2600" b="1" i="0" dirty="0">
                <a:solidFill>
                  <a:srgbClr val="FFFFFF"/>
                </a:solidFill>
                <a:latin typeface="Arial"/>
              </a:rPr>
              <a:t>Chương trình Buổi sáng — 4 Phần, 150 Phút (+1 giờ giải lao)</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3 — Thứ 6, ngày 24/7/2026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2</a:t>
            </a:r>
          </a:p>
        </p:txBody>
      </p:sp>
      <p:graphicFrame>
        <p:nvGraphicFramePr>
          <p:cNvPr id="9" name="Table 8"/>
          <p:cNvGraphicFramePr>
            <a:graphicFrameLocks noGrp="1"/>
          </p:cNvGraphicFramePr>
          <p:nvPr>
            <p:extLst>
              <p:ext uri="{D42A27DB-BD31-4B8C-83A1-F6EECF244321}">
                <p14:modId xmlns:p14="http://schemas.microsoft.com/office/powerpoint/2010/main" val="4124721663"/>
              </p:ext>
            </p:extLst>
          </p:nvPr>
        </p:nvGraphicFramePr>
        <p:xfrm>
          <a:off x="502920" y="1554480"/>
          <a:ext cx="11185853" cy="4892040"/>
        </p:xfrm>
        <a:graphic>
          <a:graphicData uri="http://schemas.openxmlformats.org/drawingml/2006/table">
            <a:tbl>
              <a:tblPr firstRow="1" bandRow="1">
                <a:tableStyleId>{5C22544A-7EE6-4342-B048-85BDC9FD1C3A}</a:tableStyleId>
              </a:tblPr>
              <a:tblGrid>
                <a:gridCol w="3638006">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6450567">
                  <a:extLst>
                    <a:ext uri="{9D8B030D-6E8A-4147-A177-3AD203B41FA5}">
                      <a16:colId xmlns:a16="http://schemas.microsoft.com/office/drawing/2014/main" val="20002"/>
                    </a:ext>
                  </a:extLst>
                </a:gridCol>
              </a:tblGrid>
              <a:tr h="815340">
                <a:tc>
                  <a:txBody>
                    <a:bodyPr/>
                    <a:lstStyle/>
                    <a:p>
                      <a:r>
                        <a:rPr lang="vi-VN" sz="1300" b="1" i="0">
                          <a:solidFill>
                            <a:srgbClr val="FFFFFF"/>
                          </a:solidFill>
                          <a:latin typeface="Arial"/>
                        </a:rPr>
                        <a:t>Phần</a:t>
                      </a:r>
                    </a:p>
                  </a:txBody>
                  <a:tcPr marT="50800" marB="50800" anchor="ctr">
                    <a:solidFill>
                      <a:srgbClr val="CC071E"/>
                    </a:solidFill>
                  </a:tcPr>
                </a:tc>
                <a:tc>
                  <a:txBody>
                    <a:bodyPr/>
                    <a:lstStyle/>
                    <a:p>
                      <a:r>
                        <a:rPr lang="vi-VN" sz="1300" b="1" i="0">
                          <a:solidFill>
                            <a:srgbClr val="FFFFFF"/>
                          </a:solidFill>
                          <a:latin typeface="Arial"/>
                        </a:rPr>
                        <a:t>Thời lượng</a:t>
                      </a:r>
                    </a:p>
                  </a:txBody>
                  <a:tcPr marT="50800" marB="50800" anchor="ctr">
                    <a:solidFill>
                      <a:srgbClr val="CC071E"/>
                    </a:solidFill>
                  </a:tcPr>
                </a:tc>
                <a:tc>
                  <a:txBody>
                    <a:bodyPr/>
                    <a:lstStyle/>
                    <a:p>
                      <a:r>
                        <a:rPr lang="vi-VN" sz="1300" b="1" i="0">
                          <a:solidFill>
                            <a:srgbClr val="FFFFFF"/>
                          </a:solidFill>
                          <a:latin typeface="Arial"/>
                        </a:rPr>
                        <a:t>Nội dung</a:t>
                      </a:r>
                    </a:p>
                  </a:txBody>
                  <a:tcPr marT="50800" marB="50800" anchor="ctr">
                    <a:solidFill>
                      <a:srgbClr val="CC071E"/>
                    </a:solidFill>
                  </a:tcPr>
                </a:tc>
                <a:extLst>
                  <a:ext uri="{0D108BD9-81ED-4DB2-BD59-A6C34878D82A}">
                    <a16:rowId xmlns:a16="http://schemas.microsoft.com/office/drawing/2014/main" val="10000"/>
                  </a:ext>
                </a:extLst>
              </a:tr>
              <a:tr h="815340">
                <a:tc>
                  <a:txBody>
                    <a:bodyPr/>
                    <a:lstStyle/>
                    <a:p>
                      <a:r>
                        <a:rPr lang="vi-VN" sz="1300" b="1" i="0">
                          <a:solidFill>
                            <a:srgbClr val="232323"/>
                          </a:solidFill>
                          <a:latin typeface="Arial"/>
                        </a:rPr>
                        <a:t>1. Tóm tắt &amp; Thảo luận</a:t>
                      </a:r>
                    </a:p>
                  </a:txBody>
                  <a:tcPr marT="38100" marB="38100" anchor="ctr">
                    <a:solidFill>
                      <a:srgbClr val="FFFFFF"/>
                    </a:solidFill>
                  </a:tcPr>
                </a:tc>
                <a:tc>
                  <a:txBody>
                    <a:bodyPr/>
                    <a:lstStyle/>
                    <a:p>
                      <a:r>
                        <a:rPr lang="vi-VN" sz="1300" b="0" i="0">
                          <a:solidFill>
                            <a:srgbClr val="232323"/>
                          </a:solidFill>
                          <a:latin typeface="Arial"/>
                        </a:rPr>
                        <a:t>60</a:t>
                      </a:r>
                      <a:r>
                        <a:rPr lang="en-US" sz="1300" b="0" i="0">
                          <a:solidFill>
                            <a:srgbClr val="232323"/>
                          </a:solidFill>
                          <a:latin typeface="Arial"/>
                        </a:rPr>
                        <a:t> phút</a:t>
                      </a:r>
                      <a:endParaRPr lang="vi-VN" sz="1300" b="0" i="0">
                        <a:solidFill>
                          <a:srgbClr val="232323"/>
                        </a:solidFill>
                        <a:latin typeface="Arial"/>
                      </a:endParaRPr>
                    </a:p>
                  </a:txBody>
                  <a:tcPr marT="38100" marB="38100" anchor="ctr">
                    <a:solidFill>
                      <a:srgbClr val="FFFFFF"/>
                    </a:solidFill>
                  </a:tcPr>
                </a:tc>
                <a:tc>
                  <a:txBody>
                    <a:bodyPr/>
                    <a:lstStyle/>
                    <a:p>
                      <a:r>
                        <a:rPr lang="vi-VN" sz="1300" b="0" i="0">
                          <a:solidFill>
                            <a:srgbClr val="232323"/>
                          </a:solidFill>
                          <a:latin typeface="Arial"/>
                        </a:rPr>
                        <a:t>Nhắc lại các kết quả đầu ra trong ngày; thảo luận về các kịch bản thiếu hụt và chỉ số đo lường tổn thất GDP mà mỗi nhóm sẽ áp dụng</a:t>
                      </a:r>
                    </a:p>
                  </a:txBody>
                  <a:tcPr marT="38100" marB="38100" anchor="ctr">
                    <a:solidFill>
                      <a:srgbClr val="FFFFFF"/>
                    </a:solidFill>
                  </a:tcPr>
                </a:tc>
                <a:extLst>
                  <a:ext uri="{0D108BD9-81ED-4DB2-BD59-A6C34878D82A}">
                    <a16:rowId xmlns:a16="http://schemas.microsoft.com/office/drawing/2014/main" val="10001"/>
                  </a:ext>
                </a:extLst>
              </a:tr>
              <a:tr h="815340">
                <a:tc>
                  <a:txBody>
                    <a:bodyPr/>
                    <a:lstStyle/>
                    <a:p>
                      <a:r>
                        <a:rPr lang="vi-VN" sz="1300" b="1" i="0">
                          <a:solidFill>
                            <a:srgbClr val="232323"/>
                          </a:solidFill>
                          <a:latin typeface="Arial"/>
                        </a:rPr>
                        <a:t>2. Thực hành mở có hướng dẫn (Phần 1)</a:t>
                      </a:r>
                    </a:p>
                  </a:txBody>
                  <a:tcPr marT="38100" marB="38100" anchor="ctr">
                    <a:solidFill>
                      <a:srgbClr val="F5F5F5"/>
                    </a:solidFill>
                  </a:tcPr>
                </a:tc>
                <a:tc>
                  <a:txBody>
                    <a:bodyPr/>
                    <a:lstStyle/>
                    <a:p>
                      <a:r>
                        <a:rPr lang="vi-VN" sz="1300" b="0" i="0">
                          <a:solidFill>
                            <a:srgbClr val="232323"/>
                          </a:solidFill>
                          <a:latin typeface="Arial"/>
                        </a:rPr>
                        <a:t>25</a:t>
                      </a:r>
                      <a:r>
                        <a:rPr lang="en-US" sz="1300" b="0" i="0">
                          <a:solidFill>
                            <a:srgbClr val="232323"/>
                          </a:solidFill>
                          <a:latin typeface="+mn-lt"/>
                        </a:rPr>
                        <a:t> phút</a:t>
                      </a:r>
                      <a:endParaRPr lang="vi-VN" sz="1300" b="0" i="0">
                        <a:solidFill>
                          <a:srgbClr val="232323"/>
                        </a:solidFill>
                        <a:latin typeface="Arial"/>
                      </a:endParaRPr>
                    </a:p>
                  </a:txBody>
                  <a:tcPr marT="38100" marB="38100" anchor="ctr">
                    <a:solidFill>
                      <a:srgbClr val="F5F5F5"/>
                    </a:solidFill>
                  </a:tcPr>
                </a:tc>
                <a:tc>
                  <a:txBody>
                    <a:bodyPr/>
                    <a:lstStyle/>
                    <a:p>
                      <a:r>
                        <a:rPr lang="vi-VN" sz="1300" b="0" i="0">
                          <a:solidFill>
                            <a:srgbClr val="232323"/>
                          </a:solidFill>
                          <a:latin typeface="Arial"/>
                        </a:rPr>
                        <a:t>Thiết lập kịch bản và trích xuất chỉ số tổn thất GDP cho các trường hợp thiếu hụt đã lựa chọn</a:t>
                      </a:r>
                    </a:p>
                  </a:txBody>
                  <a:tcPr marT="38100" marB="38100" anchor="ctr">
                    <a:solidFill>
                      <a:srgbClr val="F5F5F5"/>
                    </a:solidFill>
                  </a:tcPr>
                </a:tc>
                <a:extLst>
                  <a:ext uri="{0D108BD9-81ED-4DB2-BD59-A6C34878D82A}">
                    <a16:rowId xmlns:a16="http://schemas.microsoft.com/office/drawing/2014/main" val="10002"/>
                  </a:ext>
                </a:extLst>
              </a:tr>
              <a:tr h="815340">
                <a:tc>
                  <a:txBody>
                    <a:bodyPr/>
                    <a:lstStyle/>
                    <a:p>
                      <a:r>
                        <a:rPr lang="vi-VN" sz="1300" b="1" i="0" dirty="0">
                          <a:solidFill>
                            <a:srgbClr val="FF0000"/>
                          </a:solidFill>
                          <a:latin typeface="Arial"/>
                        </a:rPr>
                        <a:t>— Nghỉ giải lao —</a:t>
                      </a:r>
                    </a:p>
                  </a:txBody>
                  <a:tcPr marT="38100" marB="38100" anchor="ctr">
                    <a:solidFill>
                      <a:srgbClr val="FFFFFF"/>
                    </a:solidFill>
                  </a:tcPr>
                </a:tc>
                <a:tc>
                  <a:txBody>
                    <a:bodyPr/>
                    <a:lstStyle/>
                    <a:p>
                      <a:r>
                        <a:rPr lang="vi-VN" sz="1300" b="0" i="0" dirty="0">
                          <a:solidFill>
                            <a:srgbClr val="FF0000"/>
                          </a:solidFill>
                          <a:latin typeface="Arial"/>
                        </a:rPr>
                        <a:t>15</a:t>
                      </a:r>
                      <a:r>
                        <a:rPr lang="en-US" sz="1300" b="0" i="0" dirty="0">
                          <a:solidFill>
                            <a:srgbClr val="FF0000"/>
                          </a:solidFill>
                          <a:latin typeface="+mn-lt"/>
                        </a:rPr>
                        <a:t> </a:t>
                      </a:r>
                      <a:r>
                        <a:rPr lang="en-US" sz="1300" b="0" i="0" dirty="0" err="1">
                          <a:solidFill>
                            <a:srgbClr val="FF0000"/>
                          </a:solidFill>
                          <a:latin typeface="+mn-lt"/>
                        </a:rPr>
                        <a:t>phút</a:t>
                      </a:r>
                      <a:endParaRPr lang="vi-VN" sz="1300" b="0" i="0" dirty="0">
                        <a:solidFill>
                          <a:srgbClr val="FF0000"/>
                        </a:solidFill>
                        <a:latin typeface="Arial"/>
                      </a:endParaRPr>
                    </a:p>
                  </a:txBody>
                  <a:tcPr marT="38100" marB="38100" anchor="ctr">
                    <a:solidFill>
                      <a:srgbClr val="FFFFFF"/>
                    </a:solidFill>
                  </a:tcPr>
                </a:tc>
                <a:tc>
                  <a:txBody>
                    <a:bodyPr/>
                    <a:lstStyle/>
                    <a:p>
                      <a:endParaRPr/>
                    </a:p>
                  </a:txBody>
                  <a:tcPr marT="38100" marB="38100" anchor="ctr">
                    <a:solidFill>
                      <a:srgbClr val="FFFFFF"/>
                    </a:solidFill>
                  </a:tcPr>
                </a:tc>
                <a:extLst>
                  <a:ext uri="{0D108BD9-81ED-4DB2-BD59-A6C34878D82A}">
                    <a16:rowId xmlns:a16="http://schemas.microsoft.com/office/drawing/2014/main" val="10003"/>
                  </a:ext>
                </a:extLst>
              </a:tr>
              <a:tr h="815340">
                <a:tc>
                  <a:txBody>
                    <a:bodyPr/>
                    <a:lstStyle/>
                    <a:p>
                      <a:r>
                        <a:rPr lang="vi-VN" sz="1300" b="1" i="0">
                          <a:solidFill>
                            <a:srgbClr val="232323"/>
                          </a:solidFill>
                          <a:latin typeface="Arial"/>
                        </a:rPr>
                        <a:t>3. Thực hành mở có hướng dẫn (Phần 2)</a:t>
                      </a:r>
                      <a:endParaRPr lang="en-US" sz="1300" b="1" i="0">
                        <a:solidFill>
                          <a:srgbClr val="232323"/>
                        </a:solidFill>
                        <a:latin typeface="Arial"/>
                      </a:endParaRPr>
                    </a:p>
                    <a:p>
                      <a:r>
                        <a:rPr lang="vi-VN" sz="1300" b="1" i="0">
                          <a:solidFill>
                            <a:srgbClr val="232323"/>
                          </a:solidFill>
                          <a:latin typeface="Arial"/>
                        </a:rPr>
                        <a:t>— Báo cáo</a:t>
                      </a:r>
                    </a:p>
                  </a:txBody>
                  <a:tcPr marT="38100" marB="38100" anchor="ctr">
                    <a:solidFill>
                      <a:srgbClr val="F5F5F5"/>
                    </a:solidFill>
                  </a:tcPr>
                </a:tc>
                <a:tc>
                  <a:txBody>
                    <a:bodyPr/>
                    <a:lstStyle/>
                    <a:p>
                      <a:r>
                        <a:rPr lang="vi-VN" sz="1300" b="0" i="0">
                          <a:solidFill>
                            <a:srgbClr val="232323"/>
                          </a:solidFill>
                          <a:latin typeface="Arial"/>
                        </a:rPr>
                        <a:t>35</a:t>
                      </a:r>
                      <a:r>
                        <a:rPr lang="en-US" sz="1300" b="0" i="0">
                          <a:solidFill>
                            <a:srgbClr val="232323"/>
                          </a:solidFill>
                          <a:latin typeface="+mn-lt"/>
                        </a:rPr>
                        <a:t> phút</a:t>
                      </a:r>
                      <a:endParaRPr lang="vi-VN" sz="1300" b="0" i="0">
                        <a:solidFill>
                          <a:srgbClr val="232323"/>
                        </a:solidFill>
                        <a:latin typeface="Arial"/>
                      </a:endParaRPr>
                    </a:p>
                  </a:txBody>
                  <a:tcPr marT="38100" marB="38100" anchor="ctr">
                    <a:solidFill>
                      <a:srgbClr val="F5F5F5"/>
                    </a:solidFill>
                  </a:tcPr>
                </a:tc>
                <a:tc>
                  <a:txBody>
                    <a:bodyPr/>
                    <a:lstStyle/>
                    <a:p>
                      <a:r>
                        <a:rPr lang="vi-VN" sz="1300" b="0" i="0">
                          <a:solidFill>
                            <a:srgbClr val="232323"/>
                          </a:solidFill>
                          <a:latin typeface="Arial"/>
                        </a:rPr>
                        <a:t>Hoàn thiện ghi chú phân tích kịch bản thiếu hụt: dữ liệu đầu vào, ước tính tổn thất GDP, so sánh và các vấn đề còn mở</a:t>
                      </a:r>
                    </a:p>
                  </a:txBody>
                  <a:tcPr marT="38100" marB="38100" anchor="ctr">
                    <a:solidFill>
                      <a:srgbClr val="F5F5F5"/>
                    </a:solidFill>
                  </a:tcPr>
                </a:tc>
                <a:extLst>
                  <a:ext uri="{0D108BD9-81ED-4DB2-BD59-A6C34878D82A}">
                    <a16:rowId xmlns:a16="http://schemas.microsoft.com/office/drawing/2014/main" val="10004"/>
                  </a:ext>
                </a:extLst>
              </a:tr>
              <a:tr h="815340">
                <a:tc>
                  <a:txBody>
                    <a:bodyPr/>
                    <a:lstStyle/>
                    <a:p>
                      <a:r>
                        <a:rPr lang="vi-VN" sz="1300" b="1" i="0">
                          <a:solidFill>
                            <a:srgbClr val="232323"/>
                          </a:solidFill>
                          <a:latin typeface="Arial"/>
                        </a:rPr>
                        <a:t>4. Báo cáo kết quả &amp; Tóm tắt</a:t>
                      </a:r>
                    </a:p>
                  </a:txBody>
                  <a:tcPr marT="38100" marB="38100" anchor="ctr">
                    <a:solidFill>
                      <a:srgbClr val="FFFFFF"/>
                    </a:solidFill>
                  </a:tcPr>
                </a:tc>
                <a:tc>
                  <a:txBody>
                    <a:bodyPr/>
                    <a:lstStyle/>
                    <a:p>
                      <a:r>
                        <a:rPr lang="vi-VN" sz="1300" b="0" i="0">
                          <a:solidFill>
                            <a:srgbClr val="232323"/>
                          </a:solidFill>
                          <a:latin typeface="Arial"/>
                        </a:rPr>
                        <a:t>15</a:t>
                      </a:r>
                      <a:r>
                        <a:rPr lang="en-US" sz="1300" b="0" i="0">
                          <a:solidFill>
                            <a:srgbClr val="232323"/>
                          </a:solidFill>
                          <a:latin typeface="+mn-lt"/>
                        </a:rPr>
                        <a:t> phút</a:t>
                      </a:r>
                      <a:endParaRPr lang="vi-VN" sz="1300" b="0" i="0">
                        <a:solidFill>
                          <a:srgbClr val="232323"/>
                        </a:solidFill>
                        <a:latin typeface="Arial"/>
                      </a:endParaRPr>
                    </a:p>
                  </a:txBody>
                  <a:tcPr marT="38100" marB="38100" anchor="ctr">
                    <a:solidFill>
                      <a:srgbClr val="FFFFFF"/>
                    </a:solidFill>
                  </a:tcPr>
                </a:tc>
                <a:tc>
                  <a:txBody>
                    <a:bodyPr/>
                    <a:lstStyle/>
                    <a:p>
                      <a:r>
                        <a:rPr lang="vi-VN" sz="1300" b="0" i="0" dirty="0">
                          <a:solidFill>
                            <a:srgbClr val="232323"/>
                          </a:solidFill>
                          <a:latin typeface="Arial"/>
                        </a:rPr>
                        <a:t>Các nhóm báo cáo nhanh kết quả công việc</a:t>
                      </a:r>
                    </a:p>
                  </a:txBody>
                  <a:tcPr marT="38100" marB="38100"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pPr>
              <a:spcAft>
                <a:spcPts val="1400"/>
              </a:spcAft>
            </a:pPr>
            <a:r>
              <a:rPr lang="vi-VN" sz="1100" b="1" i="0">
                <a:solidFill>
                  <a:srgbClr val="FFD2D2"/>
                </a:solidFill>
                <a:latin typeface="Arial"/>
              </a:rPr>
              <a:t>PHẦN 1</a:t>
            </a:r>
          </a:p>
          <a:p>
            <a:r>
              <a:rPr lang="vi-VN" sz="2400" b="1" i="0">
                <a:solidFill>
                  <a:srgbClr val="FFFFFF"/>
                </a:solidFill>
                <a:latin typeface="Arial"/>
              </a:rPr>
              <a:t>Trước khi bắt đầu: Nhắc lại lưu ý về phạm vi mô hình</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3 — Thứ 6, ngày 24/7/2026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3</a:t>
            </a:r>
          </a:p>
        </p:txBody>
      </p:sp>
      <p:sp>
        <p:nvSpPr>
          <p:cNvPr id="9" name="Rounded Rectangle 8"/>
          <p:cNvSpPr/>
          <p:nvPr/>
        </p:nvSpPr>
        <p:spPr>
          <a:xfrm>
            <a:off x="502920" y="1554480"/>
            <a:ext cx="11185855" cy="1051560"/>
          </a:xfrm>
          <a:prstGeom prst="roundRect">
            <a:avLst/>
          </a:prstGeom>
          <a:solidFill>
            <a:srgbClr val="FFF4E5"/>
          </a:solidFill>
          <a:ln w="19050">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ctr"/>
            <a:r>
              <a:rPr lang="vi-VN" sz="1900" b="1" i="1">
                <a:solidFill>
                  <a:srgbClr val="B26A00"/>
                </a:solidFill>
                <a:latin typeface="Arial"/>
              </a:rPr>
              <a:t>Kết quả làm việc hôm nay cần dựa trên các đầu ra của mô hình DGE-METRIC hoặc </a:t>
            </a:r>
            <a:endParaRPr lang="en-US" sz="1900" b="1" i="1">
              <a:solidFill>
                <a:srgbClr val="B26A00"/>
              </a:solidFill>
              <a:latin typeface="Arial"/>
            </a:endParaRPr>
          </a:p>
          <a:p>
            <a:pPr algn="ctr"/>
            <a:r>
              <a:rPr lang="vi-VN" sz="1900" b="1" i="1">
                <a:solidFill>
                  <a:srgbClr val="B26A00"/>
                </a:solidFill>
                <a:latin typeface="Arial"/>
              </a:rPr>
              <a:t>từ các thiết lập kịch bản sốc thử nghiệm đã được chuẩn bị sẵn.</a:t>
            </a:r>
          </a:p>
        </p:txBody>
      </p:sp>
      <p:sp>
        <p:nvSpPr>
          <p:cNvPr id="10" name="TextBox 9"/>
          <p:cNvSpPr txBox="1"/>
          <p:nvPr/>
        </p:nvSpPr>
        <p:spPr>
          <a:xfrm>
            <a:off x="502920" y="2788920"/>
            <a:ext cx="11541676" cy="1267014"/>
          </a:xfrm>
          <a:prstGeom prst="rect">
            <a:avLst/>
          </a:prstGeom>
          <a:noFill/>
        </p:spPr>
        <p:txBody>
          <a:bodyPr wrap="square">
            <a:spAutoFit/>
          </a:bodyPr>
          <a:lstStyle/>
          <a:p>
            <a:pPr marL="0" indent="0">
              <a:spcAft>
                <a:spcPts val="1000"/>
              </a:spcAft>
            </a:pPr>
            <a:r>
              <a:rPr lang="vi-VN" sz="1700" b="0" i="0" dirty="0">
                <a:solidFill>
                  <a:srgbClr val="232323"/>
                </a:solidFill>
                <a:latin typeface="Arial"/>
              </a:rPr>
              <a:t>•  Bất kỳ số liệu nào từ mô hình thu gọn chỉ có giá trị kiểm tra cơ chế tác động, không phải là kết quả cuối cùng từ DGE-METRIC.</a:t>
            </a:r>
          </a:p>
          <a:p>
            <a:pPr marL="0" indent="0">
              <a:spcAft>
                <a:spcPts val="1000"/>
              </a:spcAft>
            </a:pPr>
            <a:r>
              <a:rPr lang="vi-VN" sz="1700" b="1" i="0" dirty="0">
                <a:solidFill>
                  <a:srgbClr val="232323"/>
                </a:solidFill>
                <a:latin typeface="Arial"/>
              </a:rPr>
              <a:t>•  Nếu được yêu cầu xếp hạng tổn thất GDP duy nhất cho tất cả các kịch bản thiếu hụt: </a:t>
            </a:r>
            <a:r>
              <a:rPr lang="en-US" sz="1700" b="1" i="0" dirty="0">
                <a:solidFill>
                  <a:srgbClr val="232323"/>
                </a:solidFill>
                <a:latin typeface="Arial"/>
              </a:rPr>
              <a:t>T</a:t>
            </a:r>
            <a:r>
              <a:rPr lang="vi-VN" sz="1700" b="1" i="0" dirty="0">
                <a:solidFill>
                  <a:srgbClr val="232323"/>
                </a:solidFill>
                <a:latin typeface="Arial"/>
              </a:rPr>
              <a:t>ái khẳng định rằng kết quả phụ thuộc vào cách định nghĩa kịch bản, thước đo được lựa chọn và khung thời gian phân tích.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4841"/>
            <a:ext cx="11541676" cy="810478"/>
          </a:xfrm>
          <a:prstGeom prst="rect">
            <a:avLst/>
          </a:prstGeom>
          <a:noFill/>
        </p:spPr>
        <p:txBody>
          <a:bodyPr wrap="square" anchor="ctr">
            <a:spAutoFit/>
          </a:bodyPr>
          <a:lstStyle/>
          <a:p>
            <a:pPr>
              <a:spcAft>
                <a:spcPts val="1400"/>
              </a:spcAft>
            </a:pPr>
            <a:r>
              <a:rPr lang="vi-VN" sz="1100" b="1" i="0">
                <a:solidFill>
                  <a:srgbClr val="FFD2D2"/>
                </a:solidFill>
                <a:latin typeface="Arial"/>
              </a:rPr>
              <a:t>PHẦN 2 · 25 PHÚT</a:t>
            </a:r>
          </a:p>
          <a:p>
            <a:r>
              <a:rPr lang="vi-VN" sz="2400" b="1" i="0">
                <a:solidFill>
                  <a:srgbClr val="FFFFFF"/>
                </a:solidFill>
                <a:latin typeface="Arial"/>
              </a:rPr>
              <a:t>Kiểm tra mô hình thu gọn — Tổn thất năng lượng trong quá trình chuyển dịch</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3 — Thứ 6, ngày 24/7/2026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6</a:t>
            </a:r>
          </a:p>
        </p:txBody>
      </p:sp>
      <p:sp>
        <p:nvSpPr>
          <p:cNvPr id="9" name="TextBox 8"/>
          <p:cNvSpPr txBox="1"/>
          <p:nvPr/>
        </p:nvSpPr>
        <p:spPr>
          <a:xfrm>
            <a:off x="502920" y="1554480"/>
            <a:ext cx="11449594" cy="2308324"/>
          </a:xfrm>
          <a:prstGeom prst="rect">
            <a:avLst/>
          </a:prstGeom>
          <a:noFill/>
        </p:spPr>
        <p:txBody>
          <a:bodyPr wrap="square">
            <a:spAutoFit/>
          </a:bodyPr>
          <a:lstStyle/>
          <a:p>
            <a:pPr marL="0" indent="0">
              <a:spcAft>
                <a:spcPts val="1000"/>
              </a:spcAft>
            </a:pPr>
            <a:r>
              <a:rPr lang="vi-VN" sz="1700" b="0" i="0" dirty="0">
                <a:solidFill>
                  <a:srgbClr val="232323"/>
                </a:solidFill>
                <a:latin typeface="Arial"/>
              </a:rPr>
              <a:t>•  Mở tệp Day 2/Toy Model/Exercise3_ScenarioTemplate.mod</a:t>
            </a:r>
          </a:p>
          <a:p>
            <a:pPr marL="0" indent="0">
              <a:spcAft>
                <a:spcPts val="1000"/>
              </a:spcAft>
            </a:pPr>
            <a:r>
              <a:rPr lang="vi-VN" sz="1700" b="0" i="0" dirty="0">
                <a:solidFill>
                  <a:srgbClr val="232323"/>
                </a:solidFill>
                <a:latin typeface="Arial"/>
              </a:rPr>
              <a:t>•  Kích hoạt K</a:t>
            </a:r>
            <a:r>
              <a:rPr lang="en-US" sz="1700" dirty="0" err="1">
                <a:solidFill>
                  <a:srgbClr val="232323"/>
                </a:solidFill>
                <a:latin typeface="Arial"/>
              </a:rPr>
              <a:t>ịch</a:t>
            </a:r>
            <a:r>
              <a:rPr lang="en-US" sz="1700" dirty="0">
                <a:solidFill>
                  <a:srgbClr val="232323"/>
                </a:solidFill>
                <a:latin typeface="Arial"/>
              </a:rPr>
              <a:t> </a:t>
            </a:r>
            <a:r>
              <a:rPr lang="en-US" sz="1700" dirty="0" err="1">
                <a:solidFill>
                  <a:srgbClr val="232323"/>
                </a:solidFill>
                <a:latin typeface="Arial"/>
              </a:rPr>
              <a:t>bản</a:t>
            </a:r>
            <a:r>
              <a:rPr lang="vi-VN" sz="1700" b="0" i="0" dirty="0">
                <a:solidFill>
                  <a:srgbClr val="232323"/>
                </a:solidFill>
                <a:latin typeface="Arial"/>
              </a:rPr>
              <a:t> 4 (Kịch bản bù đắp một phần): Mức sụt giảm năng lượng truyền thống chỉ được bù đắp một phần bởi sự gia tăng của năng lượng sạch, dẫn đến tổng lượng dịch vụ năng lượng E bị suy giảm.</a:t>
            </a:r>
          </a:p>
          <a:p>
            <a:pPr>
              <a:spcAft>
                <a:spcPts val="1000"/>
              </a:spcAft>
            </a:pPr>
            <a:r>
              <a:rPr lang="vi-VN" sz="1700" b="0" i="0" dirty="0">
                <a:solidFill>
                  <a:srgbClr val="232323"/>
                </a:solidFill>
                <a:latin typeface="Arial"/>
              </a:rPr>
              <a:t>•  So sánh K</a:t>
            </a:r>
            <a:r>
              <a:rPr lang="en-US" sz="1700" dirty="0" err="1">
                <a:solidFill>
                  <a:srgbClr val="232323"/>
                </a:solidFill>
                <a:latin typeface="Arial"/>
              </a:rPr>
              <a:t>ịch</a:t>
            </a:r>
            <a:r>
              <a:rPr lang="en-US" sz="1700" dirty="0">
                <a:solidFill>
                  <a:srgbClr val="232323"/>
                </a:solidFill>
                <a:latin typeface="Arial"/>
              </a:rPr>
              <a:t> </a:t>
            </a:r>
            <a:r>
              <a:rPr lang="en-US" sz="1700" dirty="0" err="1">
                <a:solidFill>
                  <a:srgbClr val="232323"/>
                </a:solidFill>
                <a:latin typeface="Arial"/>
              </a:rPr>
              <a:t>bản</a:t>
            </a:r>
            <a:r>
              <a:rPr lang="vi-VN" sz="1700" b="0" i="0" dirty="0">
                <a:solidFill>
                  <a:srgbClr val="232323"/>
                </a:solidFill>
                <a:latin typeface="Arial"/>
              </a:rPr>
              <a:t> 4 với </a:t>
            </a:r>
            <a:r>
              <a:rPr lang="vi-VN" sz="1700" dirty="0">
                <a:solidFill>
                  <a:srgbClr val="232323"/>
                </a:solidFill>
              </a:rPr>
              <a:t>K</a:t>
            </a:r>
            <a:r>
              <a:rPr lang="en-US" sz="1700" dirty="0" err="1">
                <a:solidFill>
                  <a:srgbClr val="232323"/>
                </a:solidFill>
              </a:rPr>
              <a:t>ịch</a:t>
            </a:r>
            <a:r>
              <a:rPr lang="en-US" sz="1700" dirty="0">
                <a:solidFill>
                  <a:srgbClr val="232323"/>
                </a:solidFill>
              </a:rPr>
              <a:t> </a:t>
            </a:r>
            <a:r>
              <a:rPr lang="en-US" sz="1700" dirty="0" err="1">
                <a:solidFill>
                  <a:srgbClr val="232323"/>
                </a:solidFill>
              </a:rPr>
              <a:t>bản</a:t>
            </a:r>
            <a:r>
              <a:rPr lang="vi-VN" sz="1700" b="0" i="0" dirty="0">
                <a:solidFill>
                  <a:srgbClr val="232323"/>
                </a:solidFill>
                <a:latin typeface="Arial"/>
              </a:rPr>
              <a:t> 1 (Chuyển dịch cân bằng) về các chỉ số dịch vụ năng lượng E, sản lượng Y, và đầu tư I</a:t>
            </a:r>
          </a:p>
          <a:p>
            <a:pPr marL="0" indent="0">
              <a:spcAft>
                <a:spcPts val="1000"/>
              </a:spcAft>
            </a:pPr>
            <a:r>
              <a:rPr lang="vi-VN" sz="1700" b="0" i="0" dirty="0">
                <a:solidFill>
                  <a:srgbClr val="232323"/>
                </a:solidFill>
                <a:latin typeface="Arial"/>
              </a:rPr>
              <a:t>•  Viết 01 câu đánh giá cơ chế tác động: Tổng dịch vụ năng lượng E = E_D + E_C, do đó việc tổng lượng E sụt giảm sẽ làm thay đổi các kết quả kinh tế vĩ mô.</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pPr>
              <a:spcAft>
                <a:spcPts val="1400"/>
              </a:spcAft>
            </a:pPr>
            <a:r>
              <a:rPr lang="vi-VN" sz="1100" b="1" i="0">
                <a:solidFill>
                  <a:srgbClr val="FFD2D2"/>
                </a:solidFill>
                <a:latin typeface="Arial"/>
              </a:rPr>
              <a:t>PHẦN 1 · 60 PHÚT</a:t>
            </a:r>
          </a:p>
          <a:p>
            <a:r>
              <a:rPr lang="vi-VN" sz="2400" b="1" i="0">
                <a:solidFill>
                  <a:srgbClr val="FFFFFF"/>
                </a:solidFill>
                <a:latin typeface="Arial"/>
              </a:rPr>
              <a:t>Tóm tắt &amp; Thảo luận</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3 — Thứ 6, ngày 24/7/2026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4</a:t>
            </a:r>
          </a:p>
        </p:txBody>
      </p:sp>
      <p:sp>
        <p:nvSpPr>
          <p:cNvPr id="9" name="TextBox 8"/>
          <p:cNvSpPr txBox="1"/>
          <p:nvPr/>
        </p:nvSpPr>
        <p:spPr>
          <a:xfrm>
            <a:off x="502920" y="1554480"/>
            <a:ext cx="11185855" cy="2698175"/>
          </a:xfrm>
          <a:prstGeom prst="rect">
            <a:avLst/>
          </a:prstGeom>
          <a:noFill/>
        </p:spPr>
        <p:txBody>
          <a:bodyPr wrap="square">
            <a:spAutoFit/>
          </a:bodyPr>
          <a:lstStyle/>
          <a:p>
            <a:pPr marL="0" indent="0" algn="just">
              <a:spcAft>
                <a:spcPts val="1000"/>
              </a:spcAft>
            </a:pPr>
            <a:r>
              <a:rPr lang="vi-VN" sz="1700" b="0" i="0" dirty="0">
                <a:solidFill>
                  <a:srgbClr val="232323"/>
                </a:solidFill>
                <a:latin typeface="Arial"/>
              </a:rPr>
              <a:t>•  Nội dung chiều qua: Xây dựng kế hoạch thực hiện cho 1 hoặc 2 kịch bản thiếu hụt năng lượng và xác định các dữ liệu đầu ra DGE-METRIC cần thiết.</a:t>
            </a:r>
          </a:p>
          <a:p>
            <a:pPr marL="0" indent="0" algn="just">
              <a:spcAft>
                <a:spcPts val="1000"/>
              </a:spcAft>
            </a:pPr>
            <a:r>
              <a:rPr lang="vi-VN" sz="1700" b="0" i="0" dirty="0">
                <a:solidFill>
                  <a:srgbClr val="232323"/>
                </a:solidFill>
                <a:latin typeface="Arial"/>
              </a:rPr>
              <a:t>•  Trọng tâm hôm nay: Tính toán mức tổn thất GDP cho từng kịch bản và tiến hành so sánh các kết quả.</a:t>
            </a:r>
          </a:p>
          <a:p>
            <a:pPr marL="0" indent="0" algn="just">
              <a:spcAft>
                <a:spcPts val="1000"/>
              </a:spcAft>
            </a:pPr>
            <a:r>
              <a:rPr lang="vi-VN" sz="1700" b="0" i="0" dirty="0">
                <a:solidFill>
                  <a:srgbClr val="232323"/>
                </a:solidFill>
                <a:latin typeface="Arial"/>
              </a:rPr>
              <a:t>•  Lựa chọn kịch bản của nhóm anh/chị: Thiếu hụt nguồn nhiên liệu hóa thạch đầu vào, sụt giảm sản lượng NLTT, hoặc một kịch bản thiếu hụt khác đã được giảng viên duyệt.</a:t>
            </a:r>
          </a:p>
          <a:p>
            <a:pPr marL="0" indent="0" algn="just">
              <a:spcAft>
                <a:spcPts val="1000"/>
              </a:spcAft>
            </a:pPr>
            <a:r>
              <a:rPr lang="vi-VN" sz="1700" b="0" i="0" dirty="0">
                <a:solidFill>
                  <a:srgbClr val="232323"/>
                </a:solidFill>
                <a:latin typeface="Arial"/>
              </a:rPr>
              <a:t>•  Thảo luận về các vướng mắc và câu hỏi còn bỏ ngỏ trước khi bắt đầu phần thực hành.</a:t>
            </a:r>
          </a:p>
          <a:p>
            <a:pPr marL="0" indent="0" algn="just">
              <a:spcAft>
                <a:spcPts val="1000"/>
              </a:spcAft>
            </a:pPr>
            <a:r>
              <a:rPr lang="vi-VN" sz="1700" b="1" i="0" dirty="0">
                <a:solidFill>
                  <a:srgbClr val="232323"/>
                </a:solidFill>
                <a:latin typeface="Arial"/>
              </a:rPr>
              <a:t>•  Lưu ý cho ngày hôm nay: Không bổ sung lý thuyết mới — tập trung áp dụng các dữ liệu đầu ra từ DGE-METRIC hoặc các thiết lập đã chuẩn bị sẵn cho các kịch bản nhóm anh/chị đã chọn.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pPr>
              <a:spcAft>
                <a:spcPts val="1400"/>
              </a:spcAft>
            </a:pPr>
            <a:r>
              <a:rPr lang="vi-VN" sz="1100" b="1" i="0">
                <a:solidFill>
                  <a:srgbClr val="FFD2D2"/>
                </a:solidFill>
                <a:latin typeface="Arial"/>
              </a:rPr>
              <a:t>PHẦN 2 · 25 PHÚT</a:t>
            </a:r>
          </a:p>
          <a:p>
            <a:r>
              <a:rPr lang="vi-VN" sz="2400" b="1" i="0">
                <a:solidFill>
                  <a:srgbClr val="FFFFFF"/>
                </a:solidFill>
                <a:latin typeface="Arial"/>
              </a:rPr>
              <a:t>Thực hành mở có hướng dẫn — Tính toán Tổn thất GDP</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3 — Thứ 6, ngày 24/7/2026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5</a:t>
            </a:r>
          </a:p>
        </p:txBody>
      </p:sp>
      <p:sp>
        <p:nvSpPr>
          <p:cNvPr id="9" name="TextBox 8"/>
          <p:cNvSpPr txBox="1"/>
          <p:nvPr/>
        </p:nvSpPr>
        <p:spPr>
          <a:xfrm>
            <a:off x="515620" y="1554480"/>
            <a:ext cx="11185855" cy="3349635"/>
          </a:xfrm>
          <a:prstGeom prst="rect">
            <a:avLst/>
          </a:prstGeom>
          <a:noFill/>
        </p:spPr>
        <p:txBody>
          <a:bodyPr wrap="square">
            <a:spAutoFit/>
          </a:bodyPr>
          <a:lstStyle/>
          <a:p>
            <a:pPr marL="0" indent="0" algn="just">
              <a:spcAft>
                <a:spcPts val="1000"/>
              </a:spcAft>
            </a:pPr>
            <a:r>
              <a:rPr lang="vi-VN" sz="1700" b="0" i="0" dirty="0">
                <a:solidFill>
                  <a:srgbClr val="232323"/>
                </a:solidFill>
                <a:latin typeface="Arial"/>
              </a:rPr>
              <a:t>•  Xây dựng kịch bản thiếu hụt: Xác định đối tượng bị thiếu hụt, quy mô cú sốc và khung thời gian tác động.</a:t>
            </a:r>
          </a:p>
          <a:p>
            <a:pPr marL="0" indent="0" algn="just">
              <a:spcAft>
                <a:spcPts val="1000"/>
              </a:spcAft>
            </a:pPr>
            <a:r>
              <a:rPr lang="vi-VN" sz="1700" b="0" i="0" dirty="0">
                <a:solidFill>
                  <a:srgbClr val="232323"/>
                </a:solidFill>
                <a:latin typeface="Arial"/>
              </a:rPr>
              <a:t>•  Xác định thước đo tổn thất GDP: Lựa chọn chỉ số sẽ báo cáo — mức thay đổi tuyệt đối, tổn thất tích lũy, mức giảm phần trăm, hoặc một thước đo khác được sử dụng trong kết quả của mô hình.</a:t>
            </a:r>
          </a:p>
          <a:p>
            <a:pPr marL="0" indent="0" algn="just">
              <a:spcAft>
                <a:spcPts val="1000"/>
              </a:spcAft>
            </a:pPr>
            <a:r>
              <a:rPr lang="vi-VN" sz="1700" b="0" i="0" dirty="0">
                <a:solidFill>
                  <a:srgbClr val="232323"/>
                </a:solidFill>
                <a:latin typeface="Arial"/>
              </a:rPr>
              <a:t>•  Sử dụng các thiết lập kịch bản sốc thử nghiệm hoặc dữ liệu đầu ra đã chuẩn bị sẵn từ DGE-METRIC để tính toán tổn thất GDP cho từng kịch bản.</a:t>
            </a:r>
          </a:p>
          <a:p>
            <a:pPr marL="0" indent="0" algn="just">
              <a:spcAft>
                <a:spcPts val="1000"/>
              </a:spcAft>
            </a:pPr>
            <a:r>
              <a:rPr lang="vi-VN" sz="1700" b="0" i="0" dirty="0">
                <a:solidFill>
                  <a:srgbClr val="232323"/>
                </a:solidFill>
                <a:latin typeface="Arial"/>
              </a:rPr>
              <a:t>•  Nếu nhóm anh/chị đã chạy kịch bản hiệu quả năng lượng (Buổi sáng Ngày 2): Kịch bản đó làm giảm nhẹ hay khuếch đại mức tổn thất GDP từ cú sốc thiếu hụt năng lượng?</a:t>
            </a:r>
          </a:p>
          <a:p>
            <a:pPr marL="0" indent="0" algn="just">
              <a:spcAft>
                <a:spcPts val="1000"/>
              </a:spcAft>
            </a:pPr>
            <a:r>
              <a:rPr lang="vi-VN" sz="1700" b="0" i="0" dirty="0">
                <a:solidFill>
                  <a:srgbClr val="232323"/>
                </a:solidFill>
                <a:latin typeface="Arial"/>
              </a:rPr>
              <a:t>•  So sánh các kịch bản: Kịch bản nào gây ra tổn thất GDP lớn nhất và cơ chế nào giải thích cho sự khác biệt đó?</a:t>
            </a:r>
          </a:p>
          <a:p>
            <a:pPr marL="0" indent="0" algn="just">
              <a:spcAft>
                <a:spcPts val="1000"/>
              </a:spcAft>
            </a:pPr>
            <a:r>
              <a:rPr lang="vi-VN" sz="1700" b="0" i="0" dirty="0">
                <a:solidFill>
                  <a:srgbClr val="232323"/>
                </a:solidFill>
                <a:latin typeface="Arial"/>
              </a:rPr>
              <a:t>•  Phân tích độ nhạy: Sự thay đổi nào về quy mô cú sốc, thời điểm xuất hiện hoặc </a:t>
            </a:r>
            <a:r>
              <a:rPr lang="en-US" sz="1700" b="0" i="0" dirty="0" err="1">
                <a:solidFill>
                  <a:srgbClr val="232323"/>
                </a:solidFill>
                <a:latin typeface="Arial"/>
              </a:rPr>
              <a:t>loại</a:t>
            </a:r>
            <a:r>
              <a:rPr lang="vi-VN" sz="1700" b="0" i="0" dirty="0">
                <a:solidFill>
                  <a:srgbClr val="232323"/>
                </a:solidFill>
                <a:latin typeface="Arial"/>
              </a:rPr>
              <a:t> năng lượng</a:t>
            </a:r>
            <a:r>
              <a:rPr lang="en-US" sz="1700" b="0" i="0" dirty="0">
                <a:solidFill>
                  <a:srgbClr val="232323"/>
                </a:solidFill>
                <a:latin typeface="Arial"/>
              </a:rPr>
              <a:t>/</a:t>
            </a:r>
            <a:r>
              <a:rPr lang="en-US" sz="1700" b="0" i="0" dirty="0" err="1">
                <a:solidFill>
                  <a:srgbClr val="232323"/>
                </a:solidFill>
                <a:latin typeface="Arial"/>
              </a:rPr>
              <a:t>nhiên</a:t>
            </a:r>
            <a:r>
              <a:rPr lang="en-US" sz="1700" b="0" i="0" dirty="0">
                <a:solidFill>
                  <a:srgbClr val="232323"/>
                </a:solidFill>
                <a:latin typeface="Arial"/>
              </a:rPr>
              <a:t> </a:t>
            </a:r>
            <a:r>
              <a:rPr lang="en-US" sz="1700" b="0" i="0" dirty="0" err="1">
                <a:solidFill>
                  <a:srgbClr val="232323"/>
                </a:solidFill>
                <a:latin typeface="Arial"/>
              </a:rPr>
              <a:t>liệu</a:t>
            </a:r>
            <a:r>
              <a:rPr lang="en-US" sz="1700" b="0" i="0" dirty="0">
                <a:solidFill>
                  <a:srgbClr val="232323"/>
                </a:solidFill>
                <a:latin typeface="Arial"/>
              </a:rPr>
              <a:t> </a:t>
            </a:r>
            <a:r>
              <a:rPr lang="vi-VN" sz="1700" b="0" i="0" dirty="0">
                <a:solidFill>
                  <a:srgbClr val="232323"/>
                </a:solidFill>
                <a:latin typeface="Arial"/>
              </a:rPr>
              <a:t>bị ảnh hưởng sẽ làm thay đổi đáng kể thứ tự xếp hạng tổn thất GDP?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GIZ_Logo.png"/>
          <p:cNvPicPr>
            <a:picLocks noChangeAspect="1"/>
          </p:cNvPicPr>
          <p:nvPr/>
        </p:nvPicPr>
        <p:blipFill>
          <a:blip r:embed="rId2"/>
          <a:stretch>
            <a:fillRect/>
          </a:stretch>
        </p:blipFill>
        <p:spPr>
          <a:xfrm>
            <a:off x="10088575" y="457200"/>
            <a:ext cx="1656522" cy="457200"/>
          </a:xfrm>
          <a:prstGeom prst="rect">
            <a:avLst/>
          </a:prstGeom>
        </p:spPr>
      </p:pic>
      <p:sp>
        <p:nvSpPr>
          <p:cNvPr id="4" name="TextBox 3"/>
          <p:cNvSpPr txBox="1"/>
          <p:nvPr/>
        </p:nvSpPr>
        <p:spPr>
          <a:xfrm>
            <a:off x="822960" y="2651760"/>
            <a:ext cx="10058400" cy="2011680"/>
          </a:xfrm>
          <a:prstGeom prst="rect">
            <a:avLst/>
          </a:prstGeom>
          <a:noFill/>
        </p:spPr>
        <p:txBody>
          <a:bodyPr wrap="square">
            <a:spAutoFit/>
          </a:bodyPr>
          <a:lstStyle/>
          <a:p>
            <a:pPr>
              <a:spcAft>
                <a:spcPts val="1000"/>
              </a:spcAft>
            </a:pPr>
            <a:r>
              <a:rPr lang="vi-VN" sz="1500" b="1" i="0">
                <a:solidFill>
                  <a:srgbClr val="FFD2D2"/>
                </a:solidFill>
                <a:latin typeface="Arial"/>
              </a:rPr>
              <a:t>NGHỈ GIẢI LAO</a:t>
            </a:r>
          </a:p>
          <a:p>
            <a:r>
              <a:rPr lang="vi-VN" sz="3400" b="1" i="0">
                <a:solidFill>
                  <a:srgbClr val="FFFFFF"/>
                </a:solidFill>
                <a:latin typeface="Arial"/>
              </a:rPr>
              <a:t>15 phút</a:t>
            </a:r>
          </a:p>
          <a:p>
            <a:pPr>
              <a:spcBef>
                <a:spcPts val="1400"/>
              </a:spcBef>
            </a:pPr>
            <a:r>
              <a:rPr lang="vi-VN" sz="1700" b="0" i="0">
                <a:solidFill>
                  <a:srgbClr val="FFFFFF"/>
                </a:solidFill>
                <a:latin typeface="Arial"/>
              </a:rPr>
              <a:t>Nội dung tiếp theo: Hoàn thiện phần ghi chú phân tích.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pPr>
              <a:spcAft>
                <a:spcPts val="1400"/>
              </a:spcAft>
            </a:pPr>
            <a:r>
              <a:rPr lang="vi-VN" sz="1100" b="1" i="0">
                <a:solidFill>
                  <a:srgbClr val="FFD2D2"/>
                </a:solidFill>
                <a:latin typeface="Arial"/>
              </a:rPr>
              <a:t>PHẦN 3 · 35 PHÚT</a:t>
            </a:r>
          </a:p>
          <a:p>
            <a:r>
              <a:rPr lang="vi-VN" sz="2400" b="1" i="0">
                <a:solidFill>
                  <a:srgbClr val="FFFFFF"/>
                </a:solidFill>
                <a:latin typeface="Arial"/>
              </a:rPr>
              <a:t>Hoàn thiện ghi chú phân tích kịch bản thiếu hụt</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3 — Thứ 6, ngày 24/7/2026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7</a:t>
            </a:r>
          </a:p>
        </p:txBody>
      </p:sp>
      <p:sp>
        <p:nvSpPr>
          <p:cNvPr id="9" name="TextBox 8"/>
          <p:cNvSpPr txBox="1"/>
          <p:nvPr/>
        </p:nvSpPr>
        <p:spPr>
          <a:xfrm>
            <a:off x="502920" y="1554480"/>
            <a:ext cx="11541676" cy="1267014"/>
          </a:xfrm>
          <a:prstGeom prst="rect">
            <a:avLst/>
          </a:prstGeom>
          <a:noFill/>
        </p:spPr>
        <p:txBody>
          <a:bodyPr wrap="square">
            <a:spAutoFit/>
          </a:bodyPr>
          <a:lstStyle/>
          <a:p>
            <a:pPr marL="0" indent="0">
              <a:spcAft>
                <a:spcPts val="1000"/>
              </a:spcAft>
            </a:pPr>
            <a:r>
              <a:rPr lang="vi-VN" sz="1700" b="0" i="0">
                <a:solidFill>
                  <a:srgbClr val="232323"/>
                </a:solidFill>
                <a:latin typeface="Arial"/>
              </a:rPr>
              <a:t>•  Tổng hợp nội dung: Kết hợp phần định nghĩa kịch bản và dữ liệu đầu ra DGE-METRIC cần thiết (từ ngày hôm qua) + các ước tính tổn thất GDP và kết quả so sánh (của ngày hôm nay).</a:t>
            </a:r>
          </a:p>
          <a:p>
            <a:pPr marL="0" indent="0">
              <a:spcAft>
                <a:spcPts val="1000"/>
              </a:spcAft>
            </a:pPr>
            <a:r>
              <a:rPr lang="vi-VN" sz="1700" b="1" i="0">
                <a:solidFill>
                  <a:srgbClr val="232323"/>
                </a:solidFill>
                <a:latin typeface="Arial"/>
              </a:rPr>
              <a:t>•  Lưu ý dán nhãn số liệu: Mọi số liệu cụ thể đều phải được chú thích rõ là kết quả từ mô hình DGE-METRIC hay chỉ là kết quả mô phỏng minh họa (nếu có sử dụng).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pPr>
              <a:spcAft>
                <a:spcPts val="1400"/>
              </a:spcAft>
            </a:pPr>
            <a:r>
              <a:rPr lang="vi-VN" sz="1100" b="1" i="0">
                <a:solidFill>
                  <a:srgbClr val="FFD2D2"/>
                </a:solidFill>
                <a:latin typeface="Arial"/>
              </a:rPr>
              <a:t>PHẦN 4 · 15 PHÚT</a:t>
            </a:r>
          </a:p>
          <a:p>
            <a:r>
              <a:rPr lang="vi-VN" sz="2400" b="1" i="0">
                <a:solidFill>
                  <a:srgbClr val="FFFFFF"/>
                </a:solidFill>
                <a:latin typeface="Arial"/>
              </a:rPr>
              <a:t>Kết quả bài tập buổi sáng &amp; Tổng kết thảo luận</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3 — Thứ 6, ngày 24/7/2026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8</a:t>
            </a:r>
          </a:p>
        </p:txBody>
      </p:sp>
      <p:sp>
        <p:nvSpPr>
          <p:cNvPr id="9" name="TextBox 8"/>
          <p:cNvSpPr txBox="1"/>
          <p:nvPr/>
        </p:nvSpPr>
        <p:spPr>
          <a:xfrm>
            <a:off x="502920" y="1554480"/>
            <a:ext cx="11323015" cy="2436564"/>
          </a:xfrm>
          <a:prstGeom prst="rect">
            <a:avLst/>
          </a:prstGeom>
          <a:noFill/>
        </p:spPr>
        <p:txBody>
          <a:bodyPr wrap="square">
            <a:spAutoFit/>
          </a:bodyPr>
          <a:lstStyle/>
          <a:p>
            <a:pPr marL="0" indent="0" algn="just">
              <a:spcAft>
                <a:spcPts val="1000"/>
              </a:spcAft>
            </a:pPr>
            <a:r>
              <a:rPr lang="vi-VN" sz="1700" b="0" i="0" dirty="0">
                <a:solidFill>
                  <a:srgbClr val="232323"/>
                </a:solidFill>
                <a:latin typeface="Arial"/>
              </a:rPr>
              <a:t>•  Sản phẩm bàn giao: Mỗi nhóm hoàn thiện 01 bản ghi chú phân tích kịch bản thiếu hụt;</a:t>
            </a:r>
          </a:p>
          <a:p>
            <a:pPr marL="0" indent="0" algn="just">
              <a:spcAft>
                <a:spcPts val="1000"/>
              </a:spcAft>
            </a:pPr>
            <a:r>
              <a:rPr lang="en-US" sz="1700" dirty="0">
                <a:solidFill>
                  <a:srgbClr val="232323"/>
                </a:solidFill>
                <a:latin typeface="Arial"/>
              </a:rPr>
              <a:t>- </a:t>
            </a:r>
            <a:r>
              <a:rPr lang="vi-VN" sz="1700" b="0" i="0" dirty="0">
                <a:solidFill>
                  <a:srgbClr val="232323"/>
                </a:solidFill>
                <a:latin typeface="Arial"/>
              </a:rPr>
              <a:t>01 bản ghi chú ứng dụng DGE-METRIC ngắn gọn, tổng hợp các ước tính tổn thất GDP cho các kịch bản thiếu hụt đã so sánh;</a:t>
            </a:r>
          </a:p>
          <a:p>
            <a:pPr marL="0" indent="0" algn="just">
              <a:spcAft>
                <a:spcPts val="1000"/>
              </a:spcAft>
            </a:pPr>
            <a:r>
              <a:rPr lang="en-US" sz="1700" dirty="0">
                <a:solidFill>
                  <a:srgbClr val="232323"/>
                </a:solidFill>
                <a:latin typeface="Arial"/>
              </a:rPr>
              <a:t>- </a:t>
            </a:r>
            <a:r>
              <a:rPr lang="vi-VN" sz="1700" b="0" i="0" dirty="0">
                <a:solidFill>
                  <a:srgbClr val="232323"/>
                </a:solidFill>
                <a:latin typeface="Arial"/>
              </a:rPr>
              <a:t>01 bản ghi chú triển khai đánh giá tổn thất chuyển dịch trên mô hình thu gọn (so sánh Kịch bản 4 với Kịch bản 1 về các chỉ số E, Y, I)</a:t>
            </a:r>
          </a:p>
          <a:p>
            <a:pPr marL="0" indent="0" algn="just">
              <a:spcAft>
                <a:spcPts val="1000"/>
              </a:spcAft>
            </a:pPr>
            <a:r>
              <a:rPr lang="vi-VN" sz="1700" b="0" i="0" dirty="0">
                <a:solidFill>
                  <a:srgbClr val="232323"/>
                </a:solidFill>
                <a:latin typeface="Arial"/>
              </a:rPr>
              <a:t>•  Thảo luận tổng kết: Kịch bản thiếu hụt nào gây ra tổn thất GDP lớn nhất, và tại sao?</a:t>
            </a:r>
          </a:p>
          <a:p>
            <a:pPr marL="0" indent="0" algn="just">
              <a:spcAft>
                <a:spcPts val="1000"/>
              </a:spcAft>
            </a:pPr>
            <a:r>
              <a:rPr lang="vi-VN" sz="1700" b="0" i="0" dirty="0">
                <a:solidFill>
                  <a:srgbClr val="232323"/>
                </a:solidFill>
                <a:latin typeface="Arial"/>
              </a:rPr>
              <a:t>•  Thảo luận tổng kết: Lưu ý quan trọng nhất khi so sánh các ước tính tổn thất GDP giữa các kịch bản là gì?</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GIZ_Logo.png"/>
          <p:cNvPicPr>
            <a:picLocks noChangeAspect="1"/>
          </p:cNvPicPr>
          <p:nvPr/>
        </p:nvPicPr>
        <p:blipFill>
          <a:blip r:embed="rId2"/>
          <a:stretch>
            <a:fillRect/>
          </a:stretch>
        </p:blipFill>
        <p:spPr>
          <a:xfrm>
            <a:off x="10088575" y="457200"/>
            <a:ext cx="1656522" cy="457200"/>
          </a:xfrm>
          <a:prstGeom prst="rect">
            <a:avLst/>
          </a:prstGeom>
        </p:spPr>
      </p:pic>
      <p:sp>
        <p:nvSpPr>
          <p:cNvPr id="4" name="TextBox 3"/>
          <p:cNvSpPr txBox="1"/>
          <p:nvPr/>
        </p:nvSpPr>
        <p:spPr>
          <a:xfrm>
            <a:off x="822960" y="2651760"/>
            <a:ext cx="10058400" cy="1415772"/>
          </a:xfrm>
          <a:prstGeom prst="rect">
            <a:avLst/>
          </a:prstGeom>
          <a:noFill/>
        </p:spPr>
        <p:txBody>
          <a:bodyPr wrap="square">
            <a:spAutoFit/>
          </a:bodyPr>
          <a:lstStyle/>
          <a:p>
            <a:pPr>
              <a:spcAft>
                <a:spcPts val="1000"/>
              </a:spcAft>
            </a:pPr>
            <a:r>
              <a:rPr lang="vi-VN" sz="1500" b="1" i="0" dirty="0">
                <a:solidFill>
                  <a:srgbClr val="FFD2D2"/>
                </a:solidFill>
                <a:latin typeface="Arial"/>
              </a:rPr>
              <a:t>NGÀY 3 — BUỔI CHIỀU</a:t>
            </a:r>
          </a:p>
          <a:p>
            <a:r>
              <a:rPr lang="vi-VN" sz="3400" b="1" i="0" dirty="0">
                <a:solidFill>
                  <a:srgbClr val="FFFFFF"/>
                </a:solidFill>
                <a:latin typeface="Arial"/>
              </a:rPr>
              <a:t>Đi sâu vào Cơ chế Hiệu chỉnh</a:t>
            </a:r>
          </a:p>
          <a:p>
            <a:pPr>
              <a:spcBef>
                <a:spcPts val="1400"/>
              </a:spcBef>
            </a:pPr>
            <a:r>
              <a:rPr lang="vi-VN" sz="1700" b="0" i="0" dirty="0">
                <a:solidFill>
                  <a:srgbClr val="FFFFFF"/>
                </a:solidFill>
                <a:latin typeface="Arial"/>
              </a:rPr>
              <a:t>Chỉnh sửa mô hình, phân tích độ nhạy &amp; Bế mạc · 180 phút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19" y="393859"/>
            <a:ext cx="10143309" cy="492443"/>
          </a:xfrm>
          <a:prstGeom prst="rect">
            <a:avLst/>
          </a:prstGeom>
          <a:noFill/>
        </p:spPr>
        <p:txBody>
          <a:bodyPr wrap="square" anchor="ctr">
            <a:spAutoFit/>
          </a:bodyPr>
          <a:lstStyle/>
          <a:p>
            <a:r>
              <a:rPr lang="vi-VN" sz="2600" b="1" i="0" dirty="0">
                <a:solidFill>
                  <a:srgbClr val="FFFFFF"/>
                </a:solidFill>
                <a:latin typeface="Arial"/>
              </a:rPr>
              <a:t>Chương trình Buổi chiều — 7 Phần, 240 Phút (+1 giờ giải lao)</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3 — Thứ 6, ngày 24/7/2026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9</a:t>
            </a:r>
          </a:p>
        </p:txBody>
      </p:sp>
      <p:graphicFrame>
        <p:nvGraphicFramePr>
          <p:cNvPr id="9" name="Table 8"/>
          <p:cNvGraphicFramePr>
            <a:graphicFrameLocks noGrp="1"/>
          </p:cNvGraphicFramePr>
          <p:nvPr>
            <p:extLst>
              <p:ext uri="{D42A27DB-BD31-4B8C-83A1-F6EECF244321}">
                <p14:modId xmlns:p14="http://schemas.microsoft.com/office/powerpoint/2010/main" val="2454507419"/>
              </p:ext>
            </p:extLst>
          </p:nvPr>
        </p:nvGraphicFramePr>
        <p:xfrm>
          <a:off x="502920" y="1554480"/>
          <a:ext cx="11185853" cy="4892040"/>
        </p:xfrm>
        <a:graphic>
          <a:graphicData uri="http://schemas.openxmlformats.org/drawingml/2006/table">
            <a:tbl>
              <a:tblPr firstRow="1" bandRow="1">
                <a:tableStyleId>{5C22544A-7EE6-4342-B048-85BDC9FD1C3A}</a:tableStyleId>
              </a:tblPr>
              <a:tblGrid>
                <a:gridCol w="3206931">
                  <a:extLst>
                    <a:ext uri="{9D8B030D-6E8A-4147-A177-3AD203B41FA5}">
                      <a16:colId xmlns:a16="http://schemas.microsoft.com/office/drawing/2014/main" val="20000"/>
                    </a:ext>
                  </a:extLst>
                </a:gridCol>
                <a:gridCol w="1123406">
                  <a:extLst>
                    <a:ext uri="{9D8B030D-6E8A-4147-A177-3AD203B41FA5}">
                      <a16:colId xmlns:a16="http://schemas.microsoft.com/office/drawing/2014/main" val="20001"/>
                    </a:ext>
                  </a:extLst>
                </a:gridCol>
                <a:gridCol w="6855516">
                  <a:extLst>
                    <a:ext uri="{9D8B030D-6E8A-4147-A177-3AD203B41FA5}">
                      <a16:colId xmlns:a16="http://schemas.microsoft.com/office/drawing/2014/main" val="20002"/>
                    </a:ext>
                  </a:extLst>
                </a:gridCol>
              </a:tblGrid>
              <a:tr h="543560">
                <a:tc>
                  <a:txBody>
                    <a:bodyPr/>
                    <a:lstStyle/>
                    <a:p>
                      <a:r>
                        <a:rPr lang="vi-VN" sz="1300" b="1" i="0" dirty="0">
                          <a:solidFill>
                            <a:srgbClr val="FFFFFF"/>
                          </a:solidFill>
                          <a:latin typeface="Arial"/>
                        </a:rPr>
                        <a:t>Phần</a:t>
                      </a:r>
                    </a:p>
                  </a:txBody>
                  <a:tcPr marT="50800" marB="50800" anchor="ctr">
                    <a:solidFill>
                      <a:srgbClr val="CC071E"/>
                    </a:solidFill>
                  </a:tcPr>
                </a:tc>
                <a:tc>
                  <a:txBody>
                    <a:bodyPr/>
                    <a:lstStyle/>
                    <a:p>
                      <a:r>
                        <a:rPr lang="vi-VN" sz="1300" b="1" i="0">
                          <a:solidFill>
                            <a:srgbClr val="FFFFFF"/>
                          </a:solidFill>
                          <a:latin typeface="Arial"/>
                        </a:rPr>
                        <a:t>Thời lượng</a:t>
                      </a:r>
                    </a:p>
                  </a:txBody>
                  <a:tcPr marT="50800" marB="50800" anchor="ctr">
                    <a:solidFill>
                      <a:srgbClr val="CC071E"/>
                    </a:solidFill>
                  </a:tcPr>
                </a:tc>
                <a:tc>
                  <a:txBody>
                    <a:bodyPr/>
                    <a:lstStyle/>
                    <a:p>
                      <a:r>
                        <a:rPr lang="vi-VN" sz="1300" b="1" i="0">
                          <a:solidFill>
                            <a:srgbClr val="FFFFFF"/>
                          </a:solidFill>
                          <a:latin typeface="Arial"/>
                        </a:rPr>
                        <a:t>Nội dung</a:t>
                      </a:r>
                    </a:p>
                  </a:txBody>
                  <a:tcPr marT="50800" marB="50800" anchor="ctr">
                    <a:solidFill>
                      <a:srgbClr val="CC071E"/>
                    </a:solidFill>
                  </a:tcPr>
                </a:tc>
                <a:extLst>
                  <a:ext uri="{0D108BD9-81ED-4DB2-BD59-A6C34878D82A}">
                    <a16:rowId xmlns:a16="http://schemas.microsoft.com/office/drawing/2014/main" val="10000"/>
                  </a:ext>
                </a:extLst>
              </a:tr>
              <a:tr h="543560">
                <a:tc>
                  <a:txBody>
                    <a:bodyPr/>
                    <a:lstStyle/>
                    <a:p>
                      <a:r>
                        <a:rPr lang="vi-VN" sz="1300" b="1" i="0" dirty="0">
                          <a:solidFill>
                            <a:srgbClr val="232323"/>
                          </a:solidFill>
                          <a:latin typeface="Arial"/>
                        </a:rPr>
                        <a:t>1. Tóm tắt quy trình Hiệu chỉnh</a:t>
                      </a:r>
                    </a:p>
                  </a:txBody>
                  <a:tcPr marT="38100" marB="38100" anchor="ctr">
                    <a:solidFill>
                      <a:srgbClr val="FFFFFF"/>
                    </a:solidFill>
                  </a:tcPr>
                </a:tc>
                <a:tc>
                  <a:txBody>
                    <a:bodyPr/>
                    <a:lstStyle/>
                    <a:p>
                      <a:r>
                        <a:rPr lang="vi-VN" sz="1300" b="0" i="0">
                          <a:solidFill>
                            <a:srgbClr val="232323"/>
                          </a:solidFill>
                          <a:latin typeface="Arial"/>
                        </a:rPr>
                        <a:t>15</a:t>
                      </a:r>
                      <a:r>
                        <a:rPr lang="en-US" sz="1300" b="0" i="0">
                          <a:solidFill>
                            <a:srgbClr val="232323"/>
                          </a:solidFill>
                          <a:latin typeface="Arial"/>
                        </a:rPr>
                        <a:t> phút</a:t>
                      </a:r>
                      <a:endParaRPr lang="vi-VN" sz="1300" b="0" i="0">
                        <a:solidFill>
                          <a:srgbClr val="232323"/>
                        </a:solidFill>
                        <a:latin typeface="Arial"/>
                      </a:endParaRPr>
                    </a:p>
                  </a:txBody>
                  <a:tcPr marT="38100" marB="38100" anchor="ctr">
                    <a:solidFill>
                      <a:srgbClr val="FFFFFF"/>
                    </a:solidFill>
                  </a:tcPr>
                </a:tc>
                <a:tc>
                  <a:txBody>
                    <a:bodyPr/>
                    <a:lstStyle/>
                    <a:p>
                      <a:r>
                        <a:rPr lang="vi-VN" sz="1300" b="0" i="0">
                          <a:solidFill>
                            <a:srgbClr val="232323"/>
                          </a:solidFill>
                          <a:latin typeface="Arial"/>
                        </a:rPr>
                        <a:t>Tóm tắt ngắn gọn nội dung khóa học; giải thích vì sao sự nhất quán về mặt kế toán/cân đối lại là điều kiện tiên quyết cho mọi phân tích</a:t>
                      </a:r>
                    </a:p>
                  </a:txBody>
                  <a:tcPr marT="38100" marB="38100" anchor="ctr">
                    <a:solidFill>
                      <a:srgbClr val="FFFFFF"/>
                    </a:solidFill>
                  </a:tcPr>
                </a:tc>
                <a:extLst>
                  <a:ext uri="{0D108BD9-81ED-4DB2-BD59-A6C34878D82A}">
                    <a16:rowId xmlns:a16="http://schemas.microsoft.com/office/drawing/2014/main" val="10001"/>
                  </a:ext>
                </a:extLst>
              </a:tr>
              <a:tr h="543560">
                <a:tc>
                  <a:txBody>
                    <a:bodyPr/>
                    <a:lstStyle/>
                    <a:p>
                      <a:r>
                        <a:rPr lang="vi-VN" sz="1300" b="1" i="0" dirty="0">
                          <a:solidFill>
                            <a:srgbClr val="232323"/>
                          </a:solidFill>
                          <a:latin typeface="Arial"/>
                        </a:rPr>
                        <a:t>2. Đi sâu vào Cơ chế Hiệu chỉnh</a:t>
                      </a:r>
                    </a:p>
                  </a:txBody>
                  <a:tcPr marT="38100" marB="38100" anchor="ctr">
                    <a:solidFill>
                      <a:srgbClr val="F5F5F5"/>
                    </a:solidFill>
                  </a:tcPr>
                </a:tc>
                <a:tc>
                  <a:txBody>
                    <a:bodyPr/>
                    <a:lstStyle/>
                    <a:p>
                      <a:r>
                        <a:rPr lang="vi-VN" sz="1300" b="0" i="0">
                          <a:solidFill>
                            <a:srgbClr val="232323"/>
                          </a:solidFill>
                          <a:latin typeface="Arial"/>
                        </a:rPr>
                        <a:t>40</a:t>
                      </a:r>
                      <a:r>
                        <a:rPr lang="en-US" sz="1300" b="0" i="0">
                          <a:solidFill>
                            <a:srgbClr val="232323"/>
                          </a:solidFill>
                          <a:latin typeface="+mn-lt"/>
                        </a:rPr>
                        <a:t> phút</a:t>
                      </a:r>
                      <a:endParaRPr lang="vi-VN" sz="1300" b="0" i="0">
                        <a:solidFill>
                          <a:srgbClr val="232323"/>
                        </a:solidFill>
                        <a:latin typeface="Arial"/>
                      </a:endParaRPr>
                    </a:p>
                  </a:txBody>
                  <a:tcPr marT="38100" marB="38100" anchor="ctr">
                    <a:solidFill>
                      <a:srgbClr val="F5F5F5"/>
                    </a:solidFill>
                  </a:tcPr>
                </a:tc>
                <a:tc>
                  <a:txBody>
                    <a:bodyPr/>
                    <a:lstStyle/>
                    <a:p>
                      <a:r>
                        <a:rPr lang="vi-VN" sz="1300" b="0" i="0" dirty="0">
                          <a:solidFill>
                            <a:srgbClr val="232323"/>
                          </a:solidFill>
                          <a:latin typeface="Arial"/>
                        </a:rPr>
                        <a:t>Phân biệt dữ liệu đầu vào và tham số cấu trúc; cấu trúc file Excel làm việc; quy trình Hiệu chỉnh dựa trên bảng IO</a:t>
                      </a:r>
                    </a:p>
                  </a:txBody>
                  <a:tcPr marT="38100" marB="38100" anchor="ctr">
                    <a:solidFill>
                      <a:srgbClr val="F5F5F5"/>
                    </a:solidFill>
                  </a:tcPr>
                </a:tc>
                <a:extLst>
                  <a:ext uri="{0D108BD9-81ED-4DB2-BD59-A6C34878D82A}">
                    <a16:rowId xmlns:a16="http://schemas.microsoft.com/office/drawing/2014/main" val="10002"/>
                  </a:ext>
                </a:extLst>
              </a:tr>
              <a:tr h="543560">
                <a:tc>
                  <a:txBody>
                    <a:bodyPr/>
                    <a:lstStyle/>
                    <a:p>
                      <a:r>
                        <a:rPr lang="vi-VN" sz="1300" b="1" i="0" dirty="0">
                          <a:solidFill>
                            <a:srgbClr val="232323"/>
                          </a:solidFill>
                          <a:latin typeface="Arial"/>
                        </a:rPr>
                        <a:t>3. Hướng dẫn chỉnh sửa Hiệu chỉnh</a:t>
                      </a:r>
                    </a:p>
                  </a:txBody>
                  <a:tcPr marT="38100" marB="38100" anchor="ctr">
                    <a:solidFill>
                      <a:srgbClr val="FFFFFF"/>
                    </a:solidFill>
                  </a:tcPr>
                </a:tc>
                <a:tc>
                  <a:txBody>
                    <a:bodyPr/>
                    <a:lstStyle/>
                    <a:p>
                      <a:r>
                        <a:rPr lang="vi-VN" sz="1300" b="0" i="0">
                          <a:solidFill>
                            <a:srgbClr val="232323"/>
                          </a:solidFill>
                          <a:latin typeface="Arial"/>
                        </a:rPr>
                        <a:t>35</a:t>
                      </a:r>
                      <a:r>
                        <a:rPr lang="en-US" sz="1300" b="0" i="0">
                          <a:solidFill>
                            <a:srgbClr val="232323"/>
                          </a:solidFill>
                          <a:latin typeface="+mn-lt"/>
                        </a:rPr>
                        <a:t> phút</a:t>
                      </a:r>
                      <a:endParaRPr lang="vi-VN" sz="1300" b="0" i="0">
                        <a:solidFill>
                          <a:srgbClr val="232323"/>
                        </a:solidFill>
                        <a:latin typeface="Arial"/>
                      </a:endParaRPr>
                    </a:p>
                  </a:txBody>
                  <a:tcPr marT="38100" marB="38100" anchor="ctr">
                    <a:solidFill>
                      <a:srgbClr val="FFFFFF"/>
                    </a:solidFill>
                  </a:tcPr>
                </a:tc>
                <a:tc>
                  <a:txBody>
                    <a:bodyPr/>
                    <a:lstStyle/>
                    <a:p>
                      <a:r>
                        <a:rPr lang="vi-VN" sz="1300" b="0" i="0">
                          <a:solidFill>
                            <a:srgbClr val="232323"/>
                          </a:solidFill>
                          <a:latin typeface="Arial"/>
                        </a:rPr>
                        <a:t>Thay đổi dữ liệu đầu vào (thư mục ExcelFiles/) so với thay đổi tham số cấu trúc (thư mục Functions/); kiểm định lại mô hình</a:t>
                      </a:r>
                    </a:p>
                  </a:txBody>
                  <a:tcPr marT="38100" marB="38100" anchor="ctr">
                    <a:solidFill>
                      <a:srgbClr val="FFFFFF"/>
                    </a:solidFill>
                  </a:tcPr>
                </a:tc>
                <a:extLst>
                  <a:ext uri="{0D108BD9-81ED-4DB2-BD59-A6C34878D82A}">
                    <a16:rowId xmlns:a16="http://schemas.microsoft.com/office/drawing/2014/main" val="10003"/>
                  </a:ext>
                </a:extLst>
              </a:tr>
              <a:tr h="543560">
                <a:tc>
                  <a:txBody>
                    <a:bodyPr/>
                    <a:lstStyle/>
                    <a:p>
                      <a:r>
                        <a:rPr lang="vi-VN" sz="1300" b="1" i="0" dirty="0">
                          <a:solidFill>
                            <a:srgbClr val="FF0000"/>
                          </a:solidFill>
                          <a:latin typeface="Arial"/>
                        </a:rPr>
                        <a:t>— Nghỉ giải lao —</a:t>
                      </a:r>
                    </a:p>
                  </a:txBody>
                  <a:tcPr marT="38100" marB="38100" anchor="ctr">
                    <a:solidFill>
                      <a:srgbClr val="F5F5F5"/>
                    </a:solidFill>
                  </a:tcPr>
                </a:tc>
                <a:tc>
                  <a:txBody>
                    <a:bodyPr/>
                    <a:lstStyle/>
                    <a:p>
                      <a:r>
                        <a:rPr lang="vi-VN" sz="1300" b="0" i="0" dirty="0">
                          <a:solidFill>
                            <a:srgbClr val="FF0000"/>
                          </a:solidFill>
                          <a:latin typeface="Arial"/>
                        </a:rPr>
                        <a:t>15</a:t>
                      </a:r>
                      <a:r>
                        <a:rPr lang="en-US" sz="1300" b="0" i="0" dirty="0">
                          <a:solidFill>
                            <a:srgbClr val="FF0000"/>
                          </a:solidFill>
                          <a:latin typeface="+mn-lt"/>
                        </a:rPr>
                        <a:t> </a:t>
                      </a:r>
                      <a:r>
                        <a:rPr lang="en-US" sz="1300" b="0" i="0" dirty="0" err="1">
                          <a:solidFill>
                            <a:srgbClr val="FF0000"/>
                          </a:solidFill>
                          <a:latin typeface="+mn-lt"/>
                        </a:rPr>
                        <a:t>phút</a:t>
                      </a:r>
                      <a:endParaRPr lang="vi-VN" sz="1300" b="0" i="0" dirty="0">
                        <a:solidFill>
                          <a:srgbClr val="FF0000"/>
                        </a:solidFill>
                        <a:latin typeface="Arial"/>
                      </a:endParaRPr>
                    </a:p>
                  </a:txBody>
                  <a:tcPr marT="38100" marB="38100" anchor="ctr">
                    <a:solidFill>
                      <a:srgbClr val="F5F5F5"/>
                    </a:solidFill>
                  </a:tcPr>
                </a:tc>
                <a:tc>
                  <a:txBody>
                    <a:bodyPr/>
                    <a:lstStyle/>
                    <a:p>
                      <a:endParaRPr/>
                    </a:p>
                  </a:txBody>
                  <a:tcPr marT="38100" marB="38100" anchor="ctr">
                    <a:solidFill>
                      <a:srgbClr val="F5F5F5"/>
                    </a:solidFill>
                  </a:tcPr>
                </a:tc>
                <a:extLst>
                  <a:ext uri="{0D108BD9-81ED-4DB2-BD59-A6C34878D82A}">
                    <a16:rowId xmlns:a16="http://schemas.microsoft.com/office/drawing/2014/main" val="10004"/>
                  </a:ext>
                </a:extLst>
              </a:tr>
              <a:tr h="543560">
                <a:tc>
                  <a:txBody>
                    <a:bodyPr/>
                    <a:lstStyle/>
                    <a:p>
                      <a:r>
                        <a:rPr lang="vi-VN" sz="1300" b="1" i="0" dirty="0">
                          <a:solidFill>
                            <a:srgbClr val="232323"/>
                          </a:solidFill>
                          <a:latin typeface="Arial"/>
                        </a:rPr>
                        <a:t>4. Phương pháp phân tích độ nhạy</a:t>
                      </a:r>
                    </a:p>
                  </a:txBody>
                  <a:tcPr marT="38100" marB="38100" anchor="ctr">
                    <a:solidFill>
                      <a:srgbClr val="FFFFFF"/>
                    </a:solidFill>
                  </a:tcPr>
                </a:tc>
                <a:tc>
                  <a:txBody>
                    <a:bodyPr/>
                    <a:lstStyle/>
                    <a:p>
                      <a:r>
                        <a:rPr lang="vi-VN" sz="1300" b="0" i="0" dirty="0">
                          <a:solidFill>
                            <a:srgbClr val="232323"/>
                          </a:solidFill>
                          <a:latin typeface="Arial"/>
                        </a:rPr>
                        <a:t>40</a:t>
                      </a:r>
                      <a:r>
                        <a:rPr lang="en-US" sz="1300" b="0" i="0" dirty="0">
                          <a:solidFill>
                            <a:srgbClr val="232323"/>
                          </a:solidFill>
                          <a:latin typeface="+mn-lt"/>
                        </a:rPr>
                        <a:t> </a:t>
                      </a:r>
                      <a:r>
                        <a:rPr lang="en-US" sz="1300" b="0" i="0" dirty="0" err="1">
                          <a:solidFill>
                            <a:srgbClr val="232323"/>
                          </a:solidFill>
                          <a:latin typeface="+mn-lt"/>
                        </a:rPr>
                        <a:t>phút</a:t>
                      </a:r>
                      <a:endParaRPr lang="vi-VN" sz="1300" b="0" i="0" dirty="0">
                        <a:solidFill>
                          <a:srgbClr val="232323"/>
                        </a:solidFill>
                        <a:latin typeface="Arial"/>
                      </a:endParaRPr>
                    </a:p>
                  </a:txBody>
                  <a:tcPr marT="38100" marB="38100" anchor="ctr">
                    <a:solidFill>
                      <a:srgbClr val="FFFFFF"/>
                    </a:solidFill>
                  </a:tcPr>
                </a:tc>
                <a:tc>
                  <a:txBody>
                    <a:bodyPr/>
                    <a:lstStyle/>
                    <a:p>
                      <a:r>
                        <a:rPr lang="vi-VN" sz="1300" b="0" i="0">
                          <a:solidFill>
                            <a:srgbClr val="232323"/>
                          </a:solidFill>
                          <a:latin typeface="Arial"/>
                        </a:rPr>
                        <a:t>Phương pháp thay đổi từng tham số đơn lẻ; tầm quan trọng của việc cô lập từng tham số</a:t>
                      </a:r>
                    </a:p>
                  </a:txBody>
                  <a:tcPr marT="38100" marB="38100" anchor="ctr">
                    <a:solidFill>
                      <a:srgbClr val="FFFFFF"/>
                    </a:solidFill>
                  </a:tcPr>
                </a:tc>
                <a:extLst>
                  <a:ext uri="{0D108BD9-81ED-4DB2-BD59-A6C34878D82A}">
                    <a16:rowId xmlns:a16="http://schemas.microsoft.com/office/drawing/2014/main" val="10005"/>
                  </a:ext>
                </a:extLst>
              </a:tr>
              <a:tr h="543560">
                <a:tc>
                  <a:txBody>
                    <a:bodyPr/>
                    <a:lstStyle/>
                    <a:p>
                      <a:r>
                        <a:rPr lang="vi-VN" sz="1300" b="1" i="0">
                          <a:solidFill>
                            <a:srgbClr val="232323"/>
                          </a:solidFill>
                          <a:latin typeface="Arial"/>
                        </a:rPr>
                        <a:t>5. Lập kế hoạch phân tích độ nhạy</a:t>
                      </a:r>
                    </a:p>
                  </a:txBody>
                  <a:tcPr marT="38100" marB="38100" anchor="ctr">
                    <a:solidFill>
                      <a:srgbClr val="F5F5F5"/>
                    </a:solidFill>
                  </a:tcPr>
                </a:tc>
                <a:tc>
                  <a:txBody>
                    <a:bodyPr/>
                    <a:lstStyle/>
                    <a:p>
                      <a:r>
                        <a:rPr lang="vi-VN" sz="1300" b="0" i="0">
                          <a:solidFill>
                            <a:srgbClr val="232323"/>
                          </a:solidFill>
                          <a:latin typeface="Arial"/>
                        </a:rPr>
                        <a:t>40</a:t>
                      </a:r>
                      <a:r>
                        <a:rPr lang="en-US" sz="1300" b="0" i="0">
                          <a:solidFill>
                            <a:srgbClr val="232323"/>
                          </a:solidFill>
                          <a:latin typeface="+mn-lt"/>
                        </a:rPr>
                        <a:t> phút</a:t>
                      </a:r>
                      <a:endParaRPr lang="vi-VN" sz="1300" b="0" i="0">
                        <a:solidFill>
                          <a:srgbClr val="232323"/>
                        </a:solidFill>
                        <a:latin typeface="Arial"/>
                      </a:endParaRPr>
                    </a:p>
                  </a:txBody>
                  <a:tcPr marT="38100" marB="38100" anchor="ctr">
                    <a:solidFill>
                      <a:srgbClr val="F5F5F5"/>
                    </a:solidFill>
                  </a:tcPr>
                </a:tc>
                <a:tc>
                  <a:txBody>
                    <a:bodyPr/>
                    <a:lstStyle/>
                    <a:p>
                      <a:r>
                        <a:rPr lang="vi-VN" sz="1300" b="0" i="0">
                          <a:solidFill>
                            <a:srgbClr val="232323"/>
                          </a:solidFill>
                          <a:latin typeface="Arial"/>
                        </a:rPr>
                        <a:t>Các nhóm chọn 01 tham số cấu trúc và xây dựng kế hoạch phân tích thử nghiệm</a:t>
                      </a:r>
                    </a:p>
                  </a:txBody>
                  <a:tcPr marT="38100" marB="38100" anchor="ctr">
                    <a:solidFill>
                      <a:srgbClr val="F5F5F5"/>
                    </a:solidFill>
                  </a:tcPr>
                </a:tc>
                <a:extLst>
                  <a:ext uri="{0D108BD9-81ED-4DB2-BD59-A6C34878D82A}">
                    <a16:rowId xmlns:a16="http://schemas.microsoft.com/office/drawing/2014/main" val="10006"/>
                  </a:ext>
                </a:extLst>
              </a:tr>
              <a:tr h="543560">
                <a:tc>
                  <a:txBody>
                    <a:bodyPr/>
                    <a:lstStyle/>
                    <a:p>
                      <a:r>
                        <a:rPr lang="vi-VN" sz="1300" b="1" i="0">
                          <a:solidFill>
                            <a:srgbClr val="232323"/>
                          </a:solidFill>
                          <a:latin typeface="Arial"/>
                        </a:rPr>
                        <a:t>6. Báo cáo kết quả</a:t>
                      </a:r>
                    </a:p>
                  </a:txBody>
                  <a:tcPr marT="38100" marB="38100" anchor="ctr">
                    <a:solidFill>
                      <a:srgbClr val="FFFFFF"/>
                    </a:solidFill>
                  </a:tcPr>
                </a:tc>
                <a:tc>
                  <a:txBody>
                    <a:bodyPr/>
                    <a:lstStyle/>
                    <a:p>
                      <a:r>
                        <a:rPr lang="vi-VN" sz="1300" b="0" i="0">
                          <a:solidFill>
                            <a:srgbClr val="232323"/>
                          </a:solidFill>
                          <a:latin typeface="Arial"/>
                        </a:rPr>
                        <a:t>15</a:t>
                      </a:r>
                      <a:r>
                        <a:rPr lang="en-US" sz="1300" b="0" i="0">
                          <a:solidFill>
                            <a:srgbClr val="232323"/>
                          </a:solidFill>
                          <a:latin typeface="+mn-lt"/>
                        </a:rPr>
                        <a:t> phút</a:t>
                      </a:r>
                      <a:endParaRPr lang="vi-VN" sz="1300" b="0" i="0">
                        <a:solidFill>
                          <a:srgbClr val="232323"/>
                        </a:solidFill>
                        <a:latin typeface="Arial"/>
                      </a:endParaRPr>
                    </a:p>
                  </a:txBody>
                  <a:tcPr marT="38100" marB="38100" anchor="ctr">
                    <a:solidFill>
                      <a:srgbClr val="FFFFFF"/>
                    </a:solidFill>
                  </a:tcPr>
                </a:tc>
                <a:tc>
                  <a:txBody>
                    <a:bodyPr/>
                    <a:lstStyle/>
                    <a:p>
                      <a:r>
                        <a:rPr lang="vi-VN" sz="1300" b="0" i="0">
                          <a:solidFill>
                            <a:srgbClr val="232323"/>
                          </a:solidFill>
                          <a:latin typeface="Arial"/>
                        </a:rPr>
                        <a:t>Các nhóm báo cáo nhanh kết quả thảo luận</a:t>
                      </a:r>
                    </a:p>
                  </a:txBody>
                  <a:tcPr marT="38100" marB="38100" anchor="ctr">
                    <a:solidFill>
                      <a:srgbClr val="FFFFFF"/>
                    </a:solidFill>
                  </a:tcPr>
                </a:tc>
                <a:extLst>
                  <a:ext uri="{0D108BD9-81ED-4DB2-BD59-A6C34878D82A}">
                    <a16:rowId xmlns:a16="http://schemas.microsoft.com/office/drawing/2014/main" val="10007"/>
                  </a:ext>
                </a:extLst>
              </a:tr>
              <a:tr h="543560">
                <a:tc>
                  <a:txBody>
                    <a:bodyPr/>
                    <a:lstStyle/>
                    <a:p>
                      <a:r>
                        <a:rPr lang="vi-VN" sz="1300" b="1" i="0">
                          <a:solidFill>
                            <a:srgbClr val="232323"/>
                          </a:solidFill>
                          <a:latin typeface="Arial"/>
                        </a:rPr>
                        <a:t>7. Bế mạc khóa học</a:t>
                      </a:r>
                    </a:p>
                  </a:txBody>
                  <a:tcPr marT="38100" marB="38100" anchor="ctr">
                    <a:solidFill>
                      <a:srgbClr val="F5F5F5"/>
                    </a:solidFill>
                  </a:tcPr>
                </a:tc>
                <a:tc>
                  <a:txBody>
                    <a:bodyPr/>
                    <a:lstStyle/>
                    <a:p>
                      <a:r>
                        <a:rPr lang="vi-VN" sz="1300" b="0" i="0">
                          <a:solidFill>
                            <a:srgbClr val="232323"/>
                          </a:solidFill>
                          <a:latin typeface="Arial"/>
                        </a:rPr>
                        <a:t>40</a:t>
                      </a:r>
                      <a:r>
                        <a:rPr lang="en-US" sz="1300" b="0" i="0">
                          <a:solidFill>
                            <a:srgbClr val="232323"/>
                          </a:solidFill>
                          <a:latin typeface="+mn-lt"/>
                        </a:rPr>
                        <a:t> phút</a:t>
                      </a:r>
                      <a:endParaRPr lang="vi-VN" sz="1300" b="0" i="0">
                        <a:solidFill>
                          <a:srgbClr val="232323"/>
                        </a:solidFill>
                        <a:latin typeface="Arial"/>
                      </a:endParaRPr>
                    </a:p>
                  </a:txBody>
                  <a:tcPr marT="38100" marB="38100" anchor="ctr">
                    <a:solidFill>
                      <a:srgbClr val="F5F5F5"/>
                    </a:solidFill>
                  </a:tcPr>
                </a:tc>
                <a:tc>
                  <a:txBody>
                    <a:bodyPr/>
                    <a:lstStyle/>
                    <a:p>
                      <a:r>
                        <a:rPr lang="vi-VN" sz="1300" b="0" i="0" dirty="0">
                          <a:solidFill>
                            <a:srgbClr val="232323"/>
                          </a:solidFill>
                          <a:latin typeface="Arial"/>
                        </a:rPr>
                        <a:t>Danh mục kiểm tra mức độ tự vận hành mô hình; khảo sát thu hoạch cuối khóa</a:t>
                      </a:r>
                    </a:p>
                  </a:txBody>
                  <a:tcPr marT="38100" marB="38100" anchor="ctr">
                    <a:solidFill>
                      <a:srgbClr val="F5F5F5"/>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pPr>
              <a:spcAft>
                <a:spcPts val="1400"/>
              </a:spcAft>
            </a:pPr>
            <a:r>
              <a:rPr lang="vi-VN" sz="1100" b="1" i="0">
                <a:solidFill>
                  <a:srgbClr val="FFD2D2"/>
                </a:solidFill>
                <a:latin typeface="Arial"/>
              </a:rPr>
              <a:t>PHẦN 1 · 15 PHÚT</a:t>
            </a:r>
          </a:p>
          <a:p>
            <a:r>
              <a:rPr lang="vi-VN" sz="2400" b="1" i="0">
                <a:solidFill>
                  <a:srgbClr val="FFFFFF"/>
                </a:solidFill>
                <a:latin typeface="Arial"/>
              </a:rPr>
              <a:t>Nội dung khóa học</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3 — Thứ 6, ngày 24/7/2026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10</a:t>
            </a:r>
          </a:p>
        </p:txBody>
      </p:sp>
      <p:graphicFrame>
        <p:nvGraphicFramePr>
          <p:cNvPr id="9" name="Table 8"/>
          <p:cNvGraphicFramePr>
            <a:graphicFrameLocks noGrp="1"/>
          </p:cNvGraphicFramePr>
          <p:nvPr>
            <p:extLst>
              <p:ext uri="{D42A27DB-BD31-4B8C-83A1-F6EECF244321}">
                <p14:modId xmlns:p14="http://schemas.microsoft.com/office/powerpoint/2010/main" val="2541478935"/>
              </p:ext>
            </p:extLst>
          </p:nvPr>
        </p:nvGraphicFramePr>
        <p:xfrm>
          <a:off x="502920" y="1554480"/>
          <a:ext cx="11185854" cy="4389120"/>
        </p:xfrm>
        <a:graphic>
          <a:graphicData uri="http://schemas.openxmlformats.org/drawingml/2006/table">
            <a:tbl>
              <a:tblPr firstRow="1" bandRow="1">
                <a:tableStyleId>{5C22544A-7EE6-4342-B048-85BDC9FD1C3A}</a:tableStyleId>
              </a:tblPr>
              <a:tblGrid>
                <a:gridCol w="1665978">
                  <a:extLst>
                    <a:ext uri="{9D8B030D-6E8A-4147-A177-3AD203B41FA5}">
                      <a16:colId xmlns:a16="http://schemas.microsoft.com/office/drawing/2014/main" val="20000"/>
                    </a:ext>
                  </a:extLst>
                </a:gridCol>
                <a:gridCol w="4283944">
                  <a:extLst>
                    <a:ext uri="{9D8B030D-6E8A-4147-A177-3AD203B41FA5}">
                      <a16:colId xmlns:a16="http://schemas.microsoft.com/office/drawing/2014/main" val="20001"/>
                    </a:ext>
                  </a:extLst>
                </a:gridCol>
                <a:gridCol w="5235932">
                  <a:extLst>
                    <a:ext uri="{9D8B030D-6E8A-4147-A177-3AD203B41FA5}">
                      <a16:colId xmlns:a16="http://schemas.microsoft.com/office/drawing/2014/main" val="20002"/>
                    </a:ext>
                  </a:extLst>
                </a:gridCol>
              </a:tblGrid>
              <a:tr h="877824">
                <a:tc>
                  <a:txBody>
                    <a:bodyPr/>
                    <a:lstStyle/>
                    <a:p>
                      <a:r>
                        <a:rPr lang="vi-VN" sz="1300" b="1" i="0" dirty="0">
                          <a:solidFill>
                            <a:srgbClr val="FFFFFF"/>
                          </a:solidFill>
                          <a:latin typeface="Arial"/>
                        </a:rPr>
                        <a:t>Ngày</a:t>
                      </a:r>
                    </a:p>
                  </a:txBody>
                  <a:tcPr marT="50800" marB="50800" anchor="ctr">
                    <a:solidFill>
                      <a:srgbClr val="CC071E"/>
                    </a:solidFill>
                  </a:tcPr>
                </a:tc>
                <a:tc>
                  <a:txBody>
                    <a:bodyPr/>
                    <a:lstStyle/>
                    <a:p>
                      <a:r>
                        <a:rPr lang="vi-VN" sz="1300" b="1" i="0">
                          <a:solidFill>
                            <a:srgbClr val="FFFFFF"/>
                          </a:solidFill>
                          <a:latin typeface="Arial"/>
                        </a:rPr>
                        <a:t>Trọng tâm</a:t>
                      </a:r>
                    </a:p>
                  </a:txBody>
                  <a:tcPr marT="50800" marB="50800" anchor="ctr">
                    <a:solidFill>
                      <a:srgbClr val="CC071E"/>
                    </a:solidFill>
                  </a:tcPr>
                </a:tc>
                <a:tc>
                  <a:txBody>
                    <a:bodyPr/>
                    <a:lstStyle/>
                    <a:p>
                      <a:r>
                        <a:rPr lang="vi-VN" sz="1300" b="1" i="0">
                          <a:solidFill>
                            <a:srgbClr val="FFFFFF"/>
                          </a:solidFill>
                          <a:latin typeface="Arial"/>
                        </a:rPr>
                        <a:t>Kết quả đạt được</a:t>
                      </a:r>
                    </a:p>
                  </a:txBody>
                  <a:tcPr marT="50800" marB="50800" anchor="ctr">
                    <a:solidFill>
                      <a:srgbClr val="CC071E"/>
                    </a:solidFill>
                  </a:tcPr>
                </a:tc>
                <a:extLst>
                  <a:ext uri="{0D108BD9-81ED-4DB2-BD59-A6C34878D82A}">
                    <a16:rowId xmlns:a16="http://schemas.microsoft.com/office/drawing/2014/main" val="10000"/>
                  </a:ext>
                </a:extLst>
              </a:tr>
              <a:tr h="877824">
                <a:tc>
                  <a:txBody>
                    <a:bodyPr/>
                    <a:lstStyle/>
                    <a:p>
                      <a:r>
                        <a:rPr lang="vi-VN" sz="1300" b="1" i="0">
                          <a:solidFill>
                            <a:srgbClr val="232323"/>
                          </a:solidFill>
                          <a:latin typeface="Arial"/>
                        </a:rPr>
                        <a:t>Chiều Ngày 1</a:t>
                      </a:r>
                    </a:p>
                  </a:txBody>
                  <a:tcPr marT="38100" marB="38100" anchor="ctr">
                    <a:solidFill>
                      <a:srgbClr val="FFFFFF"/>
                    </a:solidFill>
                  </a:tcPr>
                </a:tc>
                <a:tc>
                  <a:txBody>
                    <a:bodyPr/>
                    <a:lstStyle/>
                    <a:p>
                      <a:r>
                        <a:rPr lang="vi-VN" sz="1300" b="0" i="0">
                          <a:solidFill>
                            <a:srgbClr val="232323"/>
                          </a:solidFill>
                          <a:latin typeface="Arial"/>
                        </a:rPr>
                        <a:t>Định nghĩa kịch bản tài chính &amp; hiệu quả năng lượng</a:t>
                      </a:r>
                    </a:p>
                  </a:txBody>
                  <a:tcPr marT="38100" marB="38100" anchor="ctr">
                    <a:solidFill>
                      <a:srgbClr val="FFFFFF"/>
                    </a:solidFill>
                  </a:tcPr>
                </a:tc>
                <a:tc>
                  <a:txBody>
                    <a:bodyPr/>
                    <a:lstStyle/>
                    <a:p>
                      <a:r>
                        <a:rPr lang="vi-VN" sz="1300" b="0" i="0">
                          <a:solidFill>
                            <a:srgbClr val="232323"/>
                          </a:solidFill>
                          <a:latin typeface="Arial"/>
                        </a:rPr>
                        <a:t>02 phiếu thông tin kịch bản hoàn chỉnh</a:t>
                      </a:r>
                    </a:p>
                  </a:txBody>
                  <a:tcPr marT="38100" marB="38100" anchor="ctr">
                    <a:solidFill>
                      <a:srgbClr val="FFFFFF"/>
                    </a:solidFill>
                  </a:tcPr>
                </a:tc>
                <a:extLst>
                  <a:ext uri="{0D108BD9-81ED-4DB2-BD59-A6C34878D82A}">
                    <a16:rowId xmlns:a16="http://schemas.microsoft.com/office/drawing/2014/main" val="10001"/>
                  </a:ext>
                </a:extLst>
              </a:tr>
              <a:tr h="877824">
                <a:tc>
                  <a:txBody>
                    <a:bodyPr/>
                    <a:lstStyle/>
                    <a:p>
                      <a:r>
                        <a:rPr lang="vi-VN" sz="1300" b="1" i="0">
                          <a:solidFill>
                            <a:srgbClr val="232323"/>
                          </a:solidFill>
                          <a:latin typeface="Arial"/>
                        </a:rPr>
                        <a:t>Sáng Ngày 2</a:t>
                      </a:r>
                    </a:p>
                  </a:txBody>
                  <a:tcPr marT="38100" marB="38100" anchor="ctr">
                    <a:solidFill>
                      <a:srgbClr val="F5F5F5"/>
                    </a:solidFill>
                  </a:tcPr>
                </a:tc>
                <a:tc>
                  <a:txBody>
                    <a:bodyPr/>
                    <a:lstStyle/>
                    <a:p>
                      <a:r>
                        <a:rPr lang="vi-VN" sz="1300" b="0" i="0" dirty="0">
                          <a:solidFill>
                            <a:srgbClr val="232323"/>
                          </a:solidFill>
                          <a:latin typeface="Arial"/>
                        </a:rPr>
                        <a:t>Định hướng cấu trúc mã nguồn, Git, thực hành Hiệu chỉnh &amp; kịch bản</a:t>
                      </a:r>
                    </a:p>
                  </a:txBody>
                  <a:tcPr marT="38100" marB="38100" anchor="ctr">
                    <a:solidFill>
                      <a:srgbClr val="F5F5F5"/>
                    </a:solidFill>
                  </a:tcPr>
                </a:tc>
                <a:tc>
                  <a:txBody>
                    <a:bodyPr/>
                    <a:lstStyle/>
                    <a:p>
                      <a:r>
                        <a:rPr lang="vi-VN" sz="1300" b="0" i="0" dirty="0">
                          <a:solidFill>
                            <a:srgbClr val="232323"/>
                          </a:solidFill>
                          <a:latin typeface="Arial"/>
                        </a:rPr>
                        <a:t>Kết quả chẩn đoán Hiệu chỉnh; biểu đồ so sánh kịch bản tài chính và hiệu quả năng lượng</a:t>
                      </a:r>
                    </a:p>
                  </a:txBody>
                  <a:tcPr marT="38100" marB="38100" anchor="ctr">
                    <a:solidFill>
                      <a:srgbClr val="F5F5F5"/>
                    </a:solidFill>
                  </a:tcPr>
                </a:tc>
                <a:extLst>
                  <a:ext uri="{0D108BD9-81ED-4DB2-BD59-A6C34878D82A}">
                    <a16:rowId xmlns:a16="http://schemas.microsoft.com/office/drawing/2014/main" val="10002"/>
                  </a:ext>
                </a:extLst>
              </a:tr>
              <a:tr h="877824">
                <a:tc>
                  <a:txBody>
                    <a:bodyPr/>
                    <a:lstStyle/>
                    <a:p>
                      <a:r>
                        <a:rPr lang="vi-VN" sz="1300" b="1" i="0">
                          <a:solidFill>
                            <a:srgbClr val="232323"/>
                          </a:solidFill>
                          <a:latin typeface="Arial"/>
                        </a:rPr>
                        <a:t>Chiều Ngày 2</a:t>
                      </a:r>
                    </a:p>
                  </a:txBody>
                  <a:tcPr marT="38100" marB="38100" anchor="ctr">
                    <a:solidFill>
                      <a:srgbClr val="FFFFFF"/>
                    </a:solidFill>
                  </a:tcPr>
                </a:tc>
                <a:tc>
                  <a:txBody>
                    <a:bodyPr/>
                    <a:lstStyle/>
                    <a:p>
                      <a:r>
                        <a:rPr lang="vi-VN" sz="1300" b="0" i="0">
                          <a:solidFill>
                            <a:srgbClr val="232323"/>
                          </a:solidFill>
                          <a:latin typeface="Arial"/>
                        </a:rPr>
                        <a:t>Yêu cầu dự trữ — Phương pháp &amp; Triển khai</a:t>
                      </a:r>
                    </a:p>
                  </a:txBody>
                  <a:tcPr marT="38100" marB="38100" anchor="ctr">
                    <a:solidFill>
                      <a:srgbClr val="FFFFFF"/>
                    </a:solidFill>
                  </a:tcPr>
                </a:tc>
                <a:tc>
                  <a:txBody>
                    <a:bodyPr/>
                    <a:lstStyle/>
                    <a:p>
                      <a:r>
                        <a:rPr lang="vi-VN" sz="1300" b="0" i="0">
                          <a:solidFill>
                            <a:srgbClr val="232323"/>
                          </a:solidFill>
                          <a:latin typeface="Arial"/>
                        </a:rPr>
                        <a:t>Kế hoạch thực hiện cho một </a:t>
                      </a:r>
                      <a:r>
                        <a:rPr lang="en-US" sz="1300" b="0" i="0">
                          <a:solidFill>
                            <a:srgbClr val="232323"/>
                          </a:solidFill>
                          <a:latin typeface="Arial"/>
                        </a:rPr>
                        <a:t>loại</a:t>
                      </a:r>
                      <a:r>
                        <a:rPr lang="vi-VN" sz="1300" b="0" i="0">
                          <a:solidFill>
                            <a:srgbClr val="232323"/>
                          </a:solidFill>
                          <a:latin typeface="Arial"/>
                        </a:rPr>
                        <a:t> năng lượng/nhiên liệu tự chọn</a:t>
                      </a:r>
                    </a:p>
                  </a:txBody>
                  <a:tcPr marT="38100" marB="38100" anchor="ctr">
                    <a:solidFill>
                      <a:srgbClr val="FFFFFF"/>
                    </a:solidFill>
                  </a:tcPr>
                </a:tc>
                <a:extLst>
                  <a:ext uri="{0D108BD9-81ED-4DB2-BD59-A6C34878D82A}">
                    <a16:rowId xmlns:a16="http://schemas.microsoft.com/office/drawing/2014/main" val="10003"/>
                  </a:ext>
                </a:extLst>
              </a:tr>
              <a:tr h="877824">
                <a:tc>
                  <a:txBody>
                    <a:bodyPr/>
                    <a:lstStyle/>
                    <a:p>
                      <a:r>
                        <a:rPr lang="vi-VN" sz="1300" b="1" i="0">
                          <a:solidFill>
                            <a:srgbClr val="232323"/>
                          </a:solidFill>
                          <a:latin typeface="Arial"/>
                        </a:rPr>
                        <a:t>Sáng Ngày 3</a:t>
                      </a:r>
                    </a:p>
                  </a:txBody>
                  <a:tcPr marT="38100" marB="38100" anchor="ctr">
                    <a:solidFill>
                      <a:srgbClr val="F5F5F5"/>
                    </a:solidFill>
                  </a:tcPr>
                </a:tc>
                <a:tc>
                  <a:txBody>
                    <a:bodyPr/>
                    <a:lstStyle/>
                    <a:p>
                      <a:r>
                        <a:rPr lang="vi-VN" sz="1300" b="0" i="0">
                          <a:solidFill>
                            <a:srgbClr val="232323"/>
                          </a:solidFill>
                          <a:latin typeface="Arial"/>
                        </a:rPr>
                        <a:t>Thực hành mở có hướng dẫn</a:t>
                      </a:r>
                    </a:p>
                  </a:txBody>
                  <a:tcPr marT="38100" marB="38100" anchor="ctr">
                    <a:solidFill>
                      <a:srgbClr val="F5F5F5"/>
                    </a:solidFill>
                  </a:tcPr>
                </a:tc>
                <a:tc>
                  <a:txBody>
                    <a:bodyPr/>
                    <a:lstStyle/>
                    <a:p>
                      <a:r>
                        <a:rPr lang="vi-VN" sz="1300" b="0" i="0" dirty="0">
                          <a:solidFill>
                            <a:srgbClr val="232323"/>
                          </a:solidFill>
                          <a:latin typeface="Arial"/>
                        </a:rPr>
                        <a:t>Bản ghi chú hoàn chỉnh về phân tích kịch bản dự trữ</a:t>
                      </a:r>
                    </a:p>
                  </a:txBody>
                  <a:tcPr marT="38100" marB="38100" anchor="ctr">
                    <a:solidFill>
                      <a:srgbClr val="F5F5F5"/>
                    </a:solidFill>
                  </a:tcPr>
                </a:tc>
                <a:extLst>
                  <a:ext uri="{0D108BD9-81ED-4DB2-BD59-A6C34878D82A}">
                    <a16:rowId xmlns:a16="http://schemas.microsoft.com/office/drawing/2014/main" val="10004"/>
                  </a:ext>
                </a:extLst>
              </a:tr>
            </a:tbl>
          </a:graphicData>
        </a:graphic>
      </p:graphicFrame>
      <p:sp>
        <p:nvSpPr>
          <p:cNvPr id="10" name="Rounded Rectangle 9"/>
          <p:cNvSpPr/>
          <p:nvPr/>
        </p:nvSpPr>
        <p:spPr>
          <a:xfrm>
            <a:off x="502920" y="5943600"/>
            <a:ext cx="11185855" cy="566928"/>
          </a:xfrm>
          <a:prstGeom prst="roundRect">
            <a:avLst/>
          </a:prstGeom>
          <a:solidFill>
            <a:srgbClr val="F5F5F5"/>
          </a:solidFill>
          <a:ln w="12700">
            <a:solidFill>
              <a:srgbClr val="CC071E"/>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lstStyle/>
          <a:p>
            <a:pPr algn="ctr"/>
            <a:r>
              <a:rPr lang="vi-VN" sz="1300" b="0" i="1" dirty="0">
                <a:solidFill>
                  <a:srgbClr val="232323"/>
                </a:solidFill>
                <a:latin typeface="Arial"/>
              </a:rPr>
              <a:t>Hôm nay chúng ta sẽ khép lại vòng lặp bằng việc quay trở lại với Hiệu chỉnh — nền tảng cốt lõi của mọi nội dung làm việc trong tuần này.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4841"/>
            <a:ext cx="8778240" cy="810478"/>
          </a:xfrm>
          <a:prstGeom prst="rect">
            <a:avLst/>
          </a:prstGeom>
          <a:noFill/>
        </p:spPr>
        <p:txBody>
          <a:bodyPr wrap="square" anchor="ctr">
            <a:spAutoFit/>
          </a:bodyPr>
          <a:lstStyle/>
          <a:p>
            <a:pPr>
              <a:spcAft>
                <a:spcPts val="1400"/>
              </a:spcAft>
            </a:pPr>
            <a:r>
              <a:rPr lang="vi-VN" sz="1100" b="1" i="0" dirty="0">
                <a:solidFill>
                  <a:srgbClr val="FFD2D2"/>
                </a:solidFill>
                <a:latin typeface="Arial"/>
              </a:rPr>
              <a:t>PHẦN 2 · 40 PHÚT</a:t>
            </a:r>
          </a:p>
          <a:p>
            <a:r>
              <a:rPr lang="vi-VN" sz="2400" b="1" i="0" dirty="0">
                <a:solidFill>
                  <a:srgbClr val="FFFFFF"/>
                </a:solidFill>
                <a:latin typeface="Arial"/>
              </a:rPr>
              <a:t>Đi sâu vào Cơ chế Hiệu chỉnh</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3 — Thứ 6, ngày 24/7/2026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11</a:t>
            </a:r>
          </a:p>
        </p:txBody>
      </p:sp>
      <p:sp>
        <p:nvSpPr>
          <p:cNvPr id="9" name="TextBox 8"/>
          <p:cNvSpPr txBox="1"/>
          <p:nvPr/>
        </p:nvSpPr>
        <p:spPr>
          <a:xfrm>
            <a:off x="502920" y="1554480"/>
            <a:ext cx="11207299" cy="3221395"/>
          </a:xfrm>
          <a:prstGeom prst="rect">
            <a:avLst/>
          </a:prstGeom>
          <a:noFill/>
        </p:spPr>
        <p:txBody>
          <a:bodyPr wrap="square">
            <a:spAutoFit/>
          </a:bodyPr>
          <a:lstStyle/>
          <a:p>
            <a:pPr marL="0" indent="0" algn="just">
              <a:spcAft>
                <a:spcPts val="1000"/>
              </a:spcAft>
            </a:pPr>
            <a:r>
              <a:rPr lang="vi-VN" sz="1700" b="0" i="0" dirty="0">
                <a:solidFill>
                  <a:srgbClr val="232323"/>
                </a:solidFill>
                <a:latin typeface="Arial"/>
              </a:rPr>
              <a:t>•  Dữ liệu đầu vào giúp xác định trạng thái dừng</a:t>
            </a:r>
            <a:r>
              <a:rPr lang="en-US" sz="1700" b="0" i="0" dirty="0">
                <a:solidFill>
                  <a:srgbClr val="232323"/>
                </a:solidFill>
                <a:latin typeface="Arial"/>
              </a:rPr>
              <a:t>/</a:t>
            </a:r>
            <a:r>
              <a:rPr lang="en-US" sz="1700" b="0" i="0" dirty="0" err="1">
                <a:solidFill>
                  <a:srgbClr val="232323"/>
                </a:solidFill>
                <a:latin typeface="Arial"/>
              </a:rPr>
              <a:t>cân</a:t>
            </a:r>
            <a:r>
              <a:rPr lang="en-US" sz="1700" b="0" i="0" dirty="0">
                <a:solidFill>
                  <a:srgbClr val="232323"/>
                </a:solidFill>
                <a:latin typeface="Arial"/>
              </a:rPr>
              <a:t> </a:t>
            </a:r>
            <a:r>
              <a:rPr lang="en-US" sz="1700" b="0" i="0" dirty="0" err="1">
                <a:solidFill>
                  <a:srgbClr val="232323"/>
                </a:solidFill>
                <a:latin typeface="Arial"/>
              </a:rPr>
              <a:t>bằng</a:t>
            </a:r>
            <a:r>
              <a:rPr lang="en-US" sz="1700" b="0" i="0" dirty="0">
                <a:solidFill>
                  <a:srgbClr val="232323"/>
                </a:solidFill>
                <a:latin typeface="Arial"/>
              </a:rPr>
              <a:t> </a:t>
            </a:r>
            <a:r>
              <a:rPr lang="en-US" sz="1700" b="0" i="0" dirty="0" err="1">
                <a:solidFill>
                  <a:srgbClr val="232323"/>
                </a:solidFill>
                <a:latin typeface="Arial"/>
              </a:rPr>
              <a:t>dài</a:t>
            </a:r>
            <a:r>
              <a:rPr lang="en-US" sz="1700" b="0" i="0" dirty="0">
                <a:solidFill>
                  <a:srgbClr val="232323"/>
                </a:solidFill>
                <a:latin typeface="Arial"/>
              </a:rPr>
              <a:t> </a:t>
            </a:r>
            <a:r>
              <a:rPr lang="en-US" sz="1700" b="0" i="0" dirty="0" err="1">
                <a:solidFill>
                  <a:srgbClr val="232323"/>
                </a:solidFill>
                <a:latin typeface="Arial"/>
              </a:rPr>
              <a:t>hạn</a:t>
            </a:r>
            <a:r>
              <a:rPr lang="en-US" sz="1700" b="0" i="0" dirty="0">
                <a:solidFill>
                  <a:srgbClr val="232323"/>
                </a:solidFill>
                <a:latin typeface="Arial"/>
              </a:rPr>
              <a:t> (steady state)</a:t>
            </a:r>
            <a:r>
              <a:rPr lang="vi-VN" sz="1700" b="0" i="0" dirty="0">
                <a:solidFill>
                  <a:srgbClr val="232323"/>
                </a:solidFill>
                <a:latin typeface="Arial"/>
              </a:rPr>
              <a:t>: Việc làm theo ngành, giá trị gia tăng, chi phí lao động, xuất khẩu, nhập khẩu và tỷ trọng phát thải.</a:t>
            </a:r>
          </a:p>
          <a:p>
            <a:pPr marL="0" indent="0" algn="just">
              <a:spcAft>
                <a:spcPts val="1000"/>
              </a:spcAft>
            </a:pPr>
            <a:r>
              <a:rPr lang="vi-VN" sz="1700" b="0" i="0" dirty="0">
                <a:solidFill>
                  <a:srgbClr val="232323"/>
                </a:solidFill>
                <a:latin typeface="Arial"/>
              </a:rPr>
              <a:t>•  Các tham số cấu trúc: Hệ số chiết khấu, tỷ lệ hao mòn/khấu hao, độ co giãn thay thế, thuế suất và chi phí điều chỉnh.</a:t>
            </a:r>
          </a:p>
          <a:p>
            <a:pPr marL="0" indent="0" algn="just">
              <a:spcAft>
                <a:spcPts val="1000"/>
              </a:spcAft>
            </a:pPr>
            <a:r>
              <a:rPr lang="vi-VN" sz="1700" b="1" i="0" dirty="0">
                <a:solidFill>
                  <a:srgbClr val="232323"/>
                </a:solidFill>
                <a:latin typeface="Arial"/>
              </a:rPr>
              <a:t>•  Độ tin cậy của Hiệu chỉnh dựa trên sự nhất quán về mặt cân đối kế toán: Tỷ trọng giá trị gia tăng, tỷ trọng đầu vào trung gian và phân rã nhập khẩu phải đảm bảo tổng cân đối chính xác.</a:t>
            </a:r>
          </a:p>
          <a:p>
            <a:pPr marL="0" indent="0" algn="just">
              <a:spcAft>
                <a:spcPts val="1000"/>
              </a:spcAft>
            </a:pPr>
            <a:r>
              <a:rPr lang="vi-VN" sz="1700" b="0" i="0" dirty="0">
                <a:solidFill>
                  <a:srgbClr val="232323"/>
                </a:solidFill>
                <a:latin typeface="Arial"/>
              </a:rPr>
              <a:t>•  Quy trình Hiệu chỉnh dựa trên bảng cân đối liên ngành (IO): Chạy chuỗi lệnh run_pipeline.m → split_utilities_sector.m → aggregate_for_dge.m, kèm theo các tệp CSV xuất ra để kiểm định và đối soát.</a:t>
            </a:r>
          </a:p>
          <a:p>
            <a:pPr marL="0" indent="0" algn="just">
              <a:spcAft>
                <a:spcPts val="1000"/>
              </a:spcAft>
            </a:pPr>
            <a:r>
              <a:rPr lang="vi-VN" sz="1700" b="0" i="0" dirty="0">
                <a:solidFill>
                  <a:srgbClr val="232323"/>
                </a:solidFill>
                <a:latin typeface="Arial"/>
              </a:rPr>
              <a:t>•  Kiểm tra chất lượng: Bảo toàn sản lượng đầu ra, bảo toàn nhập khẩu, tính nhất quán của giá trị gia tăng và điều kiện không âm.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34841"/>
            <a:ext cx="8778240" cy="810478"/>
          </a:xfrm>
          <a:prstGeom prst="rect">
            <a:avLst/>
          </a:prstGeom>
          <a:noFill/>
        </p:spPr>
        <p:txBody>
          <a:bodyPr wrap="square" anchor="ctr">
            <a:spAutoFit/>
          </a:bodyPr>
          <a:lstStyle/>
          <a:p>
            <a:pPr>
              <a:spcAft>
                <a:spcPts val="1400"/>
              </a:spcAft>
            </a:pPr>
            <a:r>
              <a:rPr lang="vi-VN" sz="1100" b="1" i="0" dirty="0">
                <a:solidFill>
                  <a:srgbClr val="FFD2D2"/>
                </a:solidFill>
                <a:latin typeface="Arial"/>
              </a:rPr>
              <a:t>PHẦN 3 · 35 PHÚT</a:t>
            </a:r>
          </a:p>
          <a:p>
            <a:r>
              <a:rPr lang="vi-VN" sz="2400" b="1" i="0" dirty="0">
                <a:solidFill>
                  <a:srgbClr val="FFFFFF"/>
                </a:solidFill>
                <a:latin typeface="Arial"/>
              </a:rPr>
              <a:t>Hướng dẫn chỉnh sửa Hiệu chỉnh</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3 — Thứ 6, ngày 24/7/2026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12</a:t>
            </a:r>
          </a:p>
        </p:txBody>
      </p:sp>
      <p:sp>
        <p:nvSpPr>
          <p:cNvPr id="9" name="TextBox 8"/>
          <p:cNvSpPr txBox="1"/>
          <p:nvPr/>
        </p:nvSpPr>
        <p:spPr>
          <a:xfrm>
            <a:off x="502920" y="1554480"/>
            <a:ext cx="11177803" cy="2441694"/>
          </a:xfrm>
          <a:prstGeom prst="rect">
            <a:avLst/>
          </a:prstGeom>
          <a:noFill/>
        </p:spPr>
        <p:txBody>
          <a:bodyPr wrap="square">
            <a:spAutoFit/>
          </a:bodyPr>
          <a:lstStyle/>
          <a:p>
            <a:pPr marL="0" indent="0" algn="just">
              <a:spcAft>
                <a:spcPts val="1000"/>
              </a:spcAft>
            </a:pPr>
            <a:r>
              <a:rPr lang="vi-VN" sz="1700" b="0" i="0" dirty="0">
                <a:solidFill>
                  <a:srgbClr val="232323"/>
                </a:solidFill>
                <a:latin typeface="Arial"/>
              </a:rPr>
              <a:t>•  Khi thay đổi dữ liệu đầu vào (ví dụ: tỷ trọng giá trị gia tăng của một ngành): Chỉnh sửa file Excel làm việc Hiệu chỉnh trong thư mục ExcelFiles/, sau đó chạy lại quy trình Hiệu chỉnh và kiểm tra lại các báo cáo kiểm định/đối soát xuất ra.</a:t>
            </a:r>
          </a:p>
          <a:p>
            <a:pPr marL="0" indent="0" algn="just">
              <a:spcAft>
                <a:spcPts val="1000"/>
              </a:spcAft>
            </a:pPr>
            <a:r>
              <a:rPr lang="vi-VN" sz="1700" b="0" i="0" dirty="0">
                <a:solidFill>
                  <a:srgbClr val="232323"/>
                </a:solidFill>
                <a:latin typeface="Arial"/>
              </a:rPr>
              <a:t>•  Khi thay đổi tham số cấu trúc (ví dụ: độ co giãn thay thế): Thường được thiết lập qua một hàm hỗ trợ trong thư mục Functions/ hoặc một ô đặt tên (named range) trong file Excel — cần xác định chính xác vị trí trước khi chỉnh sửa.</a:t>
            </a:r>
          </a:p>
          <a:p>
            <a:pPr marL="0" indent="0" algn="just">
              <a:spcAft>
                <a:spcPts val="1000"/>
              </a:spcAft>
            </a:pPr>
            <a:r>
              <a:rPr lang="vi-VN" sz="1700" b="1" i="0" dirty="0">
                <a:solidFill>
                  <a:srgbClr val="232323"/>
                </a:solidFill>
                <a:latin typeface="Arial"/>
              </a:rPr>
              <a:t>•  Bất kỳ sự thay đổi nào cũng đều đòi hỏi phải chạy lại toàn bộ chuỗi từ Hiệu chỉnh đến kịch bản cơ sở, đồng thời kiểm định lại sự nhất quán về mặt cân đối kế toán.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GIZ_Logo.png"/>
          <p:cNvPicPr>
            <a:picLocks noChangeAspect="1"/>
          </p:cNvPicPr>
          <p:nvPr/>
        </p:nvPicPr>
        <p:blipFill>
          <a:blip r:embed="rId2"/>
          <a:stretch>
            <a:fillRect/>
          </a:stretch>
        </p:blipFill>
        <p:spPr>
          <a:xfrm>
            <a:off x="10088575" y="457200"/>
            <a:ext cx="1656522" cy="457200"/>
          </a:xfrm>
          <a:prstGeom prst="rect">
            <a:avLst/>
          </a:prstGeom>
        </p:spPr>
      </p:pic>
      <p:sp>
        <p:nvSpPr>
          <p:cNvPr id="4" name="TextBox 3"/>
          <p:cNvSpPr txBox="1"/>
          <p:nvPr/>
        </p:nvSpPr>
        <p:spPr>
          <a:xfrm>
            <a:off x="822960" y="2651760"/>
            <a:ext cx="10058400" cy="2011680"/>
          </a:xfrm>
          <a:prstGeom prst="rect">
            <a:avLst/>
          </a:prstGeom>
          <a:noFill/>
        </p:spPr>
        <p:txBody>
          <a:bodyPr wrap="square">
            <a:spAutoFit/>
          </a:bodyPr>
          <a:lstStyle/>
          <a:p>
            <a:pPr>
              <a:spcAft>
                <a:spcPts val="1000"/>
              </a:spcAft>
            </a:pPr>
            <a:r>
              <a:rPr lang="vi-VN" sz="1500" b="1" i="0">
                <a:solidFill>
                  <a:srgbClr val="FFD2D2"/>
                </a:solidFill>
                <a:latin typeface="Arial"/>
              </a:rPr>
              <a:t>NGHỈ GIẢI LAO</a:t>
            </a:r>
          </a:p>
          <a:p>
            <a:r>
              <a:rPr lang="vi-VN" sz="3400" b="1" i="0">
                <a:solidFill>
                  <a:srgbClr val="FFFFFF"/>
                </a:solidFill>
                <a:latin typeface="Arial"/>
              </a:rPr>
              <a:t>15 phút</a:t>
            </a:r>
          </a:p>
          <a:p>
            <a:pPr>
              <a:spcBef>
                <a:spcPts val="1400"/>
              </a:spcBef>
            </a:pPr>
            <a:r>
              <a:rPr lang="vi-VN" sz="1700" b="0" i="0">
                <a:solidFill>
                  <a:srgbClr val="FFFFFF"/>
                </a:solidFill>
                <a:latin typeface="Arial"/>
              </a:rPr>
              <a:t>Nội dung tiếp theo: Phương pháp phân tích độ nhạy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pPr>
              <a:spcAft>
                <a:spcPts val="1400"/>
              </a:spcAft>
            </a:pPr>
            <a:r>
              <a:rPr lang="vi-VN" sz="1100" b="1" i="0">
                <a:solidFill>
                  <a:srgbClr val="FFD2D2"/>
                </a:solidFill>
                <a:latin typeface="Arial"/>
              </a:rPr>
              <a:t>PHẦN 4 · 40 PHÚT</a:t>
            </a:r>
          </a:p>
          <a:p>
            <a:r>
              <a:rPr lang="vi-VN" sz="2400" b="1" i="0">
                <a:solidFill>
                  <a:srgbClr val="FFFFFF"/>
                </a:solidFill>
                <a:latin typeface="Arial"/>
              </a:rPr>
              <a:t>Phương pháp phân tích độ nhạy</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3 — Thứ 6, ngày 24/7/2026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13</a:t>
            </a:r>
          </a:p>
        </p:txBody>
      </p:sp>
      <p:sp>
        <p:nvSpPr>
          <p:cNvPr id="9" name="TextBox 8"/>
          <p:cNvSpPr txBox="1"/>
          <p:nvPr/>
        </p:nvSpPr>
        <p:spPr>
          <a:xfrm>
            <a:off x="502920" y="1554480"/>
            <a:ext cx="11049983" cy="3221395"/>
          </a:xfrm>
          <a:prstGeom prst="rect">
            <a:avLst/>
          </a:prstGeom>
          <a:noFill/>
        </p:spPr>
        <p:txBody>
          <a:bodyPr wrap="square">
            <a:spAutoFit/>
          </a:bodyPr>
          <a:lstStyle/>
          <a:p>
            <a:pPr marL="0" indent="0" algn="just">
              <a:spcAft>
                <a:spcPts val="1000"/>
              </a:spcAft>
            </a:pPr>
            <a:r>
              <a:rPr lang="vi-VN" sz="1700" b="0" i="0" dirty="0">
                <a:solidFill>
                  <a:srgbClr val="232323"/>
                </a:solidFill>
                <a:latin typeface="Arial"/>
              </a:rPr>
              <a:t>•  Phương pháp biến đổi từng tham số đơn lẻ (One-at-a-time - OAT): Lựa chọn 01 tham số cấu trúc, thay đổi giá trị của tham số đó theo một mức xác định, chạy lại mô hình và so sánh với kịch bản cơ sở ban đầu.</a:t>
            </a:r>
          </a:p>
          <a:p>
            <a:pPr marL="0" indent="0" algn="just">
              <a:spcAft>
                <a:spcPts val="1000"/>
              </a:spcAft>
            </a:pPr>
            <a:r>
              <a:rPr lang="vi-VN" sz="1700" b="1" i="0" dirty="0">
                <a:solidFill>
                  <a:srgbClr val="232323"/>
                </a:solidFill>
                <a:latin typeface="Arial"/>
              </a:rPr>
              <a:t>•  Vì sao cần cô lập từng tham số: Nếu thay đổi đồng thời hai tham số, anh/chị sẽ không thể xác</a:t>
            </a:r>
            <a:r>
              <a:rPr lang="en-US" sz="1700" b="1" i="0" dirty="0">
                <a:solidFill>
                  <a:srgbClr val="232323"/>
                </a:solidFill>
                <a:latin typeface="Arial"/>
              </a:rPr>
              <a:t> </a:t>
            </a:r>
            <a:r>
              <a:rPr lang="vi-VN" sz="1700" b="1" i="0" dirty="0">
                <a:solidFill>
                  <a:srgbClr val="232323"/>
                </a:solidFill>
                <a:latin typeface="Arial"/>
              </a:rPr>
              <a:t>định được sự thay đổi của kết quả đầu ra là do tham số nào quyết định.</a:t>
            </a:r>
          </a:p>
          <a:p>
            <a:pPr marL="0" indent="0" algn="just">
              <a:spcAft>
                <a:spcPts val="1000"/>
              </a:spcAft>
            </a:pPr>
            <a:r>
              <a:rPr lang="vi-VN" sz="1700" b="0" i="0" dirty="0">
                <a:solidFill>
                  <a:srgbClr val="232323"/>
                </a:solidFill>
                <a:latin typeface="Arial"/>
              </a:rPr>
              <a:t>•  Các chỉ số cần kiểm tra: Các chỉ số chẩn đoán sự nhất quán cân đối kế toán, cùng với các chỉ số đầu ra có khả năng nhạy cảm nhất với tham số đã chọn.</a:t>
            </a:r>
          </a:p>
          <a:p>
            <a:pPr marL="0" indent="0" algn="just">
              <a:spcAft>
                <a:spcPts val="1000"/>
              </a:spcAft>
            </a:pPr>
            <a:r>
              <a:rPr lang="vi-VN" sz="1700" b="0" i="0" dirty="0">
                <a:solidFill>
                  <a:srgbClr val="232323"/>
                </a:solidFill>
                <a:latin typeface="Arial"/>
              </a:rPr>
              <a:t>•  Lập nhật ký phân tích độ nhạy: Ghi lại tên tham số, giá trị ban đầu, giá trị sau biến đổi, kết quả chẩn đoán và mức chênh lệch của các chỉ số đầu ra.</a:t>
            </a:r>
          </a:p>
          <a:p>
            <a:pPr marL="0" indent="0" algn="just">
              <a:spcAft>
                <a:spcPts val="1000"/>
              </a:spcAft>
            </a:pPr>
            <a:r>
              <a:rPr lang="vi-VN" sz="1700" b="1" i="0" dirty="0">
                <a:solidFill>
                  <a:srgbClr val="232323"/>
                </a:solidFill>
                <a:latin typeface="Arial"/>
              </a:rPr>
              <a:t>•  Đây là phương pháp luận thực hành tốt mang tính tổng quát — không chỉ giới hạn trong mô hình DGE-METRIC.</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pPr>
              <a:spcAft>
                <a:spcPts val="1400"/>
              </a:spcAft>
            </a:pPr>
            <a:r>
              <a:rPr lang="vi-VN" sz="1100" b="1" i="0">
                <a:solidFill>
                  <a:srgbClr val="FFD2D2"/>
                </a:solidFill>
                <a:latin typeface="Arial"/>
              </a:rPr>
              <a:t>PHẦN 5– 6 · 55 PHÚT</a:t>
            </a:r>
          </a:p>
          <a:p>
            <a:r>
              <a:rPr lang="vi-VN" sz="2400" b="1" i="0">
                <a:solidFill>
                  <a:srgbClr val="FFFFFF"/>
                </a:solidFill>
                <a:latin typeface="Arial"/>
              </a:rPr>
              <a:t>Lập kế hoạch phân tích độ nhạy</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3 — Thứ 6, ngày 24/7/2026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14</a:t>
            </a:r>
          </a:p>
        </p:txBody>
      </p:sp>
      <p:sp>
        <p:nvSpPr>
          <p:cNvPr id="9" name="TextBox 8"/>
          <p:cNvSpPr txBox="1"/>
          <p:nvPr/>
        </p:nvSpPr>
        <p:spPr>
          <a:xfrm>
            <a:off x="502920" y="1554480"/>
            <a:ext cx="11185855" cy="2046714"/>
          </a:xfrm>
          <a:prstGeom prst="rect">
            <a:avLst/>
          </a:prstGeom>
          <a:noFill/>
        </p:spPr>
        <p:txBody>
          <a:bodyPr wrap="square">
            <a:spAutoFit/>
          </a:bodyPr>
          <a:lstStyle/>
          <a:p>
            <a:pPr marL="0" indent="0">
              <a:spcAft>
                <a:spcPts val="1000"/>
              </a:spcAft>
            </a:pPr>
            <a:r>
              <a:rPr lang="vi-VN" sz="1700" b="0" i="0">
                <a:solidFill>
                  <a:srgbClr val="232323"/>
                </a:solidFill>
                <a:latin typeface="Arial"/>
              </a:rPr>
              <a:t>•  Chọn 01 tham số cấu trúc từ danh mục trong tệp docs/calibration.md's list</a:t>
            </a:r>
          </a:p>
          <a:p>
            <a:pPr marL="0" indent="0">
              <a:spcAft>
                <a:spcPts val="1000"/>
              </a:spcAft>
            </a:pPr>
            <a:r>
              <a:rPr lang="vi-VN" sz="1700" b="0" i="0">
                <a:solidFill>
                  <a:srgbClr val="232323"/>
                </a:solidFill>
                <a:latin typeface="Arial"/>
              </a:rPr>
              <a:t>•  Xây dựng tài liệu thuyết minh: Tên tham số &amp; giá trị ban đầu; mức biến đổi &amp; lý do lựa chọn mức đó là hợp lý; tác động dự kiến kèm theo giải thích cơ chế (không chỉ ghi chung chung "nó sẽ thay đổi"); các kiểm định cân đối kế toán cần chạy lại.</a:t>
            </a:r>
          </a:p>
          <a:p>
            <a:pPr marL="0" indent="0">
              <a:spcAft>
                <a:spcPts val="1000"/>
              </a:spcAft>
            </a:pPr>
            <a:r>
              <a:rPr lang="vi-VN" sz="1700" b="1" i="0">
                <a:solidFill>
                  <a:srgbClr val="232323"/>
                </a:solidFill>
                <a:latin typeface="Arial"/>
              </a:rPr>
              <a:t>•  Lưu ý: Chỉ thay đổi duy nhất 01 tham số cho mỗi lần chạy — không điều chỉnh cùng lúc nhiều tham số.</a:t>
            </a:r>
          </a:p>
          <a:p>
            <a:pPr marL="0" indent="0">
              <a:spcAft>
                <a:spcPts val="1000"/>
              </a:spcAft>
            </a:pPr>
            <a:r>
              <a:rPr lang="vi-VN" sz="1700" b="0" i="0">
                <a:solidFill>
                  <a:srgbClr val="232323"/>
                </a:solidFill>
                <a:latin typeface="Arial"/>
              </a:rPr>
              <a:t>• </a:t>
            </a:r>
            <a:r>
              <a:rPr lang="en-US" sz="1700" b="0" i="0">
                <a:solidFill>
                  <a:srgbClr val="232323"/>
                </a:solidFill>
                <a:latin typeface="Arial"/>
              </a:rPr>
              <a:t> </a:t>
            </a:r>
            <a:r>
              <a:rPr lang="vi-VN" sz="1700" b="0" i="0">
                <a:solidFill>
                  <a:srgbClr val="232323"/>
                </a:solidFill>
                <a:latin typeface="Arial"/>
              </a:rPr>
              <a:t>Báo cáo nhanh: Các nhóm báo cáo tóm tắt kết quả.</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1440"/>
            <a:ext cx="8778240" cy="1097280"/>
          </a:xfrm>
          <a:prstGeom prst="rect">
            <a:avLst/>
          </a:prstGeom>
          <a:noFill/>
        </p:spPr>
        <p:txBody>
          <a:bodyPr wrap="square" anchor="ctr">
            <a:spAutoFit/>
          </a:bodyPr>
          <a:lstStyle/>
          <a:p>
            <a:pPr>
              <a:spcAft>
                <a:spcPts val="1400"/>
              </a:spcAft>
            </a:pPr>
            <a:r>
              <a:rPr lang="vi-VN" sz="1100" b="1" i="0">
                <a:solidFill>
                  <a:srgbClr val="FFD2D2"/>
                </a:solidFill>
                <a:latin typeface="Arial"/>
              </a:rPr>
              <a:t>PHẦN 7 · 40 PHÚT</a:t>
            </a:r>
          </a:p>
          <a:p>
            <a:r>
              <a:rPr lang="vi-VN" sz="2400" b="1" i="0">
                <a:solidFill>
                  <a:srgbClr val="FFFFFF"/>
                </a:solidFill>
                <a:latin typeface="Arial"/>
              </a:rPr>
              <a:t>Bế mạc Khóa học</a:t>
            </a:r>
          </a:p>
        </p:txBody>
      </p:sp>
      <p:pic>
        <p:nvPicPr>
          <p:cNvPr id="5" name="Picture 4" descr="GIZ_Logo.png"/>
          <p:cNvPicPr>
            <a:picLocks noChangeAspect="1"/>
          </p:cNvPicPr>
          <p:nvPr/>
        </p:nvPicPr>
        <p:blipFill>
          <a:blip r:embed="rId2"/>
          <a:stretch>
            <a:fillRect/>
          </a:stretch>
        </p:blipFill>
        <p:spPr>
          <a:xfrm>
            <a:off x="10454335" y="420624"/>
            <a:ext cx="1590261" cy="438912"/>
          </a:xfrm>
          <a:prstGeom prst="rect">
            <a:avLst/>
          </a:prstGeom>
        </p:spPr>
      </p:pic>
      <p:sp>
        <p:nvSpPr>
          <p:cNvPr id="6" name="Rectangle 5"/>
          <p:cNvSpPr/>
          <p:nvPr/>
        </p:nvSpPr>
        <p:spPr>
          <a:xfrm>
            <a:off x="0" y="6565392"/>
            <a:ext cx="12191695"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47104"/>
            <a:ext cx="7315200" cy="274320"/>
          </a:xfrm>
          <a:prstGeom prst="rect">
            <a:avLst/>
          </a:prstGeom>
          <a:noFill/>
        </p:spPr>
        <p:txBody>
          <a:bodyPr wrap="none" tIns="0" bIns="0">
            <a:spAutoFit/>
          </a:bodyPr>
          <a:lstStyle/>
          <a:p>
            <a:r>
              <a:rPr lang="vi-VN" sz="1000" b="0" i="0">
                <a:solidFill>
                  <a:srgbClr val="787878"/>
                </a:solidFill>
                <a:latin typeface="Arial"/>
              </a:rPr>
              <a:t>Khóa đào tạo trực tuyến DGE-METRIC — Đào tạo trực tuyến Ngày 3 — Thứ 6, ngày 24/7/2026</a:t>
            </a:r>
          </a:p>
        </p:txBody>
      </p:sp>
      <p:sp>
        <p:nvSpPr>
          <p:cNvPr id="8" name="TextBox 7"/>
          <p:cNvSpPr txBox="1"/>
          <p:nvPr/>
        </p:nvSpPr>
        <p:spPr>
          <a:xfrm>
            <a:off x="11002975" y="6547104"/>
            <a:ext cx="822960" cy="274320"/>
          </a:xfrm>
          <a:prstGeom prst="rect">
            <a:avLst/>
          </a:prstGeom>
          <a:noFill/>
        </p:spPr>
        <p:txBody>
          <a:bodyPr wrap="none" tIns="0">
            <a:spAutoFit/>
          </a:bodyPr>
          <a:lstStyle/>
          <a:p>
            <a:pPr algn="r"/>
            <a:r>
              <a:rPr lang="vi-VN" sz="1000" b="0" i="0">
                <a:solidFill>
                  <a:srgbClr val="787878"/>
                </a:solidFill>
                <a:latin typeface="Arial"/>
              </a:rPr>
              <a:t>15</a:t>
            </a:r>
          </a:p>
        </p:txBody>
      </p:sp>
      <p:sp>
        <p:nvSpPr>
          <p:cNvPr id="9" name="TextBox 8"/>
          <p:cNvSpPr txBox="1"/>
          <p:nvPr/>
        </p:nvSpPr>
        <p:spPr>
          <a:xfrm>
            <a:off x="502920" y="1554480"/>
            <a:ext cx="11185855" cy="2349361"/>
          </a:xfrm>
          <a:prstGeom prst="rect">
            <a:avLst/>
          </a:prstGeom>
          <a:noFill/>
        </p:spPr>
        <p:txBody>
          <a:bodyPr wrap="square">
            <a:spAutoFit/>
          </a:bodyPr>
          <a:lstStyle/>
          <a:p>
            <a:pPr marL="0" indent="0">
              <a:spcAft>
                <a:spcPts val="1000"/>
              </a:spcAft>
            </a:pPr>
            <a:r>
              <a:rPr lang="vi-VN" sz="1700" b="0" i="0" dirty="0">
                <a:solidFill>
                  <a:srgbClr val="232323"/>
                </a:solidFill>
                <a:latin typeface="Arial"/>
              </a:rPr>
              <a:t>•  Danh mục kiểm tra mức độ </a:t>
            </a:r>
            <a:r>
              <a:rPr lang="en-US" sz="1700" b="0" i="0" dirty="0" err="1">
                <a:solidFill>
                  <a:srgbClr val="232323"/>
                </a:solidFill>
                <a:latin typeface="Arial"/>
              </a:rPr>
              <a:t>sử</a:t>
            </a:r>
            <a:r>
              <a:rPr lang="en-US" sz="1700" b="0" i="0" dirty="0">
                <a:solidFill>
                  <a:srgbClr val="232323"/>
                </a:solidFill>
                <a:latin typeface="Arial"/>
              </a:rPr>
              <a:t> </a:t>
            </a:r>
            <a:r>
              <a:rPr lang="en-US" sz="1700" b="0" i="0" dirty="0" err="1">
                <a:solidFill>
                  <a:srgbClr val="232323"/>
                </a:solidFill>
                <a:latin typeface="Arial"/>
              </a:rPr>
              <a:t>dụng</a:t>
            </a:r>
            <a:r>
              <a:rPr lang="en-US" sz="1700" b="0" i="0" dirty="0">
                <a:solidFill>
                  <a:srgbClr val="232323"/>
                </a:solidFill>
                <a:latin typeface="Arial"/>
              </a:rPr>
              <a:t>:</a:t>
            </a:r>
            <a:r>
              <a:rPr lang="vi-VN" sz="1700" b="0" i="0" dirty="0">
                <a:solidFill>
                  <a:srgbClr val="232323"/>
                </a:solidFill>
                <a:latin typeface="Arial"/>
              </a:rPr>
              <a:t> Bản tự đánh giá tổng hợp bao gồm các mảng: Hiệu chỉnh/mã nguồn, thiết kế kịch bản, yêu cầu dự trữ và khả năng tái lập kết quả.</a:t>
            </a:r>
          </a:p>
          <a:p>
            <a:pPr marL="0" indent="0">
              <a:spcAft>
                <a:spcPts val="1000"/>
              </a:spcAft>
            </a:pPr>
            <a:r>
              <a:rPr lang="vi-VN" sz="1700" b="1" i="0" dirty="0">
                <a:solidFill>
                  <a:srgbClr val="232323"/>
                </a:solidFill>
                <a:latin typeface="Arial"/>
              </a:rPr>
              <a:t>•  Khảo sát thu hoạch cuối khóa — Nộp bằng văn bản:</a:t>
            </a:r>
          </a:p>
          <a:p>
            <a:pPr marL="320040" indent="0">
              <a:spcAft>
                <a:spcPts val="600"/>
              </a:spcAft>
            </a:pPr>
            <a:r>
              <a:rPr lang="vi-VN" sz="1600" b="0" i="0" dirty="0">
                <a:solidFill>
                  <a:srgbClr val="232323"/>
                </a:solidFill>
                <a:latin typeface="Arial"/>
              </a:rPr>
              <a:t>–  01 bài học chuyên môn quan trọng về Hiệu chỉnh mà anh/chị sẽ áp dụng sau này;</a:t>
            </a:r>
          </a:p>
          <a:p>
            <a:pPr marL="320040" indent="0">
              <a:spcAft>
                <a:spcPts val="600"/>
              </a:spcAft>
            </a:pPr>
            <a:r>
              <a:rPr lang="vi-VN" sz="1600" b="0" i="0" dirty="0">
                <a:solidFill>
                  <a:srgbClr val="232323"/>
                </a:solidFill>
                <a:latin typeface="Arial"/>
              </a:rPr>
              <a:t>–  01 thói quen/kỹ năng thiết kế kịch bản mà anh/chị sẽ tiếp tục duy trì;</a:t>
            </a:r>
          </a:p>
          <a:p>
            <a:pPr marL="320040" indent="0">
              <a:spcAft>
                <a:spcPts val="600"/>
              </a:spcAft>
            </a:pPr>
            <a:r>
              <a:rPr lang="vi-VN" sz="1600" b="0" i="0" dirty="0">
                <a:solidFill>
                  <a:srgbClr val="232323"/>
                </a:solidFill>
                <a:latin typeface="Arial"/>
              </a:rPr>
              <a:t>–  01 phương pháp phân tích chính sách hoặc phân tích dự trữ mà anh/chị sẽ ứng dụng vào thực tế;</a:t>
            </a:r>
          </a:p>
          <a:p>
            <a:pPr marL="320040" indent="0">
              <a:spcAft>
                <a:spcPts val="600"/>
              </a:spcAft>
            </a:pPr>
            <a:r>
              <a:rPr lang="vi-VN" sz="1600" b="0" i="0" dirty="0">
                <a:solidFill>
                  <a:srgbClr val="232323"/>
                </a:solidFill>
                <a:latin typeface="Arial"/>
              </a:rPr>
              <a:t>–  01 câu hỏi/vấn đề còn </a:t>
            </a:r>
            <a:r>
              <a:rPr lang="en-US" sz="1600" b="0" i="0" dirty="0" err="1">
                <a:solidFill>
                  <a:srgbClr val="232323"/>
                </a:solidFill>
                <a:latin typeface="Arial"/>
              </a:rPr>
              <a:t>khó</a:t>
            </a:r>
            <a:r>
              <a:rPr lang="en-US" sz="1600" b="0" i="0" dirty="0">
                <a:solidFill>
                  <a:srgbClr val="232323"/>
                </a:solidFill>
                <a:latin typeface="Arial"/>
              </a:rPr>
              <a:t> </a:t>
            </a:r>
            <a:r>
              <a:rPr lang="en-US" sz="1600" b="0" i="0" dirty="0" err="1">
                <a:solidFill>
                  <a:srgbClr val="232323"/>
                </a:solidFill>
                <a:latin typeface="Arial"/>
              </a:rPr>
              <a:t>khăn</a:t>
            </a:r>
            <a:r>
              <a:rPr lang="vi-VN" sz="1600" b="0" i="0" dirty="0">
                <a:solidFill>
                  <a:srgbClr val="232323"/>
                </a:solidFill>
                <a:latin typeface="Arial"/>
              </a:rPr>
              <a:t> cần hỗ trợ trong tương lai.</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C0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GIZ_Logo.png"/>
          <p:cNvPicPr>
            <a:picLocks noChangeAspect="1"/>
          </p:cNvPicPr>
          <p:nvPr/>
        </p:nvPicPr>
        <p:blipFill>
          <a:blip r:embed="rId2"/>
          <a:stretch>
            <a:fillRect/>
          </a:stretch>
        </p:blipFill>
        <p:spPr>
          <a:xfrm>
            <a:off x="10088575" y="457200"/>
            <a:ext cx="1656522" cy="457200"/>
          </a:xfrm>
          <a:prstGeom prst="rect">
            <a:avLst/>
          </a:prstGeom>
        </p:spPr>
      </p:pic>
      <p:sp>
        <p:nvSpPr>
          <p:cNvPr id="4" name="TextBox 3"/>
          <p:cNvSpPr txBox="1"/>
          <p:nvPr/>
        </p:nvSpPr>
        <p:spPr>
          <a:xfrm>
            <a:off x="822959" y="2651760"/>
            <a:ext cx="10411097" cy="1938992"/>
          </a:xfrm>
          <a:prstGeom prst="rect">
            <a:avLst/>
          </a:prstGeom>
          <a:noFill/>
        </p:spPr>
        <p:txBody>
          <a:bodyPr wrap="square">
            <a:spAutoFit/>
          </a:bodyPr>
          <a:lstStyle/>
          <a:p>
            <a:pPr>
              <a:spcAft>
                <a:spcPts val="1000"/>
              </a:spcAft>
            </a:pPr>
            <a:r>
              <a:rPr lang="vi-VN" sz="1500" b="1" i="0">
                <a:solidFill>
                  <a:srgbClr val="FFD2D2"/>
                </a:solidFill>
                <a:latin typeface="Arial"/>
              </a:rPr>
              <a:t>TRÂN TRỌNG CẢM ƠN!</a:t>
            </a:r>
          </a:p>
          <a:p>
            <a:r>
              <a:rPr lang="vi-VN" sz="3400" b="1" i="0">
                <a:solidFill>
                  <a:srgbClr val="FFFFFF"/>
                </a:solidFill>
                <a:latin typeface="Arial"/>
              </a:rPr>
              <a:t>Chúc mừng anh/chị đã hoàn thành </a:t>
            </a:r>
            <a:endParaRPr lang="en-US" sz="3400" b="1" i="0">
              <a:solidFill>
                <a:srgbClr val="FFFFFF"/>
              </a:solidFill>
              <a:latin typeface="Arial"/>
            </a:endParaRPr>
          </a:p>
          <a:p>
            <a:r>
              <a:rPr lang="vi-VN" sz="3400" b="1" i="0">
                <a:solidFill>
                  <a:srgbClr val="FFFFFF"/>
                </a:solidFill>
                <a:latin typeface="Arial"/>
              </a:rPr>
              <a:t>Khóa đào tạo Trực tuyến DGE-METRIC!</a:t>
            </a:r>
          </a:p>
          <a:p>
            <a:pPr>
              <a:spcBef>
                <a:spcPts val="1400"/>
              </a:spcBef>
            </a:pPr>
            <a:r>
              <a:rPr lang="vi-VN" sz="1700" b="0" i="0">
                <a:solidFill>
                  <a:srgbClr val="FFFFFF"/>
                </a:solidFill>
                <a:latin typeface="Arial"/>
              </a:rPr>
              <a:t>Mọi câu hỏi và yêu cầu hỗ trợ vận hành độc lập: Thông tin liên hệ của khóa học sẽ được xác nhận sau.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700E73D352567448BBEE4D014CD02A8" ma:contentTypeVersion="12" ma:contentTypeDescription="Create a new document." ma:contentTypeScope="" ma:versionID="403e437f1347c5afed4908d2a8515fe8">
  <xsd:schema xmlns:xsd="http://www.w3.org/2001/XMLSchema" xmlns:xs="http://www.w3.org/2001/XMLSchema" xmlns:p="http://schemas.microsoft.com/office/2006/metadata/properties" xmlns:ns2="f1f43c89-4e08-475e-90dc-8d81c2a76942" xmlns:ns3="388d0403-69f5-4686-a95b-cac9ff01ae61" targetNamespace="http://schemas.microsoft.com/office/2006/metadata/properties" ma:root="true" ma:fieldsID="42eb5f7a503c3612ee98993fcd9dc6cb" ns2:_="" ns3:_="">
    <xsd:import namespace="f1f43c89-4e08-475e-90dc-8d81c2a76942"/>
    <xsd:import namespace="388d0403-69f5-4686-a95b-cac9ff01ae6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f43c89-4e08-475e-90dc-8d81c2a769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0aed264e-563a-469a-8ebe-271e849ec10c"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88d0403-69f5-4686-a95b-cac9ff01ae6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da7f6972-f309-49f4-8d2e-1c432e90d65b}" ma:internalName="TaxCatchAll" ma:showField="CatchAllData" ma:web="388d0403-69f5-4686-a95b-cac9ff01ae6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1f43c89-4e08-475e-90dc-8d81c2a76942">
      <Terms xmlns="http://schemas.microsoft.com/office/infopath/2007/PartnerControls"/>
    </lcf76f155ced4ddcb4097134ff3c332f>
    <TaxCatchAll xmlns="388d0403-69f5-4686-a95b-cac9ff01ae6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2E739E7-1E2F-4EFA-ABB2-B651F8BC3E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1f43c89-4e08-475e-90dc-8d81c2a76942"/>
    <ds:schemaRef ds:uri="388d0403-69f5-4686-a95b-cac9ff01ae6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86BD4DD-1B5C-4E11-BF17-FCF2E69F42D9}">
  <ds:schemaRefs>
    <ds:schemaRef ds:uri="http://schemas.microsoft.com/office/2006/metadata/properties"/>
    <ds:schemaRef ds:uri="http://schemas.microsoft.com/office/infopath/2007/PartnerControls"/>
    <ds:schemaRef ds:uri="04ac4ecf-9708-45f7-9d64-eaef3bff4f59"/>
    <ds:schemaRef ds:uri="47d30a7d-b41a-4785-a964-e05815a9f29f"/>
    <ds:schemaRef ds:uri="f1f43c89-4e08-475e-90dc-8d81c2a76942"/>
    <ds:schemaRef ds:uri="388d0403-69f5-4686-a95b-cac9ff01ae61"/>
  </ds:schemaRefs>
</ds:datastoreItem>
</file>

<file path=customXml/itemProps3.xml><?xml version="1.0" encoding="utf-8"?>
<ds:datastoreItem xmlns:ds="http://schemas.openxmlformats.org/officeDocument/2006/customXml" ds:itemID="{8E879BEA-CDC3-4597-89FE-60F6076E4FB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16</TotalTime>
  <Words>2942</Words>
  <Application>Microsoft Office PowerPoint</Application>
  <PresentationFormat>Widescreen</PresentationFormat>
  <Paragraphs>184</Paragraphs>
  <Slides>20</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20</vt:i4>
      </vt:variant>
    </vt:vector>
  </HeadingPairs>
  <TitlesOfParts>
    <vt:vector size="2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Nguyễn Hoàng Lan</cp:lastModifiedBy>
  <cp:revision>9</cp:revision>
  <dcterms:created xsi:type="dcterms:W3CDTF">2013-01-27T09:14:16Z</dcterms:created>
  <dcterms:modified xsi:type="dcterms:W3CDTF">2026-07-21T14:02:57Z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0x0101009700E73D352567448BBEE4D014CD02A8</vt:lpwstr>
  </property>
  <property fmtid="{D5CDD505-2E9C-101B-9397-08002B2CF9AE}" pid="3" name="Order">
    <vt:r8>10137300</vt:r8>
  </property>
  <property fmtid="{D5CDD505-2E9C-101B-9397-08002B2CF9AE}" pid="4" name="ComplianceAssetId">
    <vt:lpwstr/>
  </property>
  <property fmtid="{D5CDD505-2E9C-101B-9397-08002B2CF9AE}" pid="5" name="_ExtendedDescription">
    <vt:lpwstr/>
  </property>
  <property fmtid="{D5CDD505-2E9C-101B-9397-08002B2CF9AE}" pid="6" name="TriggerFlowInfo">
    <vt:lpwstr/>
  </property>
  <property fmtid="{D5CDD505-2E9C-101B-9397-08002B2CF9AE}" pid="7" name="MediaServiceImageTags">
    <vt:lpwstr/>
  </property>
</Properties>
</file>